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0" r:id="rId2"/>
    <p:sldId id="261" r:id="rId3"/>
    <p:sldId id="262" r:id="rId4"/>
    <p:sldId id="263" r:id="rId5"/>
    <p:sldId id="256" r:id="rId6"/>
    <p:sldId id="257" r:id="rId7"/>
    <p:sldId id="258" r:id="rId8"/>
    <p:sldId id="259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CCB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42" autoAdjust="0"/>
    <p:restoredTop sz="94660"/>
  </p:normalViewPr>
  <p:slideViewPr>
    <p:cSldViewPr>
      <p:cViewPr varScale="1">
        <p:scale>
          <a:sx n="104" d="100"/>
          <a:sy n="104" d="100"/>
        </p:scale>
        <p:origin x="-18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70F5BF-9171-4294-A1E2-8EE0E5647716}" type="datetimeFigureOut">
              <a:rPr lang="en-US" smtClean="0"/>
              <a:t>10/29/2011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6396A0-DE97-44BF-8A6D-68B5BA0FDAE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396A0-DE97-44BF-8A6D-68B5BA0FDAE0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529C1-31FA-41EA-883C-C04F8DB473D4}" type="datetimeFigureOut">
              <a:rPr lang="en-US" smtClean="0"/>
              <a:pPr/>
              <a:t>10/29/2011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4AF6E-03ED-408D-BB61-616B0FB83E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529C1-31FA-41EA-883C-C04F8DB473D4}" type="datetimeFigureOut">
              <a:rPr lang="en-US" smtClean="0"/>
              <a:pPr/>
              <a:t>10/29/2011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4AF6E-03ED-408D-BB61-616B0FB83E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529C1-31FA-41EA-883C-C04F8DB473D4}" type="datetimeFigureOut">
              <a:rPr lang="en-US" smtClean="0"/>
              <a:pPr/>
              <a:t>10/29/2011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4AF6E-03ED-408D-BB61-616B0FB83E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529C1-31FA-41EA-883C-C04F8DB473D4}" type="datetimeFigureOut">
              <a:rPr lang="en-US" smtClean="0"/>
              <a:pPr/>
              <a:t>10/29/2011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4AF6E-03ED-408D-BB61-616B0FB83E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529C1-31FA-41EA-883C-C04F8DB473D4}" type="datetimeFigureOut">
              <a:rPr lang="en-US" smtClean="0"/>
              <a:pPr/>
              <a:t>10/29/2011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4AF6E-03ED-408D-BB61-616B0FB83E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529C1-31FA-41EA-883C-C04F8DB473D4}" type="datetimeFigureOut">
              <a:rPr lang="en-US" smtClean="0"/>
              <a:pPr/>
              <a:t>10/29/2011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4AF6E-03ED-408D-BB61-616B0FB83E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529C1-31FA-41EA-883C-C04F8DB473D4}" type="datetimeFigureOut">
              <a:rPr lang="en-US" smtClean="0"/>
              <a:pPr/>
              <a:t>10/29/2011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4AF6E-03ED-408D-BB61-616B0FB83E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529C1-31FA-41EA-883C-C04F8DB473D4}" type="datetimeFigureOut">
              <a:rPr lang="en-US" smtClean="0"/>
              <a:pPr/>
              <a:t>10/29/2011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4AF6E-03ED-408D-BB61-616B0FB83E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529C1-31FA-41EA-883C-C04F8DB473D4}" type="datetimeFigureOut">
              <a:rPr lang="en-US" smtClean="0"/>
              <a:pPr/>
              <a:t>10/29/2011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4AF6E-03ED-408D-BB61-616B0FB83E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529C1-31FA-41EA-883C-C04F8DB473D4}" type="datetimeFigureOut">
              <a:rPr lang="en-US" smtClean="0"/>
              <a:pPr/>
              <a:t>10/29/2011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4AF6E-03ED-408D-BB61-616B0FB83E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529C1-31FA-41EA-883C-C04F8DB473D4}" type="datetimeFigureOut">
              <a:rPr lang="en-US" smtClean="0"/>
              <a:pPr/>
              <a:t>10/29/2011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4AF6E-03ED-408D-BB61-616B0FB83E7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8529C1-31FA-41EA-883C-C04F8DB473D4}" type="datetimeFigureOut">
              <a:rPr lang="en-US" smtClean="0"/>
              <a:pPr/>
              <a:t>10/29/2011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44AF6E-03ED-408D-BB61-616B0FB83E7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142876" y="142876"/>
            <a:ext cx="8858280" cy="6572272"/>
          </a:xfrm>
          <a:prstGeom prst="roundRect">
            <a:avLst>
              <a:gd name="adj" fmla="val 2336"/>
            </a:avLst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41275">
            <a:solidFill>
              <a:schemeClr val="dk1">
                <a:alpha val="11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85720" y="285728"/>
            <a:ext cx="8643998" cy="3571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57158" y="325259"/>
            <a:ext cx="78581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 smtClean="0"/>
              <a:t>基础信息</a:t>
            </a:r>
            <a:endParaRPr lang="en-US" sz="1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214414" y="325259"/>
            <a:ext cx="92869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 smtClean="0"/>
              <a:t>报关</a:t>
            </a:r>
            <a:r>
              <a:rPr lang="zh-CN" altLang="en-US" sz="1000" b="1" dirty="0" smtClean="0"/>
              <a:t>单</a:t>
            </a:r>
            <a:endParaRPr lang="en-US" sz="10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214546" y="325259"/>
            <a:ext cx="92869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 smtClean="0"/>
              <a:t>打印</a:t>
            </a:r>
            <a:endParaRPr lang="en-US" sz="1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3214678" y="325259"/>
            <a:ext cx="92869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/>
              <a:t>分析</a:t>
            </a:r>
            <a:endParaRPr lang="en-US" sz="1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4214810" y="325259"/>
            <a:ext cx="92869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 smtClean="0"/>
              <a:t>系</a:t>
            </a:r>
            <a:r>
              <a:rPr lang="zh-CN" altLang="en-US" sz="1000" b="1" dirty="0" smtClean="0"/>
              <a:t>统</a:t>
            </a:r>
            <a:endParaRPr lang="en-US" sz="1000" b="1" dirty="0"/>
          </a:p>
        </p:txBody>
      </p:sp>
      <p:sp>
        <p:nvSpPr>
          <p:cNvPr id="13" name="Rounded Rectangle 12"/>
          <p:cNvSpPr/>
          <p:nvPr/>
        </p:nvSpPr>
        <p:spPr>
          <a:xfrm>
            <a:off x="1643042" y="1643050"/>
            <a:ext cx="3214710" cy="5000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进口报关单</a:t>
            </a:r>
            <a:r>
              <a:rPr lang="zh-CN" altLang="en-US" dirty="0" smtClean="0"/>
              <a:t>（一般贸易）</a:t>
            </a:r>
            <a:endParaRPr lang="en-US" dirty="0"/>
          </a:p>
        </p:txBody>
      </p:sp>
      <p:sp>
        <p:nvSpPr>
          <p:cNvPr id="16" name="Rounded Rectangle 15"/>
          <p:cNvSpPr/>
          <p:nvPr/>
        </p:nvSpPr>
        <p:spPr>
          <a:xfrm>
            <a:off x="1643042" y="2357430"/>
            <a:ext cx="3214710" cy="5000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出口报关单（一般贸易）</a:t>
            </a:r>
            <a:endParaRPr lang="en-US" dirty="0"/>
          </a:p>
        </p:txBody>
      </p:sp>
      <p:sp>
        <p:nvSpPr>
          <p:cNvPr id="17" name="Rounded Rectangle 16"/>
          <p:cNvSpPr/>
          <p:nvPr/>
        </p:nvSpPr>
        <p:spPr>
          <a:xfrm>
            <a:off x="1643042" y="3071810"/>
            <a:ext cx="3214710" cy="5000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进口报关单</a:t>
            </a:r>
            <a:r>
              <a:rPr lang="zh-CN" altLang="en-US" dirty="0" smtClean="0"/>
              <a:t>（报税）</a:t>
            </a:r>
            <a:endParaRPr lang="en-US" dirty="0"/>
          </a:p>
        </p:txBody>
      </p:sp>
      <p:sp>
        <p:nvSpPr>
          <p:cNvPr id="18" name="Rounded Rectangle 17"/>
          <p:cNvSpPr/>
          <p:nvPr/>
        </p:nvSpPr>
        <p:spPr>
          <a:xfrm>
            <a:off x="1643042" y="3786190"/>
            <a:ext cx="3214710" cy="5000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出口报关单</a:t>
            </a:r>
            <a:r>
              <a:rPr lang="zh-CN" altLang="en-US" dirty="0" smtClean="0"/>
              <a:t>（报税）</a:t>
            </a:r>
            <a:endParaRPr lang="en-US" dirty="0"/>
          </a:p>
        </p:txBody>
      </p:sp>
      <p:sp>
        <p:nvSpPr>
          <p:cNvPr id="19" name="Rounded Rectangle 18"/>
          <p:cNvSpPr/>
          <p:nvPr/>
        </p:nvSpPr>
        <p:spPr>
          <a:xfrm>
            <a:off x="1643042" y="4500570"/>
            <a:ext cx="3214710" cy="5000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进口报关单</a:t>
            </a:r>
            <a:r>
              <a:rPr lang="zh-CN" altLang="en-US" dirty="0" smtClean="0"/>
              <a:t>（手册）</a:t>
            </a:r>
            <a:endParaRPr lang="en-US" dirty="0"/>
          </a:p>
        </p:txBody>
      </p:sp>
      <p:sp>
        <p:nvSpPr>
          <p:cNvPr id="20" name="Rounded Rectangle 19"/>
          <p:cNvSpPr/>
          <p:nvPr/>
        </p:nvSpPr>
        <p:spPr>
          <a:xfrm>
            <a:off x="1643042" y="5214950"/>
            <a:ext cx="3214710" cy="5000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出口报关单</a:t>
            </a:r>
            <a:r>
              <a:rPr lang="zh-CN" altLang="en-US" dirty="0" smtClean="0"/>
              <a:t>（手册）</a:t>
            </a:r>
            <a:endParaRPr lang="en-US" dirty="0"/>
          </a:p>
        </p:txBody>
      </p:sp>
      <p:sp>
        <p:nvSpPr>
          <p:cNvPr id="21" name="Rounded Rectangle 20"/>
          <p:cNvSpPr/>
          <p:nvPr/>
        </p:nvSpPr>
        <p:spPr>
          <a:xfrm>
            <a:off x="5214942" y="1643050"/>
            <a:ext cx="2857520" cy="5000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报关单分析</a:t>
            </a:r>
            <a:r>
              <a:rPr lang="zh-CN" altLang="en-US" dirty="0" smtClean="0"/>
              <a:t>（一般贸易）</a:t>
            </a:r>
            <a:endParaRPr lang="en-US" dirty="0"/>
          </a:p>
        </p:txBody>
      </p:sp>
      <p:sp>
        <p:nvSpPr>
          <p:cNvPr id="22" name="Rounded Rectangle 21"/>
          <p:cNvSpPr/>
          <p:nvPr/>
        </p:nvSpPr>
        <p:spPr>
          <a:xfrm>
            <a:off x="5214942" y="2357430"/>
            <a:ext cx="2857520" cy="5000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报关单分析</a:t>
            </a:r>
            <a:r>
              <a:rPr lang="zh-CN" altLang="en-US" dirty="0" smtClean="0"/>
              <a:t>（报税）</a:t>
            </a:r>
            <a:endParaRPr lang="en-US" dirty="0"/>
          </a:p>
        </p:txBody>
      </p:sp>
      <p:sp>
        <p:nvSpPr>
          <p:cNvPr id="23" name="Rounded Rectangle 22"/>
          <p:cNvSpPr/>
          <p:nvPr/>
        </p:nvSpPr>
        <p:spPr>
          <a:xfrm>
            <a:off x="5214942" y="3071810"/>
            <a:ext cx="2857520" cy="5000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报关单分析</a:t>
            </a:r>
            <a:r>
              <a:rPr lang="zh-CN" altLang="en-US" dirty="0" smtClean="0"/>
              <a:t>（手册）</a:t>
            </a:r>
            <a:endParaRPr lang="en-US" dirty="0"/>
          </a:p>
        </p:txBody>
      </p:sp>
      <p:sp>
        <p:nvSpPr>
          <p:cNvPr id="24" name="Rounded Rectangle 23"/>
          <p:cNvSpPr/>
          <p:nvPr/>
        </p:nvSpPr>
        <p:spPr>
          <a:xfrm>
            <a:off x="5214942" y="3786190"/>
            <a:ext cx="2857520" cy="5000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打印</a:t>
            </a:r>
            <a:endParaRPr lang="en-US" dirty="0"/>
          </a:p>
        </p:txBody>
      </p:sp>
      <p:sp>
        <p:nvSpPr>
          <p:cNvPr id="25" name="Rounded Rectangle 24"/>
          <p:cNvSpPr/>
          <p:nvPr/>
        </p:nvSpPr>
        <p:spPr>
          <a:xfrm>
            <a:off x="5214942" y="4500570"/>
            <a:ext cx="2857520" cy="5000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密码修改</a:t>
            </a:r>
            <a:endParaRPr lang="en-US" dirty="0"/>
          </a:p>
        </p:txBody>
      </p:sp>
      <p:sp>
        <p:nvSpPr>
          <p:cNvPr id="26" name="Rounded Rectangle 25"/>
          <p:cNvSpPr/>
          <p:nvPr/>
        </p:nvSpPr>
        <p:spPr>
          <a:xfrm>
            <a:off x="5214942" y="5214950"/>
            <a:ext cx="2857520" cy="5000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结束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142876" y="142876"/>
            <a:ext cx="8858280" cy="6572272"/>
          </a:xfrm>
          <a:prstGeom prst="roundRect">
            <a:avLst>
              <a:gd name="adj" fmla="val 2336"/>
            </a:avLst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41275">
            <a:solidFill>
              <a:schemeClr val="dk1">
                <a:alpha val="11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85720" y="285728"/>
            <a:ext cx="8643998" cy="3571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57158" y="325259"/>
            <a:ext cx="78581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 smtClean="0"/>
              <a:t>基础信息</a:t>
            </a:r>
            <a:endParaRPr lang="en-US" sz="1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214414" y="325259"/>
            <a:ext cx="92869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 smtClean="0"/>
              <a:t>报关</a:t>
            </a:r>
            <a:r>
              <a:rPr lang="zh-CN" altLang="en-US" sz="1000" b="1" dirty="0" smtClean="0"/>
              <a:t>单</a:t>
            </a:r>
            <a:endParaRPr lang="en-US" sz="10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214546" y="325259"/>
            <a:ext cx="92869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 smtClean="0"/>
              <a:t>打印</a:t>
            </a:r>
            <a:endParaRPr lang="en-US" sz="1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3214678" y="325259"/>
            <a:ext cx="92869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/>
              <a:t>分析</a:t>
            </a:r>
            <a:endParaRPr lang="en-US" sz="1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4214810" y="325259"/>
            <a:ext cx="92869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 smtClean="0"/>
              <a:t>系</a:t>
            </a:r>
            <a:r>
              <a:rPr lang="zh-CN" altLang="en-US" sz="1000" b="1" dirty="0" smtClean="0"/>
              <a:t>统</a:t>
            </a:r>
            <a:endParaRPr lang="en-US" sz="1000" b="1" dirty="0"/>
          </a:p>
        </p:txBody>
      </p:sp>
      <p:sp>
        <p:nvSpPr>
          <p:cNvPr id="13" name="Rounded Rectangle 12"/>
          <p:cNvSpPr/>
          <p:nvPr/>
        </p:nvSpPr>
        <p:spPr>
          <a:xfrm>
            <a:off x="1643042" y="1643050"/>
            <a:ext cx="3214710" cy="500066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进口报关单</a:t>
            </a:r>
            <a:r>
              <a:rPr lang="zh-CN" altLang="en-US" dirty="0" smtClean="0"/>
              <a:t>（一般贸易）</a:t>
            </a:r>
            <a:endParaRPr lang="en-US" dirty="0"/>
          </a:p>
        </p:txBody>
      </p:sp>
      <p:sp>
        <p:nvSpPr>
          <p:cNvPr id="16" name="Rounded Rectangle 15"/>
          <p:cNvSpPr/>
          <p:nvPr/>
        </p:nvSpPr>
        <p:spPr>
          <a:xfrm>
            <a:off x="1643042" y="2357430"/>
            <a:ext cx="3214710" cy="5000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出口报关单（一般贸易）</a:t>
            </a:r>
            <a:endParaRPr lang="en-US" dirty="0"/>
          </a:p>
        </p:txBody>
      </p:sp>
      <p:sp>
        <p:nvSpPr>
          <p:cNvPr id="17" name="Rounded Rectangle 16"/>
          <p:cNvSpPr/>
          <p:nvPr/>
        </p:nvSpPr>
        <p:spPr>
          <a:xfrm>
            <a:off x="1643042" y="3071810"/>
            <a:ext cx="3214710" cy="5000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进口报关单</a:t>
            </a:r>
            <a:r>
              <a:rPr lang="zh-CN" altLang="en-US" dirty="0" smtClean="0"/>
              <a:t>（报税）</a:t>
            </a:r>
            <a:endParaRPr lang="en-US" dirty="0"/>
          </a:p>
        </p:txBody>
      </p:sp>
      <p:sp>
        <p:nvSpPr>
          <p:cNvPr id="18" name="Rounded Rectangle 17"/>
          <p:cNvSpPr/>
          <p:nvPr/>
        </p:nvSpPr>
        <p:spPr>
          <a:xfrm>
            <a:off x="1643042" y="3786190"/>
            <a:ext cx="3214710" cy="5000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出口报关单</a:t>
            </a:r>
            <a:r>
              <a:rPr lang="zh-CN" altLang="en-US" dirty="0" smtClean="0"/>
              <a:t>（报税）</a:t>
            </a:r>
            <a:endParaRPr lang="en-US" dirty="0"/>
          </a:p>
        </p:txBody>
      </p:sp>
      <p:sp>
        <p:nvSpPr>
          <p:cNvPr id="19" name="Rounded Rectangle 18"/>
          <p:cNvSpPr/>
          <p:nvPr/>
        </p:nvSpPr>
        <p:spPr>
          <a:xfrm>
            <a:off x="1643042" y="4500570"/>
            <a:ext cx="3214710" cy="5000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进口报关单</a:t>
            </a:r>
            <a:r>
              <a:rPr lang="zh-CN" altLang="en-US" dirty="0" smtClean="0"/>
              <a:t>（手册）</a:t>
            </a:r>
            <a:endParaRPr lang="en-US" dirty="0"/>
          </a:p>
        </p:txBody>
      </p:sp>
      <p:sp>
        <p:nvSpPr>
          <p:cNvPr id="20" name="Rounded Rectangle 19"/>
          <p:cNvSpPr/>
          <p:nvPr/>
        </p:nvSpPr>
        <p:spPr>
          <a:xfrm>
            <a:off x="1643042" y="5214950"/>
            <a:ext cx="3214710" cy="5000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出口报关单</a:t>
            </a:r>
            <a:r>
              <a:rPr lang="zh-CN" altLang="en-US" dirty="0" smtClean="0"/>
              <a:t>（手册）</a:t>
            </a:r>
            <a:endParaRPr lang="en-US" dirty="0"/>
          </a:p>
        </p:txBody>
      </p:sp>
      <p:sp>
        <p:nvSpPr>
          <p:cNvPr id="21" name="Rounded Rectangle 20"/>
          <p:cNvSpPr/>
          <p:nvPr/>
        </p:nvSpPr>
        <p:spPr>
          <a:xfrm>
            <a:off x="5214942" y="1643050"/>
            <a:ext cx="2857520" cy="5000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报关单分析</a:t>
            </a:r>
            <a:r>
              <a:rPr lang="zh-CN" altLang="en-US" dirty="0" smtClean="0"/>
              <a:t>（一般贸易）</a:t>
            </a:r>
            <a:endParaRPr lang="en-US" dirty="0"/>
          </a:p>
        </p:txBody>
      </p:sp>
      <p:sp>
        <p:nvSpPr>
          <p:cNvPr id="22" name="Rounded Rectangle 21"/>
          <p:cNvSpPr/>
          <p:nvPr/>
        </p:nvSpPr>
        <p:spPr>
          <a:xfrm>
            <a:off x="5214942" y="2357430"/>
            <a:ext cx="2857520" cy="5000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报关单分析</a:t>
            </a:r>
            <a:r>
              <a:rPr lang="zh-CN" altLang="en-US" dirty="0" smtClean="0"/>
              <a:t>（报税）</a:t>
            </a:r>
            <a:endParaRPr lang="en-US" dirty="0"/>
          </a:p>
        </p:txBody>
      </p:sp>
      <p:sp>
        <p:nvSpPr>
          <p:cNvPr id="23" name="Rounded Rectangle 22"/>
          <p:cNvSpPr/>
          <p:nvPr/>
        </p:nvSpPr>
        <p:spPr>
          <a:xfrm>
            <a:off x="5214942" y="3071810"/>
            <a:ext cx="2857520" cy="5000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报关单分析</a:t>
            </a:r>
            <a:r>
              <a:rPr lang="zh-CN" altLang="en-US" dirty="0" smtClean="0"/>
              <a:t>（手册）</a:t>
            </a:r>
            <a:endParaRPr lang="en-US" dirty="0"/>
          </a:p>
        </p:txBody>
      </p:sp>
      <p:sp>
        <p:nvSpPr>
          <p:cNvPr id="24" name="Rounded Rectangle 23"/>
          <p:cNvSpPr/>
          <p:nvPr/>
        </p:nvSpPr>
        <p:spPr>
          <a:xfrm>
            <a:off x="5214942" y="3786190"/>
            <a:ext cx="2857520" cy="5000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打印</a:t>
            </a:r>
            <a:endParaRPr lang="en-US" dirty="0"/>
          </a:p>
        </p:txBody>
      </p:sp>
      <p:sp>
        <p:nvSpPr>
          <p:cNvPr id="25" name="Rounded Rectangle 24"/>
          <p:cNvSpPr/>
          <p:nvPr/>
        </p:nvSpPr>
        <p:spPr>
          <a:xfrm>
            <a:off x="5214942" y="4500570"/>
            <a:ext cx="2857520" cy="5000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密码修改</a:t>
            </a:r>
            <a:endParaRPr lang="en-US" dirty="0"/>
          </a:p>
        </p:txBody>
      </p:sp>
      <p:sp>
        <p:nvSpPr>
          <p:cNvPr id="26" name="Rounded Rectangle 25"/>
          <p:cNvSpPr/>
          <p:nvPr/>
        </p:nvSpPr>
        <p:spPr>
          <a:xfrm>
            <a:off x="5214942" y="5214950"/>
            <a:ext cx="2857520" cy="5000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结束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142876" y="142876"/>
            <a:ext cx="8858280" cy="6572272"/>
          </a:xfrm>
          <a:prstGeom prst="roundRect">
            <a:avLst>
              <a:gd name="adj" fmla="val 2336"/>
            </a:avLst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41275">
            <a:solidFill>
              <a:schemeClr val="dk1">
                <a:alpha val="11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85720" y="285728"/>
            <a:ext cx="8643998" cy="3571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57158" y="325259"/>
            <a:ext cx="78581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 smtClean="0"/>
              <a:t>基础信息</a:t>
            </a:r>
            <a:endParaRPr lang="en-US" sz="1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214414" y="325259"/>
            <a:ext cx="92869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 smtClean="0"/>
              <a:t>报关</a:t>
            </a:r>
            <a:r>
              <a:rPr lang="zh-CN" altLang="en-US" sz="1000" b="1" dirty="0" smtClean="0"/>
              <a:t>单</a:t>
            </a:r>
            <a:endParaRPr lang="en-US" sz="10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214546" y="325259"/>
            <a:ext cx="92869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 smtClean="0"/>
              <a:t>打印</a:t>
            </a:r>
            <a:endParaRPr lang="en-US" sz="1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3214678" y="325259"/>
            <a:ext cx="92869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/>
              <a:t>分析</a:t>
            </a:r>
            <a:endParaRPr lang="en-US" sz="1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4214810" y="325259"/>
            <a:ext cx="92869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 smtClean="0"/>
              <a:t>系</a:t>
            </a:r>
            <a:r>
              <a:rPr lang="zh-CN" altLang="en-US" sz="1000" b="1" dirty="0" smtClean="0"/>
              <a:t>统</a:t>
            </a:r>
            <a:endParaRPr lang="en-US" sz="1000" b="1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285720" y="928670"/>
            <a:ext cx="8572560" cy="1588"/>
          </a:xfrm>
          <a:prstGeom prst="line">
            <a:avLst/>
          </a:prstGeom>
          <a:ln w="15875" cmpd="sng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14282" y="1878386"/>
            <a:ext cx="857256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预录</a:t>
            </a:r>
            <a:r>
              <a:rPr lang="zh-CN" altLang="en-US" sz="1000" dirty="0" smtClean="0"/>
              <a:t>入编号</a:t>
            </a:r>
            <a:endParaRPr lang="en-US" sz="1000" dirty="0"/>
          </a:p>
        </p:txBody>
      </p:sp>
      <p:sp>
        <p:nvSpPr>
          <p:cNvPr id="31" name="TextBox 30"/>
          <p:cNvSpPr txBox="1"/>
          <p:nvPr/>
        </p:nvSpPr>
        <p:spPr>
          <a:xfrm>
            <a:off x="1071538" y="1878385"/>
            <a:ext cx="585791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2" name="TextBox 31"/>
          <p:cNvSpPr txBox="1"/>
          <p:nvPr/>
        </p:nvSpPr>
        <p:spPr>
          <a:xfrm>
            <a:off x="214282" y="2121344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海关编号</a:t>
            </a:r>
            <a:endParaRPr lang="en-US" sz="1000" dirty="0"/>
          </a:p>
        </p:txBody>
      </p:sp>
      <p:sp>
        <p:nvSpPr>
          <p:cNvPr id="33" name="TextBox 32"/>
          <p:cNvSpPr txBox="1"/>
          <p:nvPr/>
        </p:nvSpPr>
        <p:spPr>
          <a:xfrm>
            <a:off x="928662" y="2121345"/>
            <a:ext cx="242889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4" name="TextBox 33"/>
          <p:cNvSpPr txBox="1"/>
          <p:nvPr/>
        </p:nvSpPr>
        <p:spPr>
          <a:xfrm>
            <a:off x="3357554" y="2121343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进口口岸</a:t>
            </a:r>
            <a:endParaRPr lang="en-US" sz="1000" dirty="0"/>
          </a:p>
        </p:txBody>
      </p:sp>
      <p:sp>
        <p:nvSpPr>
          <p:cNvPr id="35" name="TextBox 34"/>
          <p:cNvSpPr txBox="1"/>
          <p:nvPr/>
        </p:nvSpPr>
        <p:spPr>
          <a:xfrm>
            <a:off x="4071934" y="2121345"/>
            <a:ext cx="285752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6" name="TextBox 35"/>
          <p:cNvSpPr txBox="1"/>
          <p:nvPr/>
        </p:nvSpPr>
        <p:spPr>
          <a:xfrm>
            <a:off x="214282" y="2367565"/>
            <a:ext cx="714380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备案号</a:t>
            </a:r>
            <a:r>
              <a:rPr lang="en-US" altLang="zh-CN" sz="1000" dirty="0" smtClean="0"/>
              <a:t>	</a:t>
            </a:r>
            <a:endParaRPr lang="en-US" sz="1000" dirty="0"/>
          </a:p>
        </p:txBody>
      </p:sp>
      <p:sp>
        <p:nvSpPr>
          <p:cNvPr id="37" name="TextBox 36"/>
          <p:cNvSpPr txBox="1"/>
          <p:nvPr/>
        </p:nvSpPr>
        <p:spPr>
          <a:xfrm>
            <a:off x="928662" y="2367566"/>
            <a:ext cx="242889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8" name="TextBox 37"/>
          <p:cNvSpPr txBox="1"/>
          <p:nvPr/>
        </p:nvSpPr>
        <p:spPr>
          <a:xfrm>
            <a:off x="3357554" y="2367564"/>
            <a:ext cx="928694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合同协议号</a:t>
            </a:r>
            <a:endParaRPr lang="en-US" sz="1000" dirty="0"/>
          </a:p>
        </p:txBody>
      </p:sp>
      <p:sp>
        <p:nvSpPr>
          <p:cNvPr id="39" name="TextBox 38"/>
          <p:cNvSpPr txBox="1"/>
          <p:nvPr/>
        </p:nvSpPr>
        <p:spPr>
          <a:xfrm>
            <a:off x="4286248" y="2367566"/>
            <a:ext cx="264320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40" name="TextBox 39"/>
          <p:cNvSpPr txBox="1"/>
          <p:nvPr/>
        </p:nvSpPr>
        <p:spPr>
          <a:xfrm>
            <a:off x="214282" y="2581879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进口日期</a:t>
            </a:r>
            <a:endParaRPr lang="en-US" sz="1000" dirty="0"/>
          </a:p>
        </p:txBody>
      </p:sp>
      <p:sp>
        <p:nvSpPr>
          <p:cNvPr id="41" name="TextBox 40"/>
          <p:cNvSpPr txBox="1"/>
          <p:nvPr/>
        </p:nvSpPr>
        <p:spPr>
          <a:xfrm>
            <a:off x="928662" y="2581880"/>
            <a:ext cx="242889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42" name="TextBox 41"/>
          <p:cNvSpPr txBox="1"/>
          <p:nvPr/>
        </p:nvSpPr>
        <p:spPr>
          <a:xfrm>
            <a:off x="3357554" y="2581878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申报日期</a:t>
            </a:r>
            <a:endParaRPr lang="en-US" sz="1000" dirty="0"/>
          </a:p>
        </p:txBody>
      </p:sp>
      <p:sp>
        <p:nvSpPr>
          <p:cNvPr id="43" name="TextBox 42"/>
          <p:cNvSpPr txBox="1"/>
          <p:nvPr/>
        </p:nvSpPr>
        <p:spPr>
          <a:xfrm>
            <a:off x="4071934" y="2581880"/>
            <a:ext cx="285752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44" name="TextBox 43"/>
          <p:cNvSpPr txBox="1"/>
          <p:nvPr/>
        </p:nvSpPr>
        <p:spPr>
          <a:xfrm>
            <a:off x="214282" y="2807080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经营单位</a:t>
            </a:r>
            <a:endParaRPr lang="en-US" sz="1000" dirty="0"/>
          </a:p>
        </p:txBody>
      </p:sp>
      <p:sp>
        <p:nvSpPr>
          <p:cNvPr id="45" name="TextBox 44"/>
          <p:cNvSpPr txBox="1"/>
          <p:nvPr/>
        </p:nvSpPr>
        <p:spPr>
          <a:xfrm>
            <a:off x="928662" y="2807081"/>
            <a:ext cx="3143272" cy="2462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46" name="TextBox 45"/>
          <p:cNvSpPr txBox="1"/>
          <p:nvPr/>
        </p:nvSpPr>
        <p:spPr>
          <a:xfrm>
            <a:off x="4071934" y="2807080"/>
            <a:ext cx="1000132" cy="24622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运输方式</a:t>
            </a:r>
            <a:endParaRPr lang="en-US" sz="1000" dirty="0"/>
          </a:p>
        </p:txBody>
      </p:sp>
      <p:sp>
        <p:nvSpPr>
          <p:cNvPr id="47" name="TextBox 46"/>
          <p:cNvSpPr txBox="1"/>
          <p:nvPr/>
        </p:nvSpPr>
        <p:spPr>
          <a:xfrm>
            <a:off x="5072066" y="2807080"/>
            <a:ext cx="1857388" cy="2462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48" name="TextBox 47"/>
          <p:cNvSpPr txBox="1"/>
          <p:nvPr/>
        </p:nvSpPr>
        <p:spPr>
          <a:xfrm>
            <a:off x="214282" y="3049288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收货单位</a:t>
            </a:r>
            <a:endParaRPr lang="en-US" sz="1000" dirty="0"/>
          </a:p>
        </p:txBody>
      </p:sp>
      <p:sp>
        <p:nvSpPr>
          <p:cNvPr id="49" name="TextBox 48"/>
          <p:cNvSpPr txBox="1"/>
          <p:nvPr/>
        </p:nvSpPr>
        <p:spPr>
          <a:xfrm>
            <a:off x="928662" y="3049289"/>
            <a:ext cx="3143272" cy="2462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50" name="TextBox 49"/>
          <p:cNvSpPr txBox="1"/>
          <p:nvPr/>
        </p:nvSpPr>
        <p:spPr>
          <a:xfrm>
            <a:off x="4071934" y="3049287"/>
            <a:ext cx="1000132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运输工具名称</a:t>
            </a:r>
            <a:endParaRPr lang="en-US" sz="1000" dirty="0"/>
          </a:p>
        </p:txBody>
      </p:sp>
      <p:sp>
        <p:nvSpPr>
          <p:cNvPr id="51" name="TextBox 50"/>
          <p:cNvSpPr txBox="1"/>
          <p:nvPr/>
        </p:nvSpPr>
        <p:spPr>
          <a:xfrm>
            <a:off x="5072066" y="3049288"/>
            <a:ext cx="185738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52" name="TextBox 51"/>
          <p:cNvSpPr txBox="1"/>
          <p:nvPr/>
        </p:nvSpPr>
        <p:spPr>
          <a:xfrm>
            <a:off x="214282" y="3296260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申报单位</a:t>
            </a:r>
            <a:endParaRPr lang="en-US" sz="1000" dirty="0"/>
          </a:p>
        </p:txBody>
      </p:sp>
      <p:sp>
        <p:nvSpPr>
          <p:cNvPr id="53" name="TextBox 52"/>
          <p:cNvSpPr txBox="1"/>
          <p:nvPr/>
        </p:nvSpPr>
        <p:spPr>
          <a:xfrm>
            <a:off x="928662" y="3296261"/>
            <a:ext cx="3143272" cy="2462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54" name="TextBox 53"/>
          <p:cNvSpPr txBox="1"/>
          <p:nvPr/>
        </p:nvSpPr>
        <p:spPr>
          <a:xfrm>
            <a:off x="4071934" y="3296260"/>
            <a:ext cx="642942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航次号</a:t>
            </a:r>
            <a:endParaRPr lang="en-US" sz="1000" dirty="0"/>
          </a:p>
        </p:txBody>
      </p:sp>
      <p:sp>
        <p:nvSpPr>
          <p:cNvPr id="55" name="TextBox 54"/>
          <p:cNvSpPr txBox="1"/>
          <p:nvPr/>
        </p:nvSpPr>
        <p:spPr>
          <a:xfrm>
            <a:off x="4714876" y="3296261"/>
            <a:ext cx="221457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56" name="TextBox 55"/>
          <p:cNvSpPr txBox="1"/>
          <p:nvPr/>
        </p:nvSpPr>
        <p:spPr>
          <a:xfrm>
            <a:off x="214282" y="3539217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提</a:t>
            </a:r>
            <a:r>
              <a:rPr lang="zh-CN" altLang="en-US" sz="1000" dirty="0" smtClean="0"/>
              <a:t>运单号</a:t>
            </a:r>
            <a:endParaRPr lang="en-US" sz="1000" dirty="0"/>
          </a:p>
        </p:txBody>
      </p:sp>
      <p:sp>
        <p:nvSpPr>
          <p:cNvPr id="57" name="TextBox 56"/>
          <p:cNvSpPr txBox="1"/>
          <p:nvPr/>
        </p:nvSpPr>
        <p:spPr>
          <a:xfrm>
            <a:off x="928662" y="3539218"/>
            <a:ext cx="114300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58" name="TextBox 57"/>
          <p:cNvSpPr txBox="1"/>
          <p:nvPr/>
        </p:nvSpPr>
        <p:spPr>
          <a:xfrm>
            <a:off x="2071670" y="3539218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贸易方式</a:t>
            </a:r>
            <a:endParaRPr lang="en-US" sz="1000" dirty="0"/>
          </a:p>
        </p:txBody>
      </p:sp>
      <p:sp>
        <p:nvSpPr>
          <p:cNvPr id="59" name="TextBox 58"/>
          <p:cNvSpPr txBox="1"/>
          <p:nvPr/>
        </p:nvSpPr>
        <p:spPr>
          <a:xfrm>
            <a:off x="2786050" y="3539219"/>
            <a:ext cx="100013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60" name="TextBox 59"/>
          <p:cNvSpPr txBox="1"/>
          <p:nvPr/>
        </p:nvSpPr>
        <p:spPr>
          <a:xfrm>
            <a:off x="3786182" y="3539219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征免性质</a:t>
            </a:r>
            <a:endParaRPr lang="en-US" sz="1000" dirty="0"/>
          </a:p>
        </p:txBody>
      </p:sp>
      <p:sp>
        <p:nvSpPr>
          <p:cNvPr id="61" name="TextBox 60"/>
          <p:cNvSpPr txBox="1"/>
          <p:nvPr/>
        </p:nvSpPr>
        <p:spPr>
          <a:xfrm>
            <a:off x="4500562" y="3538468"/>
            <a:ext cx="100013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62" name="TextBox 61"/>
          <p:cNvSpPr txBox="1"/>
          <p:nvPr/>
        </p:nvSpPr>
        <p:spPr>
          <a:xfrm>
            <a:off x="5500694" y="3538468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征税比例</a:t>
            </a:r>
            <a:endParaRPr lang="en-US" sz="1000" dirty="0"/>
          </a:p>
        </p:txBody>
      </p:sp>
      <p:sp>
        <p:nvSpPr>
          <p:cNvPr id="63" name="TextBox 62"/>
          <p:cNvSpPr txBox="1"/>
          <p:nvPr/>
        </p:nvSpPr>
        <p:spPr>
          <a:xfrm>
            <a:off x="6215074" y="3539219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64" name="TextBox 63"/>
          <p:cNvSpPr txBox="1"/>
          <p:nvPr/>
        </p:nvSpPr>
        <p:spPr>
          <a:xfrm>
            <a:off x="214282" y="3775304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纳税单位</a:t>
            </a:r>
            <a:endParaRPr lang="en-US" sz="1000" dirty="0"/>
          </a:p>
        </p:txBody>
      </p:sp>
      <p:sp>
        <p:nvSpPr>
          <p:cNvPr id="65" name="TextBox 64"/>
          <p:cNvSpPr txBox="1"/>
          <p:nvPr/>
        </p:nvSpPr>
        <p:spPr>
          <a:xfrm>
            <a:off x="928662" y="3775305"/>
            <a:ext cx="114300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66" name="TextBox 65"/>
          <p:cNvSpPr txBox="1"/>
          <p:nvPr/>
        </p:nvSpPr>
        <p:spPr>
          <a:xfrm>
            <a:off x="2071670" y="3775304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许可证号</a:t>
            </a:r>
            <a:endParaRPr lang="en-US" sz="1000" dirty="0"/>
          </a:p>
        </p:txBody>
      </p:sp>
      <p:sp>
        <p:nvSpPr>
          <p:cNvPr id="67" name="TextBox 66"/>
          <p:cNvSpPr txBox="1"/>
          <p:nvPr/>
        </p:nvSpPr>
        <p:spPr>
          <a:xfrm>
            <a:off x="2786050" y="3775305"/>
            <a:ext cx="414340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68" name="TextBox 67"/>
          <p:cNvSpPr txBox="1"/>
          <p:nvPr/>
        </p:nvSpPr>
        <p:spPr>
          <a:xfrm>
            <a:off x="214282" y="4021527"/>
            <a:ext cx="107157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启运国</a:t>
            </a:r>
            <a:r>
              <a:rPr lang="en-US" altLang="zh-CN" sz="1000" dirty="0" smtClean="0"/>
              <a:t>(</a:t>
            </a:r>
            <a:r>
              <a:rPr lang="zh-CN" altLang="en-US" sz="1000" dirty="0" smtClean="0"/>
              <a:t>地区</a:t>
            </a:r>
            <a:r>
              <a:rPr lang="en-US" altLang="zh-CN" sz="1000" dirty="0" smtClean="0"/>
              <a:t>)</a:t>
            </a:r>
            <a:endParaRPr lang="en-US" sz="1000" dirty="0"/>
          </a:p>
        </p:txBody>
      </p:sp>
      <p:sp>
        <p:nvSpPr>
          <p:cNvPr id="69" name="TextBox 68"/>
          <p:cNvSpPr txBox="1"/>
          <p:nvPr/>
        </p:nvSpPr>
        <p:spPr>
          <a:xfrm>
            <a:off x="1285852" y="4021527"/>
            <a:ext cx="114300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70" name="TextBox 69"/>
          <p:cNvSpPr txBox="1"/>
          <p:nvPr/>
        </p:nvSpPr>
        <p:spPr>
          <a:xfrm>
            <a:off x="2428860" y="4021526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装货港</a:t>
            </a:r>
            <a:endParaRPr lang="en-US" sz="1000" dirty="0"/>
          </a:p>
        </p:txBody>
      </p:sp>
      <p:sp>
        <p:nvSpPr>
          <p:cNvPr id="71" name="TextBox 70"/>
          <p:cNvSpPr txBox="1"/>
          <p:nvPr/>
        </p:nvSpPr>
        <p:spPr>
          <a:xfrm>
            <a:off x="3143240" y="4021527"/>
            <a:ext cx="171451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72" name="TextBox 71"/>
          <p:cNvSpPr txBox="1"/>
          <p:nvPr/>
        </p:nvSpPr>
        <p:spPr>
          <a:xfrm>
            <a:off x="4857752" y="4021526"/>
            <a:ext cx="928694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境内目的地</a:t>
            </a:r>
            <a:endParaRPr lang="en-US" sz="1000" dirty="0"/>
          </a:p>
        </p:txBody>
      </p:sp>
      <p:sp>
        <p:nvSpPr>
          <p:cNvPr id="73" name="TextBox 72"/>
          <p:cNvSpPr txBox="1"/>
          <p:nvPr/>
        </p:nvSpPr>
        <p:spPr>
          <a:xfrm>
            <a:off x="5786446" y="4021527"/>
            <a:ext cx="114300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74" name="TextBox 73"/>
          <p:cNvSpPr txBox="1"/>
          <p:nvPr/>
        </p:nvSpPr>
        <p:spPr>
          <a:xfrm>
            <a:off x="214282" y="4263733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批准文号</a:t>
            </a:r>
            <a:endParaRPr lang="en-US" sz="1000" dirty="0"/>
          </a:p>
        </p:txBody>
      </p:sp>
      <p:sp>
        <p:nvSpPr>
          <p:cNvPr id="75" name="TextBox 74"/>
          <p:cNvSpPr txBox="1"/>
          <p:nvPr/>
        </p:nvSpPr>
        <p:spPr>
          <a:xfrm>
            <a:off x="928662" y="4263734"/>
            <a:ext cx="3929090" cy="246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76" name="TextBox 75"/>
          <p:cNvSpPr txBox="1"/>
          <p:nvPr/>
        </p:nvSpPr>
        <p:spPr>
          <a:xfrm>
            <a:off x="4857752" y="4263733"/>
            <a:ext cx="928694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成</a:t>
            </a:r>
            <a:r>
              <a:rPr lang="zh-CN" altLang="en-US" sz="1000" dirty="0" smtClean="0"/>
              <a:t>交放肆</a:t>
            </a:r>
            <a:endParaRPr lang="en-US" sz="1000" dirty="0"/>
          </a:p>
        </p:txBody>
      </p:sp>
      <p:sp>
        <p:nvSpPr>
          <p:cNvPr id="77" name="TextBox 76"/>
          <p:cNvSpPr txBox="1"/>
          <p:nvPr/>
        </p:nvSpPr>
        <p:spPr>
          <a:xfrm>
            <a:off x="5786446" y="4263734"/>
            <a:ext cx="114300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78" name="TextBox 77"/>
          <p:cNvSpPr txBox="1"/>
          <p:nvPr/>
        </p:nvSpPr>
        <p:spPr>
          <a:xfrm>
            <a:off x="214282" y="4510707"/>
            <a:ext cx="571504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运费</a:t>
            </a:r>
            <a:endParaRPr lang="en-US" sz="1000" dirty="0"/>
          </a:p>
        </p:txBody>
      </p:sp>
      <p:sp>
        <p:nvSpPr>
          <p:cNvPr id="79" name="TextBox 78"/>
          <p:cNvSpPr txBox="1"/>
          <p:nvPr/>
        </p:nvSpPr>
        <p:spPr>
          <a:xfrm>
            <a:off x="785786" y="4510707"/>
            <a:ext cx="42862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80" name="TextBox 79"/>
          <p:cNvSpPr txBox="1"/>
          <p:nvPr/>
        </p:nvSpPr>
        <p:spPr>
          <a:xfrm>
            <a:off x="1214414" y="4510707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81" name="TextBox 80"/>
          <p:cNvSpPr txBox="1"/>
          <p:nvPr/>
        </p:nvSpPr>
        <p:spPr>
          <a:xfrm>
            <a:off x="2071670" y="4510706"/>
            <a:ext cx="42862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82" name="TextBox 81"/>
          <p:cNvSpPr txBox="1"/>
          <p:nvPr/>
        </p:nvSpPr>
        <p:spPr>
          <a:xfrm>
            <a:off x="2500298" y="4510706"/>
            <a:ext cx="571504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保费</a:t>
            </a:r>
            <a:endParaRPr lang="en-US" sz="1000" dirty="0"/>
          </a:p>
        </p:txBody>
      </p:sp>
      <p:sp>
        <p:nvSpPr>
          <p:cNvPr id="83" name="TextBox 82"/>
          <p:cNvSpPr txBox="1"/>
          <p:nvPr/>
        </p:nvSpPr>
        <p:spPr>
          <a:xfrm>
            <a:off x="3071802" y="4510706"/>
            <a:ext cx="42862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84" name="TextBox 83"/>
          <p:cNvSpPr txBox="1"/>
          <p:nvPr/>
        </p:nvSpPr>
        <p:spPr>
          <a:xfrm>
            <a:off x="3500430" y="4510706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85" name="TextBox 84"/>
          <p:cNvSpPr txBox="1"/>
          <p:nvPr/>
        </p:nvSpPr>
        <p:spPr>
          <a:xfrm>
            <a:off x="4357686" y="4510705"/>
            <a:ext cx="42862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86" name="TextBox 85"/>
          <p:cNvSpPr txBox="1"/>
          <p:nvPr/>
        </p:nvSpPr>
        <p:spPr>
          <a:xfrm>
            <a:off x="4786314" y="4510706"/>
            <a:ext cx="571504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杂费</a:t>
            </a:r>
            <a:endParaRPr lang="en-US" sz="1000" dirty="0"/>
          </a:p>
        </p:txBody>
      </p:sp>
      <p:sp>
        <p:nvSpPr>
          <p:cNvPr id="87" name="TextBox 86"/>
          <p:cNvSpPr txBox="1"/>
          <p:nvPr/>
        </p:nvSpPr>
        <p:spPr>
          <a:xfrm>
            <a:off x="5357818" y="4510706"/>
            <a:ext cx="42862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88" name="TextBox 87"/>
          <p:cNvSpPr txBox="1"/>
          <p:nvPr/>
        </p:nvSpPr>
        <p:spPr>
          <a:xfrm>
            <a:off x="5786446" y="4510706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89" name="TextBox 88"/>
          <p:cNvSpPr txBox="1"/>
          <p:nvPr/>
        </p:nvSpPr>
        <p:spPr>
          <a:xfrm>
            <a:off x="6643702" y="4510705"/>
            <a:ext cx="28575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90" name="TextBox 89"/>
          <p:cNvSpPr txBox="1"/>
          <p:nvPr/>
        </p:nvSpPr>
        <p:spPr>
          <a:xfrm>
            <a:off x="214282" y="4753664"/>
            <a:ext cx="571504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件数</a:t>
            </a:r>
            <a:endParaRPr lang="en-US" sz="1000" dirty="0"/>
          </a:p>
        </p:txBody>
      </p:sp>
      <p:sp>
        <p:nvSpPr>
          <p:cNvPr id="91" name="TextBox 90"/>
          <p:cNvSpPr txBox="1"/>
          <p:nvPr/>
        </p:nvSpPr>
        <p:spPr>
          <a:xfrm>
            <a:off x="785786" y="4753664"/>
            <a:ext cx="785818" cy="246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92" name="TextBox 91"/>
          <p:cNvSpPr txBox="1"/>
          <p:nvPr/>
        </p:nvSpPr>
        <p:spPr>
          <a:xfrm>
            <a:off x="1571604" y="4752914"/>
            <a:ext cx="785818" cy="2469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包装种类</a:t>
            </a:r>
            <a:endParaRPr lang="en-US" sz="1000" dirty="0"/>
          </a:p>
        </p:txBody>
      </p:sp>
      <p:sp>
        <p:nvSpPr>
          <p:cNvPr id="93" name="TextBox 92"/>
          <p:cNvSpPr txBox="1"/>
          <p:nvPr/>
        </p:nvSpPr>
        <p:spPr>
          <a:xfrm>
            <a:off x="2357422" y="4754415"/>
            <a:ext cx="114300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94" name="TextBox 93"/>
          <p:cNvSpPr txBox="1"/>
          <p:nvPr/>
        </p:nvSpPr>
        <p:spPr>
          <a:xfrm>
            <a:off x="3500430" y="4752914"/>
            <a:ext cx="785818" cy="2469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毛重</a:t>
            </a:r>
            <a:r>
              <a:rPr lang="en-US" altLang="zh-CN" sz="1000" dirty="0" smtClean="0"/>
              <a:t>(KG)</a:t>
            </a:r>
            <a:endParaRPr lang="en-US" sz="1000" dirty="0"/>
          </a:p>
        </p:txBody>
      </p:sp>
      <p:sp>
        <p:nvSpPr>
          <p:cNvPr id="95" name="TextBox 94"/>
          <p:cNvSpPr txBox="1"/>
          <p:nvPr/>
        </p:nvSpPr>
        <p:spPr>
          <a:xfrm>
            <a:off x="4286248" y="4752914"/>
            <a:ext cx="928694" cy="246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96" name="TextBox 95"/>
          <p:cNvSpPr txBox="1"/>
          <p:nvPr/>
        </p:nvSpPr>
        <p:spPr>
          <a:xfrm>
            <a:off x="5214942" y="4752914"/>
            <a:ext cx="785818" cy="2469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净</a:t>
            </a:r>
            <a:r>
              <a:rPr lang="zh-CN" altLang="en-US" sz="1000" dirty="0" smtClean="0"/>
              <a:t>重</a:t>
            </a:r>
            <a:r>
              <a:rPr lang="en-US" altLang="zh-CN" sz="1000" dirty="0" smtClean="0"/>
              <a:t>(KG)</a:t>
            </a:r>
            <a:endParaRPr lang="en-US" sz="1000" dirty="0"/>
          </a:p>
        </p:txBody>
      </p:sp>
      <p:sp>
        <p:nvSpPr>
          <p:cNvPr id="97" name="TextBox 96"/>
          <p:cNvSpPr txBox="1"/>
          <p:nvPr/>
        </p:nvSpPr>
        <p:spPr>
          <a:xfrm>
            <a:off x="6000760" y="4752914"/>
            <a:ext cx="928694" cy="246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98" name="TextBox 97"/>
          <p:cNvSpPr txBox="1"/>
          <p:nvPr/>
        </p:nvSpPr>
        <p:spPr>
          <a:xfrm>
            <a:off x="214282" y="4999886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集装箱号</a:t>
            </a:r>
            <a:endParaRPr lang="en-US" sz="1000" dirty="0"/>
          </a:p>
        </p:txBody>
      </p:sp>
      <p:sp>
        <p:nvSpPr>
          <p:cNvPr id="99" name="TextBox 98"/>
          <p:cNvSpPr txBox="1"/>
          <p:nvPr/>
        </p:nvSpPr>
        <p:spPr>
          <a:xfrm>
            <a:off x="928662" y="4999887"/>
            <a:ext cx="257176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00" name="TextBox 99"/>
          <p:cNvSpPr txBox="1"/>
          <p:nvPr/>
        </p:nvSpPr>
        <p:spPr>
          <a:xfrm>
            <a:off x="3500430" y="4999886"/>
            <a:ext cx="785818" cy="2469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随附单证</a:t>
            </a:r>
            <a:endParaRPr lang="en-US" sz="1000" dirty="0"/>
          </a:p>
        </p:txBody>
      </p:sp>
      <p:sp>
        <p:nvSpPr>
          <p:cNvPr id="101" name="TextBox 100"/>
          <p:cNvSpPr txBox="1"/>
          <p:nvPr/>
        </p:nvSpPr>
        <p:spPr>
          <a:xfrm>
            <a:off x="4286248" y="4999886"/>
            <a:ext cx="928694" cy="246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02" name="TextBox 101"/>
          <p:cNvSpPr txBox="1"/>
          <p:nvPr/>
        </p:nvSpPr>
        <p:spPr>
          <a:xfrm>
            <a:off x="5214942" y="4999886"/>
            <a:ext cx="785818" cy="2469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用途</a:t>
            </a:r>
            <a:endParaRPr lang="en-US" sz="1000" dirty="0"/>
          </a:p>
        </p:txBody>
      </p:sp>
      <p:sp>
        <p:nvSpPr>
          <p:cNvPr id="103" name="TextBox 102"/>
          <p:cNvSpPr txBox="1"/>
          <p:nvPr/>
        </p:nvSpPr>
        <p:spPr>
          <a:xfrm>
            <a:off x="6000760" y="4999886"/>
            <a:ext cx="928694" cy="246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04" name="TextBox 103"/>
          <p:cNvSpPr txBox="1"/>
          <p:nvPr/>
        </p:nvSpPr>
        <p:spPr>
          <a:xfrm>
            <a:off x="214282" y="5243594"/>
            <a:ext cx="928694" cy="24622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报关单类型</a:t>
            </a:r>
            <a:endParaRPr lang="en-US" sz="1000" dirty="0"/>
          </a:p>
        </p:txBody>
      </p:sp>
      <p:sp>
        <p:nvSpPr>
          <p:cNvPr id="105" name="TextBox 104"/>
          <p:cNvSpPr txBox="1"/>
          <p:nvPr/>
        </p:nvSpPr>
        <p:spPr>
          <a:xfrm>
            <a:off x="1142976" y="5243595"/>
            <a:ext cx="200026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06" name="TextBox 105"/>
          <p:cNvSpPr txBox="1"/>
          <p:nvPr/>
        </p:nvSpPr>
        <p:spPr>
          <a:xfrm>
            <a:off x="3143240" y="5242844"/>
            <a:ext cx="785818" cy="2469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备          注</a:t>
            </a:r>
            <a:endParaRPr lang="en-US" sz="1000" dirty="0"/>
          </a:p>
        </p:txBody>
      </p:sp>
      <p:sp>
        <p:nvSpPr>
          <p:cNvPr id="107" name="TextBox 106"/>
          <p:cNvSpPr txBox="1"/>
          <p:nvPr/>
        </p:nvSpPr>
        <p:spPr>
          <a:xfrm>
            <a:off x="3929058" y="5242844"/>
            <a:ext cx="3000396" cy="246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08" name="TextBox 107"/>
          <p:cNvSpPr txBox="1"/>
          <p:nvPr/>
        </p:nvSpPr>
        <p:spPr>
          <a:xfrm>
            <a:off x="1643042" y="1385816"/>
            <a:ext cx="571504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中和人民共和国海关进口货物报关</a:t>
            </a:r>
            <a:r>
              <a:rPr lang="zh-CN" altLang="en-US" sz="2000" b="1" dirty="0" smtClean="0"/>
              <a:t>单（</a:t>
            </a:r>
            <a:r>
              <a:rPr lang="zh-CN" altLang="en-US" sz="2000" b="1" dirty="0" smtClean="0"/>
              <a:t>一般贸易）</a:t>
            </a:r>
            <a:endParaRPr lang="en-US" sz="2000" b="1" dirty="0"/>
          </a:p>
        </p:txBody>
      </p:sp>
      <p:sp>
        <p:nvSpPr>
          <p:cNvPr id="109" name="TextBox 108"/>
          <p:cNvSpPr txBox="1"/>
          <p:nvPr/>
        </p:nvSpPr>
        <p:spPr>
          <a:xfrm>
            <a:off x="7022664" y="1868250"/>
            <a:ext cx="835484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集装箱号</a:t>
            </a:r>
            <a:endParaRPr lang="en-US" sz="1000" dirty="0"/>
          </a:p>
        </p:txBody>
      </p:sp>
      <p:sp>
        <p:nvSpPr>
          <p:cNvPr id="110" name="TextBox 109"/>
          <p:cNvSpPr txBox="1"/>
          <p:nvPr/>
        </p:nvSpPr>
        <p:spPr>
          <a:xfrm>
            <a:off x="7858148" y="1868251"/>
            <a:ext cx="50006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规格</a:t>
            </a:r>
            <a:endParaRPr lang="en-US" sz="1000" dirty="0"/>
          </a:p>
        </p:txBody>
      </p:sp>
      <p:sp>
        <p:nvSpPr>
          <p:cNvPr id="111" name="TextBox 110"/>
          <p:cNvSpPr txBox="1"/>
          <p:nvPr/>
        </p:nvSpPr>
        <p:spPr>
          <a:xfrm>
            <a:off x="8358214" y="1868250"/>
            <a:ext cx="642942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自重</a:t>
            </a:r>
            <a:r>
              <a:rPr lang="en-US" altLang="zh-CN" sz="1000" dirty="0" smtClean="0"/>
              <a:t>(KG)</a:t>
            </a:r>
            <a:endParaRPr lang="en-US" sz="1000" dirty="0"/>
          </a:p>
        </p:txBody>
      </p:sp>
      <p:sp>
        <p:nvSpPr>
          <p:cNvPr id="112" name="TextBox 111"/>
          <p:cNvSpPr txBox="1"/>
          <p:nvPr/>
        </p:nvSpPr>
        <p:spPr>
          <a:xfrm>
            <a:off x="7022664" y="2122095"/>
            <a:ext cx="83548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13" name="TextBox 112"/>
          <p:cNvSpPr txBox="1"/>
          <p:nvPr/>
        </p:nvSpPr>
        <p:spPr>
          <a:xfrm>
            <a:off x="7858148" y="2122095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14" name="TextBox 113"/>
          <p:cNvSpPr txBox="1"/>
          <p:nvPr/>
        </p:nvSpPr>
        <p:spPr>
          <a:xfrm>
            <a:off x="8358214" y="2122095"/>
            <a:ext cx="64294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15" name="TextBox 114"/>
          <p:cNvSpPr txBox="1"/>
          <p:nvPr/>
        </p:nvSpPr>
        <p:spPr>
          <a:xfrm>
            <a:off x="7022664" y="2368316"/>
            <a:ext cx="83548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16" name="TextBox 115"/>
          <p:cNvSpPr txBox="1"/>
          <p:nvPr/>
        </p:nvSpPr>
        <p:spPr>
          <a:xfrm>
            <a:off x="7858148" y="2368316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17" name="TextBox 116"/>
          <p:cNvSpPr txBox="1"/>
          <p:nvPr/>
        </p:nvSpPr>
        <p:spPr>
          <a:xfrm>
            <a:off x="8358214" y="2368316"/>
            <a:ext cx="64294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18" name="TextBox 117"/>
          <p:cNvSpPr txBox="1"/>
          <p:nvPr/>
        </p:nvSpPr>
        <p:spPr>
          <a:xfrm>
            <a:off x="7022664" y="2611275"/>
            <a:ext cx="83548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19" name="TextBox 118"/>
          <p:cNvSpPr txBox="1"/>
          <p:nvPr/>
        </p:nvSpPr>
        <p:spPr>
          <a:xfrm>
            <a:off x="7858148" y="2611275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20" name="TextBox 119"/>
          <p:cNvSpPr txBox="1"/>
          <p:nvPr/>
        </p:nvSpPr>
        <p:spPr>
          <a:xfrm>
            <a:off x="8358214" y="2611275"/>
            <a:ext cx="64294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21" name="TextBox 120"/>
          <p:cNvSpPr txBox="1"/>
          <p:nvPr/>
        </p:nvSpPr>
        <p:spPr>
          <a:xfrm>
            <a:off x="7000892" y="2907913"/>
            <a:ext cx="1000132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境内目的地</a:t>
            </a:r>
            <a:endParaRPr lang="en-US" sz="1000" dirty="0"/>
          </a:p>
        </p:txBody>
      </p:sp>
      <p:sp>
        <p:nvSpPr>
          <p:cNvPr id="122" name="TextBox 121"/>
          <p:cNvSpPr txBox="1"/>
          <p:nvPr/>
        </p:nvSpPr>
        <p:spPr>
          <a:xfrm>
            <a:off x="8000992" y="2907913"/>
            <a:ext cx="100016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23" name="TextBox 122"/>
          <p:cNvSpPr txBox="1"/>
          <p:nvPr/>
        </p:nvSpPr>
        <p:spPr>
          <a:xfrm>
            <a:off x="7000892" y="3154134"/>
            <a:ext cx="1000132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境内目的地</a:t>
            </a:r>
            <a:endParaRPr lang="en-US" sz="1000" dirty="0"/>
          </a:p>
        </p:txBody>
      </p:sp>
      <p:sp>
        <p:nvSpPr>
          <p:cNvPr id="124" name="TextBox 123"/>
          <p:cNvSpPr txBox="1"/>
          <p:nvPr/>
        </p:nvSpPr>
        <p:spPr>
          <a:xfrm>
            <a:off x="8000992" y="3154134"/>
            <a:ext cx="100016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25" name="TextBox 124"/>
          <p:cNvSpPr txBox="1"/>
          <p:nvPr/>
        </p:nvSpPr>
        <p:spPr>
          <a:xfrm>
            <a:off x="7000892" y="3368448"/>
            <a:ext cx="1000132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境内目的地</a:t>
            </a:r>
            <a:endParaRPr lang="en-US" sz="1000" dirty="0"/>
          </a:p>
        </p:txBody>
      </p:sp>
      <p:sp>
        <p:nvSpPr>
          <p:cNvPr id="126" name="TextBox 125"/>
          <p:cNvSpPr txBox="1"/>
          <p:nvPr/>
        </p:nvSpPr>
        <p:spPr>
          <a:xfrm>
            <a:off x="8000992" y="3368448"/>
            <a:ext cx="100016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27" name="Rounded Rectangle 126"/>
          <p:cNvSpPr/>
          <p:nvPr/>
        </p:nvSpPr>
        <p:spPr>
          <a:xfrm>
            <a:off x="7000892" y="3654200"/>
            <a:ext cx="571504" cy="2143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/>
              <a:t>追加</a:t>
            </a:r>
            <a:endParaRPr lang="en-US" sz="1000" dirty="0"/>
          </a:p>
        </p:txBody>
      </p:sp>
      <p:sp>
        <p:nvSpPr>
          <p:cNvPr id="128" name="Rounded Rectangle 127"/>
          <p:cNvSpPr/>
          <p:nvPr/>
        </p:nvSpPr>
        <p:spPr>
          <a:xfrm>
            <a:off x="8429652" y="3654200"/>
            <a:ext cx="571504" cy="2143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/>
              <a:t>删除</a:t>
            </a:r>
            <a:endParaRPr lang="en-US" sz="1000" dirty="0"/>
          </a:p>
        </p:txBody>
      </p:sp>
      <p:sp>
        <p:nvSpPr>
          <p:cNvPr id="129" name="TextBox 128"/>
          <p:cNvSpPr txBox="1"/>
          <p:nvPr/>
        </p:nvSpPr>
        <p:spPr>
          <a:xfrm>
            <a:off x="7022664" y="3939952"/>
            <a:ext cx="478294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代码</a:t>
            </a:r>
            <a:endParaRPr lang="en-US" sz="1000" dirty="0"/>
          </a:p>
        </p:txBody>
      </p:sp>
      <p:sp>
        <p:nvSpPr>
          <p:cNvPr id="130" name="TextBox 129"/>
          <p:cNvSpPr txBox="1"/>
          <p:nvPr/>
        </p:nvSpPr>
        <p:spPr>
          <a:xfrm>
            <a:off x="7500958" y="3939952"/>
            <a:ext cx="1500198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随</a:t>
            </a:r>
            <a:r>
              <a:rPr lang="zh-CN" altLang="en-US" sz="1000" dirty="0" smtClean="0"/>
              <a:t>附单证编号</a:t>
            </a:r>
            <a:endParaRPr lang="en-US" sz="1000" dirty="0"/>
          </a:p>
        </p:txBody>
      </p:sp>
      <p:sp>
        <p:nvSpPr>
          <p:cNvPr id="131" name="TextBox 130"/>
          <p:cNvSpPr txBox="1"/>
          <p:nvPr/>
        </p:nvSpPr>
        <p:spPr>
          <a:xfrm>
            <a:off x="7022664" y="4193797"/>
            <a:ext cx="47829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32" name="TextBox 131"/>
          <p:cNvSpPr txBox="1"/>
          <p:nvPr/>
        </p:nvSpPr>
        <p:spPr>
          <a:xfrm>
            <a:off x="7500958" y="4193797"/>
            <a:ext cx="150019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33" name="TextBox 132"/>
          <p:cNvSpPr txBox="1"/>
          <p:nvPr/>
        </p:nvSpPr>
        <p:spPr>
          <a:xfrm>
            <a:off x="7022664" y="4440018"/>
            <a:ext cx="47829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34" name="TextBox 133"/>
          <p:cNvSpPr txBox="1"/>
          <p:nvPr/>
        </p:nvSpPr>
        <p:spPr>
          <a:xfrm>
            <a:off x="7500958" y="4440018"/>
            <a:ext cx="150019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35" name="TextBox 134"/>
          <p:cNvSpPr txBox="1"/>
          <p:nvPr/>
        </p:nvSpPr>
        <p:spPr>
          <a:xfrm>
            <a:off x="7000892" y="4725770"/>
            <a:ext cx="1000132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境内目的地</a:t>
            </a:r>
            <a:endParaRPr lang="en-US" sz="1000" dirty="0"/>
          </a:p>
        </p:txBody>
      </p:sp>
      <p:sp>
        <p:nvSpPr>
          <p:cNvPr id="136" name="TextBox 135"/>
          <p:cNvSpPr txBox="1"/>
          <p:nvPr/>
        </p:nvSpPr>
        <p:spPr>
          <a:xfrm>
            <a:off x="8000992" y="4725770"/>
            <a:ext cx="100016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37" name="TextBox 136"/>
          <p:cNvSpPr txBox="1"/>
          <p:nvPr/>
        </p:nvSpPr>
        <p:spPr>
          <a:xfrm>
            <a:off x="7000892" y="4971991"/>
            <a:ext cx="1000132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境内目的地</a:t>
            </a:r>
            <a:endParaRPr lang="en-US" sz="1000" dirty="0"/>
          </a:p>
        </p:txBody>
      </p:sp>
      <p:sp>
        <p:nvSpPr>
          <p:cNvPr id="138" name="TextBox 137"/>
          <p:cNvSpPr txBox="1"/>
          <p:nvPr/>
        </p:nvSpPr>
        <p:spPr>
          <a:xfrm>
            <a:off x="8000992" y="4971991"/>
            <a:ext cx="100016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39" name="TextBox 138"/>
          <p:cNvSpPr txBox="1"/>
          <p:nvPr/>
        </p:nvSpPr>
        <p:spPr>
          <a:xfrm>
            <a:off x="214282" y="5583026"/>
            <a:ext cx="714380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商</a:t>
            </a:r>
            <a:r>
              <a:rPr lang="zh-CN" altLang="en-US" sz="1000" dirty="0" smtClean="0"/>
              <a:t>品序号</a:t>
            </a:r>
            <a:endParaRPr lang="en-US" sz="1000" dirty="0"/>
          </a:p>
        </p:txBody>
      </p:sp>
      <p:sp>
        <p:nvSpPr>
          <p:cNvPr id="140" name="TextBox 139"/>
          <p:cNvSpPr txBox="1"/>
          <p:nvPr/>
        </p:nvSpPr>
        <p:spPr>
          <a:xfrm>
            <a:off x="928662" y="5583027"/>
            <a:ext cx="736152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商品编</a:t>
            </a:r>
            <a:r>
              <a:rPr lang="zh-CN" altLang="en-US" sz="1000" dirty="0" smtClean="0"/>
              <a:t>号</a:t>
            </a:r>
            <a:endParaRPr lang="en-US" sz="1000" dirty="0"/>
          </a:p>
        </p:txBody>
      </p:sp>
      <p:sp>
        <p:nvSpPr>
          <p:cNvPr id="141" name="TextBox 140"/>
          <p:cNvSpPr txBox="1"/>
          <p:nvPr/>
        </p:nvSpPr>
        <p:spPr>
          <a:xfrm>
            <a:off x="214282" y="5836871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42" name="TextBox 141"/>
          <p:cNvSpPr txBox="1"/>
          <p:nvPr/>
        </p:nvSpPr>
        <p:spPr>
          <a:xfrm>
            <a:off x="928662" y="5836871"/>
            <a:ext cx="73615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43" name="TextBox 142"/>
          <p:cNvSpPr txBox="1"/>
          <p:nvPr/>
        </p:nvSpPr>
        <p:spPr>
          <a:xfrm>
            <a:off x="214282" y="6083092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44" name="TextBox 143"/>
          <p:cNvSpPr txBox="1"/>
          <p:nvPr/>
        </p:nvSpPr>
        <p:spPr>
          <a:xfrm>
            <a:off x="928662" y="6083092"/>
            <a:ext cx="73615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45" name="TextBox 144"/>
          <p:cNvSpPr txBox="1"/>
          <p:nvPr/>
        </p:nvSpPr>
        <p:spPr>
          <a:xfrm>
            <a:off x="214282" y="6326051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46" name="TextBox 145"/>
          <p:cNvSpPr txBox="1"/>
          <p:nvPr/>
        </p:nvSpPr>
        <p:spPr>
          <a:xfrm>
            <a:off x="928662" y="6326051"/>
            <a:ext cx="73615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47" name="TextBox 146"/>
          <p:cNvSpPr txBox="1"/>
          <p:nvPr/>
        </p:nvSpPr>
        <p:spPr>
          <a:xfrm>
            <a:off x="1643042" y="5583025"/>
            <a:ext cx="714380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附加编号</a:t>
            </a:r>
            <a:endParaRPr lang="en-US" sz="1000" dirty="0"/>
          </a:p>
        </p:txBody>
      </p:sp>
      <p:sp>
        <p:nvSpPr>
          <p:cNvPr id="148" name="TextBox 147"/>
          <p:cNvSpPr txBox="1"/>
          <p:nvPr/>
        </p:nvSpPr>
        <p:spPr>
          <a:xfrm>
            <a:off x="1643042" y="5836870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49" name="TextBox 148"/>
          <p:cNvSpPr txBox="1"/>
          <p:nvPr/>
        </p:nvSpPr>
        <p:spPr>
          <a:xfrm>
            <a:off x="1643042" y="6083091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50" name="TextBox 149"/>
          <p:cNvSpPr txBox="1"/>
          <p:nvPr/>
        </p:nvSpPr>
        <p:spPr>
          <a:xfrm>
            <a:off x="1643042" y="6326050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51" name="TextBox 150"/>
          <p:cNvSpPr txBox="1"/>
          <p:nvPr/>
        </p:nvSpPr>
        <p:spPr>
          <a:xfrm>
            <a:off x="2357422" y="5583026"/>
            <a:ext cx="85725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商</a:t>
            </a:r>
            <a:r>
              <a:rPr lang="zh-CN" altLang="en-US" sz="1000" dirty="0" smtClean="0"/>
              <a:t>品名称</a:t>
            </a:r>
            <a:endParaRPr lang="en-US" sz="1000" dirty="0"/>
          </a:p>
        </p:txBody>
      </p:sp>
      <p:sp>
        <p:nvSpPr>
          <p:cNvPr id="152" name="TextBox 151"/>
          <p:cNvSpPr txBox="1"/>
          <p:nvPr/>
        </p:nvSpPr>
        <p:spPr>
          <a:xfrm>
            <a:off x="2357422" y="5836870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53" name="TextBox 152"/>
          <p:cNvSpPr txBox="1"/>
          <p:nvPr/>
        </p:nvSpPr>
        <p:spPr>
          <a:xfrm>
            <a:off x="2357422" y="6083091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54" name="TextBox 153"/>
          <p:cNvSpPr txBox="1"/>
          <p:nvPr/>
        </p:nvSpPr>
        <p:spPr>
          <a:xfrm>
            <a:off x="2357422" y="6326050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55" name="TextBox 154"/>
          <p:cNvSpPr txBox="1"/>
          <p:nvPr/>
        </p:nvSpPr>
        <p:spPr>
          <a:xfrm>
            <a:off x="3214678" y="5583026"/>
            <a:ext cx="1428760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规格型号</a:t>
            </a:r>
            <a:endParaRPr lang="en-US" sz="1000" dirty="0"/>
          </a:p>
        </p:txBody>
      </p:sp>
      <p:sp>
        <p:nvSpPr>
          <p:cNvPr id="156" name="TextBox 155"/>
          <p:cNvSpPr txBox="1"/>
          <p:nvPr/>
        </p:nvSpPr>
        <p:spPr>
          <a:xfrm>
            <a:off x="3214678" y="5836870"/>
            <a:ext cx="142876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57" name="TextBox 156"/>
          <p:cNvSpPr txBox="1"/>
          <p:nvPr/>
        </p:nvSpPr>
        <p:spPr>
          <a:xfrm>
            <a:off x="3214678" y="6083091"/>
            <a:ext cx="142876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58" name="TextBox 157"/>
          <p:cNvSpPr txBox="1"/>
          <p:nvPr/>
        </p:nvSpPr>
        <p:spPr>
          <a:xfrm>
            <a:off x="3214678" y="6326050"/>
            <a:ext cx="142876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59" name="TextBox 158"/>
          <p:cNvSpPr txBox="1"/>
          <p:nvPr/>
        </p:nvSpPr>
        <p:spPr>
          <a:xfrm>
            <a:off x="5357818" y="5583025"/>
            <a:ext cx="50006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数量</a:t>
            </a:r>
            <a:endParaRPr lang="en-US" sz="1000" dirty="0"/>
          </a:p>
        </p:txBody>
      </p:sp>
      <p:sp>
        <p:nvSpPr>
          <p:cNvPr id="160" name="TextBox 159"/>
          <p:cNvSpPr txBox="1"/>
          <p:nvPr/>
        </p:nvSpPr>
        <p:spPr>
          <a:xfrm>
            <a:off x="5357818" y="5836870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61" name="TextBox 160"/>
          <p:cNvSpPr txBox="1"/>
          <p:nvPr/>
        </p:nvSpPr>
        <p:spPr>
          <a:xfrm>
            <a:off x="5357818" y="6083091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62" name="TextBox 161"/>
          <p:cNvSpPr txBox="1"/>
          <p:nvPr/>
        </p:nvSpPr>
        <p:spPr>
          <a:xfrm>
            <a:off x="5357818" y="6326050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63" name="TextBox 162"/>
          <p:cNvSpPr txBox="1"/>
          <p:nvPr/>
        </p:nvSpPr>
        <p:spPr>
          <a:xfrm>
            <a:off x="7358082" y="5583026"/>
            <a:ext cx="50006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币制</a:t>
            </a:r>
            <a:endParaRPr lang="en-US" sz="1000" dirty="0"/>
          </a:p>
        </p:txBody>
      </p:sp>
      <p:sp>
        <p:nvSpPr>
          <p:cNvPr id="164" name="TextBox 163"/>
          <p:cNvSpPr txBox="1"/>
          <p:nvPr/>
        </p:nvSpPr>
        <p:spPr>
          <a:xfrm>
            <a:off x="7358082" y="5836870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65" name="TextBox 164"/>
          <p:cNvSpPr txBox="1"/>
          <p:nvPr/>
        </p:nvSpPr>
        <p:spPr>
          <a:xfrm>
            <a:off x="7358082" y="6083091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66" name="TextBox 165"/>
          <p:cNvSpPr txBox="1"/>
          <p:nvPr/>
        </p:nvSpPr>
        <p:spPr>
          <a:xfrm>
            <a:off x="7358082" y="6326050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67" name="TextBox 166"/>
          <p:cNvSpPr txBox="1"/>
          <p:nvPr/>
        </p:nvSpPr>
        <p:spPr>
          <a:xfrm>
            <a:off x="7858148" y="5583026"/>
            <a:ext cx="642942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用途</a:t>
            </a:r>
            <a:endParaRPr lang="en-US" sz="1000" dirty="0"/>
          </a:p>
        </p:txBody>
      </p:sp>
      <p:sp>
        <p:nvSpPr>
          <p:cNvPr id="168" name="TextBox 167"/>
          <p:cNvSpPr txBox="1"/>
          <p:nvPr/>
        </p:nvSpPr>
        <p:spPr>
          <a:xfrm>
            <a:off x="7858148" y="5836870"/>
            <a:ext cx="64294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69" name="TextBox 168"/>
          <p:cNvSpPr txBox="1"/>
          <p:nvPr/>
        </p:nvSpPr>
        <p:spPr>
          <a:xfrm>
            <a:off x="7858148" y="6083091"/>
            <a:ext cx="64294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70" name="TextBox 169"/>
          <p:cNvSpPr txBox="1"/>
          <p:nvPr/>
        </p:nvSpPr>
        <p:spPr>
          <a:xfrm>
            <a:off x="7858148" y="6326050"/>
            <a:ext cx="64294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71" name="TextBox 170"/>
          <p:cNvSpPr txBox="1"/>
          <p:nvPr/>
        </p:nvSpPr>
        <p:spPr>
          <a:xfrm>
            <a:off x="5857884" y="5583026"/>
            <a:ext cx="50006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单位</a:t>
            </a:r>
            <a:endParaRPr lang="en-US" sz="1000" dirty="0"/>
          </a:p>
        </p:txBody>
      </p:sp>
      <p:sp>
        <p:nvSpPr>
          <p:cNvPr id="172" name="TextBox 171"/>
          <p:cNvSpPr txBox="1"/>
          <p:nvPr/>
        </p:nvSpPr>
        <p:spPr>
          <a:xfrm>
            <a:off x="5857884" y="5836871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73" name="TextBox 172"/>
          <p:cNvSpPr txBox="1"/>
          <p:nvPr/>
        </p:nvSpPr>
        <p:spPr>
          <a:xfrm>
            <a:off x="5857884" y="6083092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74" name="TextBox 173"/>
          <p:cNvSpPr txBox="1"/>
          <p:nvPr/>
        </p:nvSpPr>
        <p:spPr>
          <a:xfrm>
            <a:off x="5857884" y="6326051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75" name="TextBox 174"/>
          <p:cNvSpPr txBox="1"/>
          <p:nvPr/>
        </p:nvSpPr>
        <p:spPr>
          <a:xfrm>
            <a:off x="6357950" y="5583026"/>
            <a:ext cx="50006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单价</a:t>
            </a:r>
            <a:endParaRPr lang="en-US" sz="1000" dirty="0"/>
          </a:p>
        </p:txBody>
      </p:sp>
      <p:sp>
        <p:nvSpPr>
          <p:cNvPr id="176" name="TextBox 175"/>
          <p:cNvSpPr txBox="1"/>
          <p:nvPr/>
        </p:nvSpPr>
        <p:spPr>
          <a:xfrm>
            <a:off x="6357950" y="5836871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77" name="TextBox 176"/>
          <p:cNvSpPr txBox="1"/>
          <p:nvPr/>
        </p:nvSpPr>
        <p:spPr>
          <a:xfrm>
            <a:off x="6357950" y="6083092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78" name="TextBox 177"/>
          <p:cNvSpPr txBox="1"/>
          <p:nvPr/>
        </p:nvSpPr>
        <p:spPr>
          <a:xfrm>
            <a:off x="6357950" y="6326051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79" name="TextBox 178"/>
          <p:cNvSpPr txBox="1"/>
          <p:nvPr/>
        </p:nvSpPr>
        <p:spPr>
          <a:xfrm>
            <a:off x="6858016" y="5583026"/>
            <a:ext cx="50006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总价</a:t>
            </a:r>
            <a:endParaRPr lang="en-US" sz="1000" dirty="0"/>
          </a:p>
        </p:txBody>
      </p:sp>
      <p:sp>
        <p:nvSpPr>
          <p:cNvPr id="180" name="TextBox 179"/>
          <p:cNvSpPr txBox="1"/>
          <p:nvPr/>
        </p:nvSpPr>
        <p:spPr>
          <a:xfrm>
            <a:off x="6858016" y="5836871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81" name="TextBox 180"/>
          <p:cNvSpPr txBox="1"/>
          <p:nvPr/>
        </p:nvSpPr>
        <p:spPr>
          <a:xfrm>
            <a:off x="6858016" y="6083092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82" name="TextBox 181"/>
          <p:cNvSpPr txBox="1"/>
          <p:nvPr/>
        </p:nvSpPr>
        <p:spPr>
          <a:xfrm>
            <a:off x="6858016" y="6326051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83" name="TextBox 182"/>
          <p:cNvSpPr txBox="1"/>
          <p:nvPr/>
        </p:nvSpPr>
        <p:spPr>
          <a:xfrm>
            <a:off x="8501090" y="5583026"/>
            <a:ext cx="50006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征免</a:t>
            </a:r>
            <a:endParaRPr lang="en-US" sz="1000" dirty="0"/>
          </a:p>
        </p:txBody>
      </p:sp>
      <p:sp>
        <p:nvSpPr>
          <p:cNvPr id="184" name="TextBox 183"/>
          <p:cNvSpPr txBox="1"/>
          <p:nvPr/>
        </p:nvSpPr>
        <p:spPr>
          <a:xfrm>
            <a:off x="8501090" y="5836870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85" name="TextBox 184"/>
          <p:cNvSpPr txBox="1"/>
          <p:nvPr/>
        </p:nvSpPr>
        <p:spPr>
          <a:xfrm>
            <a:off x="8501090" y="6083091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86" name="TextBox 185"/>
          <p:cNvSpPr txBox="1"/>
          <p:nvPr/>
        </p:nvSpPr>
        <p:spPr>
          <a:xfrm>
            <a:off x="8501090" y="6326050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88" name="Rounded Rectangle 187"/>
          <p:cNvSpPr/>
          <p:nvPr/>
        </p:nvSpPr>
        <p:spPr>
          <a:xfrm>
            <a:off x="7715272" y="3654200"/>
            <a:ext cx="571504" cy="2143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编辑</a:t>
            </a:r>
            <a:endParaRPr lang="en-US" sz="1000" dirty="0"/>
          </a:p>
        </p:txBody>
      </p:sp>
      <p:sp>
        <p:nvSpPr>
          <p:cNvPr id="189" name="Rounded Rectangle 188"/>
          <p:cNvSpPr/>
          <p:nvPr/>
        </p:nvSpPr>
        <p:spPr>
          <a:xfrm>
            <a:off x="7000892" y="5297274"/>
            <a:ext cx="571504" cy="2143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/>
              <a:t>追加</a:t>
            </a:r>
            <a:endParaRPr lang="en-US" sz="1000" dirty="0"/>
          </a:p>
        </p:txBody>
      </p:sp>
      <p:sp>
        <p:nvSpPr>
          <p:cNvPr id="190" name="Rounded Rectangle 189"/>
          <p:cNvSpPr/>
          <p:nvPr/>
        </p:nvSpPr>
        <p:spPr>
          <a:xfrm>
            <a:off x="8429652" y="5297274"/>
            <a:ext cx="571504" cy="2143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/>
              <a:t>删除</a:t>
            </a:r>
            <a:endParaRPr lang="en-US" sz="1000" dirty="0"/>
          </a:p>
        </p:txBody>
      </p:sp>
      <p:sp>
        <p:nvSpPr>
          <p:cNvPr id="191" name="Rounded Rectangle 190"/>
          <p:cNvSpPr/>
          <p:nvPr/>
        </p:nvSpPr>
        <p:spPr>
          <a:xfrm>
            <a:off x="7715272" y="5297274"/>
            <a:ext cx="571504" cy="2143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编辑</a:t>
            </a:r>
            <a:endParaRPr lang="en-US" sz="1000" dirty="0"/>
          </a:p>
        </p:txBody>
      </p:sp>
      <p:sp>
        <p:nvSpPr>
          <p:cNvPr id="192" name="TextBox 191"/>
          <p:cNvSpPr txBox="1"/>
          <p:nvPr/>
        </p:nvSpPr>
        <p:spPr>
          <a:xfrm>
            <a:off x="4643438" y="5583025"/>
            <a:ext cx="714380" cy="400110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原产地</a:t>
            </a:r>
            <a:endParaRPr lang="en-US" sz="1000" dirty="0" smtClean="0"/>
          </a:p>
          <a:p>
            <a:endParaRPr lang="en-US" sz="1000" dirty="0"/>
          </a:p>
        </p:txBody>
      </p:sp>
      <p:sp>
        <p:nvSpPr>
          <p:cNvPr id="193" name="TextBox 192"/>
          <p:cNvSpPr txBox="1"/>
          <p:nvPr/>
        </p:nvSpPr>
        <p:spPr>
          <a:xfrm>
            <a:off x="4643438" y="5836870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94" name="TextBox 193"/>
          <p:cNvSpPr txBox="1"/>
          <p:nvPr/>
        </p:nvSpPr>
        <p:spPr>
          <a:xfrm>
            <a:off x="4643438" y="6083091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95" name="TextBox 194"/>
          <p:cNvSpPr txBox="1"/>
          <p:nvPr/>
        </p:nvSpPr>
        <p:spPr>
          <a:xfrm>
            <a:off x="4643438" y="6326050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cxnSp>
        <p:nvCxnSpPr>
          <p:cNvPr id="196" name="Straight Connector 195"/>
          <p:cNvCxnSpPr/>
          <p:nvPr/>
        </p:nvCxnSpPr>
        <p:spPr>
          <a:xfrm>
            <a:off x="285720" y="1285860"/>
            <a:ext cx="8572560" cy="1588"/>
          </a:xfrm>
          <a:prstGeom prst="line">
            <a:avLst/>
          </a:prstGeom>
          <a:ln w="15875" cmpd="sng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Isosceles Triangle 196"/>
          <p:cNvSpPr/>
          <p:nvPr/>
        </p:nvSpPr>
        <p:spPr>
          <a:xfrm rot="5400000">
            <a:off x="1498578" y="1062402"/>
            <a:ext cx="142876" cy="142876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7" name="Group 206"/>
          <p:cNvGrpSpPr/>
          <p:nvPr/>
        </p:nvGrpSpPr>
        <p:grpSpPr>
          <a:xfrm>
            <a:off x="1784330" y="1062402"/>
            <a:ext cx="144464" cy="143670"/>
            <a:chOff x="1357290" y="1071546"/>
            <a:chExt cx="144464" cy="143670"/>
          </a:xfrm>
        </p:grpSpPr>
        <p:sp>
          <p:nvSpPr>
            <p:cNvPr id="199" name="Isosceles Triangle 198"/>
            <p:cNvSpPr/>
            <p:nvPr/>
          </p:nvSpPr>
          <p:spPr>
            <a:xfrm rot="5400000">
              <a:off x="1357290" y="1071546"/>
              <a:ext cx="142876" cy="142876"/>
            </a:xfrm>
            <a:prstGeom prst="triangle">
              <a:avLst/>
            </a:prstGeom>
            <a:solidFill>
              <a:schemeClr val="tx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1" name="Straight Connector 200"/>
            <p:cNvCxnSpPr/>
            <p:nvPr/>
          </p:nvCxnSpPr>
          <p:spPr>
            <a:xfrm rot="5400000">
              <a:off x="1429522" y="1142984"/>
              <a:ext cx="142876" cy="1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2" name="Isosceles Triangle 201"/>
          <p:cNvSpPr/>
          <p:nvPr/>
        </p:nvSpPr>
        <p:spPr>
          <a:xfrm rot="16200000">
            <a:off x="785786" y="1071546"/>
            <a:ext cx="142876" cy="142876"/>
          </a:xfrm>
          <a:prstGeom prst="triangle">
            <a:avLst/>
          </a:prstGeom>
          <a:solidFill>
            <a:schemeClr val="tx1"/>
          </a:solidFill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2" name="Group 211"/>
          <p:cNvGrpSpPr/>
          <p:nvPr/>
        </p:nvGrpSpPr>
        <p:grpSpPr>
          <a:xfrm>
            <a:off x="461870" y="1062402"/>
            <a:ext cx="181040" cy="152020"/>
            <a:chOff x="461870" y="1062402"/>
            <a:chExt cx="181040" cy="152020"/>
          </a:xfrm>
        </p:grpSpPr>
        <p:sp>
          <p:nvSpPr>
            <p:cNvPr id="206" name="Isosceles Triangle 205"/>
            <p:cNvSpPr/>
            <p:nvPr/>
          </p:nvSpPr>
          <p:spPr>
            <a:xfrm rot="16200000">
              <a:off x="500034" y="1071546"/>
              <a:ext cx="142876" cy="142876"/>
            </a:xfrm>
            <a:prstGeom prst="triangle">
              <a:avLst/>
            </a:prstGeom>
            <a:solidFill>
              <a:schemeClr val="tx1"/>
            </a:solidFill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9" name="Straight Connector 208"/>
            <p:cNvCxnSpPr/>
            <p:nvPr/>
          </p:nvCxnSpPr>
          <p:spPr>
            <a:xfrm rot="5400000">
              <a:off x="391226" y="1133046"/>
              <a:ext cx="142876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3" name="TextBox 212"/>
          <p:cNvSpPr txBox="1"/>
          <p:nvPr/>
        </p:nvSpPr>
        <p:spPr>
          <a:xfrm>
            <a:off x="1071538" y="1000109"/>
            <a:ext cx="28575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1</a:t>
            </a:r>
            <a:endParaRPr lang="en-US" sz="1000" dirty="0"/>
          </a:p>
        </p:txBody>
      </p:sp>
      <p:sp>
        <p:nvSpPr>
          <p:cNvPr id="214" name="TextBox 213"/>
          <p:cNvSpPr txBox="1"/>
          <p:nvPr/>
        </p:nvSpPr>
        <p:spPr>
          <a:xfrm>
            <a:off x="2000232" y="1000108"/>
            <a:ext cx="100013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总许：</a:t>
            </a:r>
            <a:r>
              <a:rPr lang="en-US" altLang="zh-CN" sz="1200" dirty="0" smtClean="0"/>
              <a:t>100</a:t>
            </a:r>
            <a:endParaRPr lang="en-US" sz="1200" dirty="0" smtClean="0"/>
          </a:p>
          <a:p>
            <a:endParaRPr lang="en-US" sz="1200" dirty="0"/>
          </a:p>
        </p:txBody>
      </p:sp>
      <p:sp>
        <p:nvSpPr>
          <p:cNvPr id="215" name="Rounded Rectangle 214"/>
          <p:cNvSpPr/>
          <p:nvPr/>
        </p:nvSpPr>
        <p:spPr>
          <a:xfrm>
            <a:off x="2928926" y="1000108"/>
            <a:ext cx="571504" cy="214314"/>
          </a:xfrm>
          <a:prstGeom prst="round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插入</a:t>
            </a:r>
            <a:endParaRPr lang="en-US" sz="1200" dirty="0"/>
          </a:p>
        </p:txBody>
      </p:sp>
      <p:sp>
        <p:nvSpPr>
          <p:cNvPr id="216" name="Rounded Rectangle 215"/>
          <p:cNvSpPr/>
          <p:nvPr/>
        </p:nvSpPr>
        <p:spPr>
          <a:xfrm>
            <a:off x="3500430" y="1000108"/>
            <a:ext cx="571504" cy="214314"/>
          </a:xfrm>
          <a:prstGeom prst="round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保存</a:t>
            </a:r>
            <a:endParaRPr lang="en-US" sz="1200" dirty="0"/>
          </a:p>
        </p:txBody>
      </p:sp>
      <p:sp>
        <p:nvSpPr>
          <p:cNvPr id="217" name="Rounded Rectangle 216"/>
          <p:cNvSpPr/>
          <p:nvPr/>
        </p:nvSpPr>
        <p:spPr>
          <a:xfrm>
            <a:off x="4071934" y="1000108"/>
            <a:ext cx="571504" cy="214314"/>
          </a:xfrm>
          <a:prstGeom prst="round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删除</a:t>
            </a:r>
            <a:endParaRPr lang="en-US" sz="1200" dirty="0"/>
          </a:p>
        </p:txBody>
      </p:sp>
      <p:sp>
        <p:nvSpPr>
          <p:cNvPr id="218" name="Rounded Rectangle 217"/>
          <p:cNvSpPr/>
          <p:nvPr/>
        </p:nvSpPr>
        <p:spPr>
          <a:xfrm>
            <a:off x="4643438" y="1000108"/>
            <a:ext cx="571504" cy="214314"/>
          </a:xfrm>
          <a:prstGeom prst="round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排序</a:t>
            </a:r>
            <a:endParaRPr lang="en-US" sz="1200" dirty="0"/>
          </a:p>
        </p:txBody>
      </p:sp>
      <p:sp>
        <p:nvSpPr>
          <p:cNvPr id="219" name="Rectangle 218"/>
          <p:cNvSpPr/>
          <p:nvPr/>
        </p:nvSpPr>
        <p:spPr>
          <a:xfrm>
            <a:off x="285720" y="714356"/>
            <a:ext cx="1500198" cy="179452"/>
          </a:xfrm>
          <a:prstGeom prst="rect">
            <a:avLst/>
          </a:prstGeom>
          <a:solidFill>
            <a:schemeClr val="bg1">
              <a:lumMod val="6500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dirty="0" smtClean="0">
                <a:solidFill>
                  <a:schemeClr val="tx1"/>
                </a:solidFill>
              </a:rPr>
              <a:t>进口报关单（一般贸易</a:t>
            </a:r>
            <a:r>
              <a:rPr lang="zh-CN" altLang="en-US" sz="1000" dirty="0" smtClean="0">
                <a:solidFill>
                  <a:schemeClr val="tx1"/>
                </a:solidFill>
              </a:rPr>
              <a:t>）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20" name="Rectangle 219"/>
          <p:cNvSpPr/>
          <p:nvPr/>
        </p:nvSpPr>
        <p:spPr>
          <a:xfrm>
            <a:off x="1785918" y="714356"/>
            <a:ext cx="1500198" cy="179452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dirty="0" smtClean="0">
                <a:solidFill>
                  <a:schemeClr val="tx1"/>
                </a:solidFill>
              </a:rPr>
              <a:t>出</a:t>
            </a:r>
            <a:r>
              <a:rPr lang="zh-CN" altLang="en-US" sz="1000" dirty="0" smtClean="0">
                <a:solidFill>
                  <a:schemeClr val="tx1"/>
                </a:solidFill>
              </a:rPr>
              <a:t>口</a:t>
            </a:r>
            <a:r>
              <a:rPr lang="zh-CN" altLang="en-US" sz="1000" dirty="0" smtClean="0">
                <a:solidFill>
                  <a:schemeClr val="tx1"/>
                </a:solidFill>
              </a:rPr>
              <a:t>报关单（一般贸易</a:t>
            </a:r>
            <a:r>
              <a:rPr lang="zh-CN" altLang="en-US" sz="1000" dirty="0" smtClean="0">
                <a:solidFill>
                  <a:schemeClr val="tx1"/>
                </a:solidFill>
              </a:rPr>
              <a:t>）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24" name="Rectangle 223"/>
          <p:cNvSpPr/>
          <p:nvPr/>
        </p:nvSpPr>
        <p:spPr>
          <a:xfrm>
            <a:off x="3286116" y="714356"/>
            <a:ext cx="1285884" cy="179452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dirty="0" smtClean="0">
                <a:solidFill>
                  <a:schemeClr val="tx1"/>
                </a:solidFill>
              </a:rPr>
              <a:t>进</a:t>
            </a:r>
            <a:r>
              <a:rPr lang="zh-CN" altLang="en-US" sz="1000" dirty="0" smtClean="0">
                <a:solidFill>
                  <a:schemeClr val="tx1"/>
                </a:solidFill>
              </a:rPr>
              <a:t>口</a:t>
            </a:r>
            <a:r>
              <a:rPr lang="zh-CN" altLang="en-US" sz="1000" dirty="0" smtClean="0">
                <a:solidFill>
                  <a:schemeClr val="tx1"/>
                </a:solidFill>
              </a:rPr>
              <a:t>报关单</a:t>
            </a:r>
            <a:r>
              <a:rPr lang="zh-CN" altLang="en-US" sz="1000" dirty="0" smtClean="0">
                <a:solidFill>
                  <a:schemeClr val="tx1"/>
                </a:solidFill>
              </a:rPr>
              <a:t>（保税）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25" name="Rectangle 224"/>
          <p:cNvSpPr/>
          <p:nvPr/>
        </p:nvSpPr>
        <p:spPr>
          <a:xfrm>
            <a:off x="4572000" y="714356"/>
            <a:ext cx="1285884" cy="179452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dirty="0" smtClean="0">
                <a:solidFill>
                  <a:schemeClr val="tx1"/>
                </a:solidFill>
              </a:rPr>
              <a:t>出口</a:t>
            </a:r>
            <a:r>
              <a:rPr lang="zh-CN" altLang="en-US" sz="1000" dirty="0" smtClean="0">
                <a:solidFill>
                  <a:schemeClr val="tx1"/>
                </a:solidFill>
              </a:rPr>
              <a:t>报关单</a:t>
            </a:r>
            <a:r>
              <a:rPr lang="zh-CN" altLang="en-US" sz="1000" dirty="0" smtClean="0">
                <a:solidFill>
                  <a:schemeClr val="tx1"/>
                </a:solidFill>
              </a:rPr>
              <a:t>（保税）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26" name="Rectangle 225"/>
          <p:cNvSpPr/>
          <p:nvPr/>
        </p:nvSpPr>
        <p:spPr>
          <a:xfrm>
            <a:off x="5857884" y="714356"/>
            <a:ext cx="1285884" cy="179452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dirty="0" smtClean="0">
                <a:solidFill>
                  <a:schemeClr val="tx1"/>
                </a:solidFill>
              </a:rPr>
              <a:t>进</a:t>
            </a:r>
            <a:r>
              <a:rPr lang="zh-CN" altLang="en-US" sz="1000" dirty="0" smtClean="0">
                <a:solidFill>
                  <a:schemeClr val="tx1"/>
                </a:solidFill>
              </a:rPr>
              <a:t>口</a:t>
            </a:r>
            <a:r>
              <a:rPr lang="zh-CN" altLang="en-US" sz="1000" dirty="0" smtClean="0">
                <a:solidFill>
                  <a:schemeClr val="tx1"/>
                </a:solidFill>
              </a:rPr>
              <a:t>报关单</a:t>
            </a:r>
            <a:r>
              <a:rPr lang="zh-CN" altLang="en-US" sz="1000" dirty="0" smtClean="0">
                <a:solidFill>
                  <a:schemeClr val="tx1"/>
                </a:solidFill>
              </a:rPr>
              <a:t>（</a:t>
            </a:r>
            <a:r>
              <a:rPr lang="zh-CN" altLang="en-US" sz="1000" dirty="0" smtClean="0">
                <a:solidFill>
                  <a:schemeClr val="tx1"/>
                </a:solidFill>
              </a:rPr>
              <a:t>手册</a:t>
            </a:r>
            <a:r>
              <a:rPr lang="zh-CN" altLang="en-US" sz="1000" dirty="0" smtClean="0">
                <a:solidFill>
                  <a:schemeClr val="tx1"/>
                </a:solidFill>
              </a:rPr>
              <a:t>）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27" name="Rectangle 226"/>
          <p:cNvSpPr/>
          <p:nvPr/>
        </p:nvSpPr>
        <p:spPr>
          <a:xfrm>
            <a:off x="7143768" y="714356"/>
            <a:ext cx="1285884" cy="179452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dirty="0" smtClean="0">
                <a:solidFill>
                  <a:schemeClr val="tx1"/>
                </a:solidFill>
              </a:rPr>
              <a:t>出口</a:t>
            </a:r>
            <a:r>
              <a:rPr lang="zh-CN" altLang="en-US" sz="1000" dirty="0" smtClean="0">
                <a:solidFill>
                  <a:schemeClr val="tx1"/>
                </a:solidFill>
              </a:rPr>
              <a:t>报关单</a:t>
            </a:r>
            <a:r>
              <a:rPr lang="zh-CN" altLang="en-US" sz="1000" dirty="0" smtClean="0">
                <a:solidFill>
                  <a:schemeClr val="tx1"/>
                </a:solidFill>
              </a:rPr>
              <a:t>（手册）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28" name="Rounded Rectangle 227"/>
          <p:cNvSpPr/>
          <p:nvPr/>
        </p:nvSpPr>
        <p:spPr>
          <a:xfrm>
            <a:off x="5214942" y="1000108"/>
            <a:ext cx="571504" cy="214314"/>
          </a:xfrm>
          <a:prstGeom prst="round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打印</a:t>
            </a:r>
            <a:endParaRPr lang="en-US" sz="1200" dirty="0"/>
          </a:p>
        </p:txBody>
      </p:sp>
      <p:sp>
        <p:nvSpPr>
          <p:cNvPr id="229" name="TextBox 228"/>
          <p:cNvSpPr txBox="1"/>
          <p:nvPr/>
        </p:nvSpPr>
        <p:spPr>
          <a:xfrm>
            <a:off x="7286644" y="1595754"/>
            <a:ext cx="1928826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100" u="sng" dirty="0" smtClean="0"/>
              <a:t>编</a:t>
            </a:r>
            <a:r>
              <a:rPr lang="zh-CN" altLang="en-US" sz="1100" u="sng" dirty="0" smtClean="0"/>
              <a:t>号</a:t>
            </a:r>
            <a:r>
              <a:rPr lang="en-US" altLang="zh-CN" sz="1100" u="sng" dirty="0" smtClean="0"/>
              <a:t>(</a:t>
            </a:r>
            <a:r>
              <a:rPr lang="zh-CN" altLang="en-US" sz="1100" u="sng" dirty="0" smtClean="0"/>
              <a:t>报关单</a:t>
            </a:r>
            <a:r>
              <a:rPr lang="en-US" altLang="zh-CN" sz="1100" u="sng" dirty="0" smtClean="0"/>
              <a:t>)</a:t>
            </a:r>
            <a:r>
              <a:rPr lang="zh-CN" altLang="en-US" sz="1100" u="sng" dirty="0" smtClean="0"/>
              <a:t> </a:t>
            </a:r>
            <a:r>
              <a:rPr lang="zh-CN" altLang="en-US" sz="1100" u="sng" dirty="0" smtClean="0"/>
              <a:t>：</a:t>
            </a:r>
            <a:r>
              <a:rPr lang="en-US" altLang="zh-CN" sz="1100" u="sng" dirty="0" smtClean="0"/>
              <a:t>12345678</a:t>
            </a:r>
            <a:r>
              <a:rPr lang="zh-CN" altLang="en-US" sz="1100" u="sng" dirty="0" smtClean="0"/>
              <a:t> </a:t>
            </a:r>
            <a:endParaRPr lang="en-US" sz="1100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142876" y="142876"/>
            <a:ext cx="8858280" cy="6572272"/>
          </a:xfrm>
          <a:prstGeom prst="roundRect">
            <a:avLst>
              <a:gd name="adj" fmla="val 2336"/>
            </a:avLst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41275">
            <a:solidFill>
              <a:schemeClr val="dk1">
                <a:alpha val="11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85720" y="285728"/>
            <a:ext cx="8643998" cy="3571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57158" y="325259"/>
            <a:ext cx="78581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 smtClean="0"/>
              <a:t>基础信息</a:t>
            </a:r>
            <a:endParaRPr lang="en-US" sz="1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214414" y="325259"/>
            <a:ext cx="92869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 smtClean="0"/>
              <a:t>报关</a:t>
            </a:r>
            <a:r>
              <a:rPr lang="zh-CN" altLang="en-US" sz="1000" b="1" dirty="0" smtClean="0"/>
              <a:t>单</a:t>
            </a:r>
            <a:endParaRPr lang="en-US" sz="10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214546" y="325259"/>
            <a:ext cx="92869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 smtClean="0"/>
              <a:t>打印</a:t>
            </a:r>
            <a:endParaRPr lang="en-US" sz="1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3214678" y="325259"/>
            <a:ext cx="92869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/>
              <a:t>分析</a:t>
            </a:r>
            <a:endParaRPr lang="en-US" sz="1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4214810" y="325259"/>
            <a:ext cx="92869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b="1" dirty="0" smtClean="0"/>
              <a:t>系</a:t>
            </a:r>
            <a:r>
              <a:rPr lang="zh-CN" altLang="en-US" sz="1000" b="1" dirty="0" smtClean="0"/>
              <a:t>统</a:t>
            </a:r>
            <a:endParaRPr lang="en-US" sz="1000" b="1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285720" y="928670"/>
            <a:ext cx="8572560" cy="1588"/>
          </a:xfrm>
          <a:prstGeom prst="line">
            <a:avLst/>
          </a:prstGeom>
          <a:ln w="15875" cmpd="sng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/>
          <p:cNvCxnSpPr/>
          <p:nvPr/>
        </p:nvCxnSpPr>
        <p:spPr>
          <a:xfrm>
            <a:off x="285720" y="1285860"/>
            <a:ext cx="8572560" cy="1588"/>
          </a:xfrm>
          <a:prstGeom prst="line">
            <a:avLst/>
          </a:prstGeom>
          <a:ln w="15875" cmpd="sng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Isosceles Triangle 196"/>
          <p:cNvSpPr/>
          <p:nvPr/>
        </p:nvSpPr>
        <p:spPr>
          <a:xfrm rot="5400000">
            <a:off x="1498578" y="1062402"/>
            <a:ext cx="142876" cy="142876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206"/>
          <p:cNvGrpSpPr/>
          <p:nvPr/>
        </p:nvGrpSpPr>
        <p:grpSpPr>
          <a:xfrm>
            <a:off x="1784330" y="1062402"/>
            <a:ext cx="144464" cy="143670"/>
            <a:chOff x="1357290" y="1071546"/>
            <a:chExt cx="144464" cy="143670"/>
          </a:xfrm>
        </p:grpSpPr>
        <p:sp>
          <p:nvSpPr>
            <p:cNvPr id="199" name="Isosceles Triangle 198"/>
            <p:cNvSpPr/>
            <p:nvPr/>
          </p:nvSpPr>
          <p:spPr>
            <a:xfrm rot="5400000">
              <a:off x="1357290" y="1071546"/>
              <a:ext cx="142876" cy="142876"/>
            </a:xfrm>
            <a:prstGeom prst="triangle">
              <a:avLst/>
            </a:prstGeom>
            <a:solidFill>
              <a:schemeClr val="tx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1" name="Straight Connector 200"/>
            <p:cNvCxnSpPr/>
            <p:nvPr/>
          </p:nvCxnSpPr>
          <p:spPr>
            <a:xfrm rot="5400000">
              <a:off x="1429522" y="1142984"/>
              <a:ext cx="142876" cy="1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2" name="Isosceles Triangle 201"/>
          <p:cNvSpPr/>
          <p:nvPr/>
        </p:nvSpPr>
        <p:spPr>
          <a:xfrm rot="16200000">
            <a:off x="785786" y="1071546"/>
            <a:ext cx="142876" cy="142876"/>
          </a:xfrm>
          <a:prstGeom prst="triangle">
            <a:avLst/>
          </a:prstGeom>
          <a:solidFill>
            <a:schemeClr val="tx1"/>
          </a:solidFill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11"/>
          <p:cNvGrpSpPr/>
          <p:nvPr/>
        </p:nvGrpSpPr>
        <p:grpSpPr>
          <a:xfrm>
            <a:off x="461870" y="1062402"/>
            <a:ext cx="181040" cy="152020"/>
            <a:chOff x="461870" y="1062402"/>
            <a:chExt cx="181040" cy="152020"/>
          </a:xfrm>
        </p:grpSpPr>
        <p:sp>
          <p:nvSpPr>
            <p:cNvPr id="206" name="Isosceles Triangle 205"/>
            <p:cNvSpPr/>
            <p:nvPr/>
          </p:nvSpPr>
          <p:spPr>
            <a:xfrm rot="16200000">
              <a:off x="500034" y="1071546"/>
              <a:ext cx="142876" cy="142876"/>
            </a:xfrm>
            <a:prstGeom prst="triangle">
              <a:avLst/>
            </a:prstGeom>
            <a:solidFill>
              <a:schemeClr val="tx1"/>
            </a:solidFill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9" name="Straight Connector 208"/>
            <p:cNvCxnSpPr/>
            <p:nvPr/>
          </p:nvCxnSpPr>
          <p:spPr>
            <a:xfrm rot="5400000">
              <a:off x="391226" y="1133046"/>
              <a:ext cx="142876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3" name="TextBox 212"/>
          <p:cNvSpPr txBox="1"/>
          <p:nvPr/>
        </p:nvSpPr>
        <p:spPr>
          <a:xfrm>
            <a:off x="1071538" y="1000109"/>
            <a:ext cx="28575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1</a:t>
            </a:r>
            <a:endParaRPr lang="en-US" sz="1000" dirty="0"/>
          </a:p>
        </p:txBody>
      </p:sp>
      <p:sp>
        <p:nvSpPr>
          <p:cNvPr id="214" name="TextBox 213"/>
          <p:cNvSpPr txBox="1"/>
          <p:nvPr/>
        </p:nvSpPr>
        <p:spPr>
          <a:xfrm>
            <a:off x="2000232" y="1000108"/>
            <a:ext cx="100013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总许：</a:t>
            </a:r>
            <a:r>
              <a:rPr lang="en-US" altLang="zh-CN" sz="1200" dirty="0" smtClean="0"/>
              <a:t>100</a:t>
            </a:r>
            <a:endParaRPr lang="en-US" sz="1200" dirty="0" smtClean="0"/>
          </a:p>
          <a:p>
            <a:endParaRPr lang="en-US" sz="1200" dirty="0"/>
          </a:p>
        </p:txBody>
      </p:sp>
      <p:sp>
        <p:nvSpPr>
          <p:cNvPr id="215" name="Rounded Rectangle 214"/>
          <p:cNvSpPr/>
          <p:nvPr/>
        </p:nvSpPr>
        <p:spPr>
          <a:xfrm>
            <a:off x="2928926" y="1000108"/>
            <a:ext cx="571504" cy="214314"/>
          </a:xfrm>
          <a:prstGeom prst="round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插入</a:t>
            </a:r>
            <a:endParaRPr lang="en-US" sz="1200" dirty="0"/>
          </a:p>
        </p:txBody>
      </p:sp>
      <p:sp>
        <p:nvSpPr>
          <p:cNvPr id="216" name="Rounded Rectangle 215"/>
          <p:cNvSpPr/>
          <p:nvPr/>
        </p:nvSpPr>
        <p:spPr>
          <a:xfrm>
            <a:off x="3500430" y="1000108"/>
            <a:ext cx="571504" cy="214314"/>
          </a:xfrm>
          <a:prstGeom prst="round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保存</a:t>
            </a:r>
            <a:endParaRPr lang="en-US" sz="1200" dirty="0"/>
          </a:p>
        </p:txBody>
      </p:sp>
      <p:sp>
        <p:nvSpPr>
          <p:cNvPr id="217" name="Rounded Rectangle 216"/>
          <p:cNvSpPr/>
          <p:nvPr/>
        </p:nvSpPr>
        <p:spPr>
          <a:xfrm>
            <a:off x="4071934" y="1000108"/>
            <a:ext cx="571504" cy="214314"/>
          </a:xfrm>
          <a:prstGeom prst="round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删除</a:t>
            </a:r>
            <a:endParaRPr lang="en-US" sz="1200" dirty="0"/>
          </a:p>
        </p:txBody>
      </p:sp>
      <p:sp>
        <p:nvSpPr>
          <p:cNvPr id="218" name="Rounded Rectangle 217"/>
          <p:cNvSpPr/>
          <p:nvPr/>
        </p:nvSpPr>
        <p:spPr>
          <a:xfrm>
            <a:off x="4643438" y="1000108"/>
            <a:ext cx="571504" cy="214314"/>
          </a:xfrm>
          <a:prstGeom prst="round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排序</a:t>
            </a:r>
            <a:endParaRPr lang="en-US" sz="1200" dirty="0"/>
          </a:p>
        </p:txBody>
      </p:sp>
      <p:sp>
        <p:nvSpPr>
          <p:cNvPr id="219" name="Rectangle 218"/>
          <p:cNvSpPr/>
          <p:nvPr/>
        </p:nvSpPr>
        <p:spPr>
          <a:xfrm>
            <a:off x="285720" y="714356"/>
            <a:ext cx="1500198" cy="179452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dirty="0" smtClean="0">
                <a:solidFill>
                  <a:schemeClr val="tx1"/>
                </a:solidFill>
              </a:rPr>
              <a:t>进口报关单（一般贸易</a:t>
            </a:r>
            <a:r>
              <a:rPr lang="zh-CN" altLang="en-US" sz="1000" dirty="0" smtClean="0">
                <a:solidFill>
                  <a:schemeClr val="tx1"/>
                </a:solidFill>
              </a:rPr>
              <a:t>）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20" name="Rectangle 219"/>
          <p:cNvSpPr/>
          <p:nvPr/>
        </p:nvSpPr>
        <p:spPr>
          <a:xfrm>
            <a:off x="1785918" y="714356"/>
            <a:ext cx="1500198" cy="179452"/>
          </a:xfrm>
          <a:prstGeom prst="rect">
            <a:avLst/>
          </a:prstGeom>
          <a:solidFill>
            <a:schemeClr val="bg1">
              <a:lumMod val="6500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dirty="0" smtClean="0">
                <a:solidFill>
                  <a:schemeClr val="tx1"/>
                </a:solidFill>
              </a:rPr>
              <a:t>出</a:t>
            </a:r>
            <a:r>
              <a:rPr lang="zh-CN" altLang="en-US" sz="1000" dirty="0" smtClean="0">
                <a:solidFill>
                  <a:schemeClr val="tx1"/>
                </a:solidFill>
              </a:rPr>
              <a:t>口</a:t>
            </a:r>
            <a:r>
              <a:rPr lang="zh-CN" altLang="en-US" sz="1000" dirty="0" smtClean="0">
                <a:solidFill>
                  <a:schemeClr val="tx1"/>
                </a:solidFill>
              </a:rPr>
              <a:t>报关单（一般贸易</a:t>
            </a:r>
            <a:r>
              <a:rPr lang="zh-CN" altLang="en-US" sz="1000" dirty="0" smtClean="0">
                <a:solidFill>
                  <a:schemeClr val="tx1"/>
                </a:solidFill>
              </a:rPr>
              <a:t>）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24" name="Rectangle 223"/>
          <p:cNvSpPr/>
          <p:nvPr/>
        </p:nvSpPr>
        <p:spPr>
          <a:xfrm>
            <a:off x="3286116" y="714356"/>
            <a:ext cx="1285884" cy="179452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dirty="0" smtClean="0">
                <a:solidFill>
                  <a:schemeClr val="tx1"/>
                </a:solidFill>
              </a:rPr>
              <a:t>进</a:t>
            </a:r>
            <a:r>
              <a:rPr lang="zh-CN" altLang="en-US" sz="1000" dirty="0" smtClean="0">
                <a:solidFill>
                  <a:schemeClr val="tx1"/>
                </a:solidFill>
              </a:rPr>
              <a:t>口</a:t>
            </a:r>
            <a:r>
              <a:rPr lang="zh-CN" altLang="en-US" sz="1000" dirty="0" smtClean="0">
                <a:solidFill>
                  <a:schemeClr val="tx1"/>
                </a:solidFill>
              </a:rPr>
              <a:t>报关单</a:t>
            </a:r>
            <a:r>
              <a:rPr lang="zh-CN" altLang="en-US" sz="1000" dirty="0" smtClean="0">
                <a:solidFill>
                  <a:schemeClr val="tx1"/>
                </a:solidFill>
              </a:rPr>
              <a:t>（保税）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25" name="Rectangle 224"/>
          <p:cNvSpPr/>
          <p:nvPr/>
        </p:nvSpPr>
        <p:spPr>
          <a:xfrm>
            <a:off x="4572000" y="714356"/>
            <a:ext cx="1285884" cy="179452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dirty="0" smtClean="0">
                <a:solidFill>
                  <a:schemeClr val="tx1"/>
                </a:solidFill>
              </a:rPr>
              <a:t>出口</a:t>
            </a:r>
            <a:r>
              <a:rPr lang="zh-CN" altLang="en-US" sz="1000" dirty="0" smtClean="0">
                <a:solidFill>
                  <a:schemeClr val="tx1"/>
                </a:solidFill>
              </a:rPr>
              <a:t>报关单</a:t>
            </a:r>
            <a:r>
              <a:rPr lang="zh-CN" altLang="en-US" sz="1000" dirty="0" smtClean="0">
                <a:solidFill>
                  <a:schemeClr val="tx1"/>
                </a:solidFill>
              </a:rPr>
              <a:t>（保税）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26" name="Rectangle 225"/>
          <p:cNvSpPr/>
          <p:nvPr/>
        </p:nvSpPr>
        <p:spPr>
          <a:xfrm>
            <a:off x="5857884" y="714356"/>
            <a:ext cx="1285884" cy="179452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dirty="0" smtClean="0">
                <a:solidFill>
                  <a:schemeClr val="tx1"/>
                </a:solidFill>
              </a:rPr>
              <a:t>进</a:t>
            </a:r>
            <a:r>
              <a:rPr lang="zh-CN" altLang="en-US" sz="1000" dirty="0" smtClean="0">
                <a:solidFill>
                  <a:schemeClr val="tx1"/>
                </a:solidFill>
              </a:rPr>
              <a:t>口</a:t>
            </a:r>
            <a:r>
              <a:rPr lang="zh-CN" altLang="en-US" sz="1000" dirty="0" smtClean="0">
                <a:solidFill>
                  <a:schemeClr val="tx1"/>
                </a:solidFill>
              </a:rPr>
              <a:t>报关单</a:t>
            </a:r>
            <a:r>
              <a:rPr lang="zh-CN" altLang="en-US" sz="1000" dirty="0" smtClean="0">
                <a:solidFill>
                  <a:schemeClr val="tx1"/>
                </a:solidFill>
              </a:rPr>
              <a:t>（</a:t>
            </a:r>
            <a:r>
              <a:rPr lang="zh-CN" altLang="en-US" sz="1000" dirty="0" smtClean="0">
                <a:solidFill>
                  <a:schemeClr val="tx1"/>
                </a:solidFill>
              </a:rPr>
              <a:t>手册</a:t>
            </a:r>
            <a:r>
              <a:rPr lang="zh-CN" altLang="en-US" sz="1000" dirty="0" smtClean="0">
                <a:solidFill>
                  <a:schemeClr val="tx1"/>
                </a:solidFill>
              </a:rPr>
              <a:t>）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27" name="Rectangle 226"/>
          <p:cNvSpPr/>
          <p:nvPr/>
        </p:nvSpPr>
        <p:spPr>
          <a:xfrm>
            <a:off x="7143768" y="714356"/>
            <a:ext cx="1285884" cy="179452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dirty="0" smtClean="0">
                <a:solidFill>
                  <a:schemeClr val="tx1"/>
                </a:solidFill>
              </a:rPr>
              <a:t>出口</a:t>
            </a:r>
            <a:r>
              <a:rPr lang="zh-CN" altLang="en-US" sz="1000" dirty="0" smtClean="0">
                <a:solidFill>
                  <a:schemeClr val="tx1"/>
                </a:solidFill>
              </a:rPr>
              <a:t>报关单</a:t>
            </a:r>
            <a:r>
              <a:rPr lang="zh-CN" altLang="en-US" sz="1000" dirty="0" smtClean="0">
                <a:solidFill>
                  <a:schemeClr val="tx1"/>
                </a:solidFill>
              </a:rPr>
              <a:t>（手册）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28" name="Rounded Rectangle 227"/>
          <p:cNvSpPr/>
          <p:nvPr/>
        </p:nvSpPr>
        <p:spPr>
          <a:xfrm>
            <a:off x="5214942" y="1000108"/>
            <a:ext cx="571504" cy="214314"/>
          </a:xfrm>
          <a:prstGeom prst="roundRect">
            <a:avLst/>
          </a:prstGeom>
          <a:ln w="158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/>
              <a:t>打印</a:t>
            </a:r>
            <a:endParaRPr lang="en-US" sz="1200" dirty="0"/>
          </a:p>
        </p:txBody>
      </p:sp>
      <p:sp>
        <p:nvSpPr>
          <p:cNvPr id="198" name="TextBox 197"/>
          <p:cNvSpPr txBox="1"/>
          <p:nvPr/>
        </p:nvSpPr>
        <p:spPr>
          <a:xfrm>
            <a:off x="214282" y="1938938"/>
            <a:ext cx="857256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预录</a:t>
            </a:r>
            <a:r>
              <a:rPr lang="zh-CN" altLang="en-US" sz="1000" dirty="0" smtClean="0"/>
              <a:t>入编号</a:t>
            </a:r>
            <a:endParaRPr lang="en-US" sz="1000" dirty="0"/>
          </a:p>
        </p:txBody>
      </p:sp>
      <p:sp>
        <p:nvSpPr>
          <p:cNvPr id="200" name="TextBox 199"/>
          <p:cNvSpPr txBox="1"/>
          <p:nvPr/>
        </p:nvSpPr>
        <p:spPr>
          <a:xfrm>
            <a:off x="1071538" y="1938937"/>
            <a:ext cx="585791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03" name="TextBox 202"/>
          <p:cNvSpPr txBox="1"/>
          <p:nvPr/>
        </p:nvSpPr>
        <p:spPr>
          <a:xfrm>
            <a:off x="214282" y="2181896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海关编号</a:t>
            </a:r>
            <a:endParaRPr lang="en-US" sz="1000" dirty="0"/>
          </a:p>
        </p:txBody>
      </p:sp>
      <p:sp>
        <p:nvSpPr>
          <p:cNvPr id="204" name="TextBox 203"/>
          <p:cNvSpPr txBox="1"/>
          <p:nvPr/>
        </p:nvSpPr>
        <p:spPr>
          <a:xfrm>
            <a:off x="928662" y="2181897"/>
            <a:ext cx="242889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05" name="TextBox 204"/>
          <p:cNvSpPr txBox="1"/>
          <p:nvPr/>
        </p:nvSpPr>
        <p:spPr>
          <a:xfrm>
            <a:off x="3357554" y="2181895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出</a:t>
            </a:r>
            <a:r>
              <a:rPr lang="zh-CN" altLang="en-US" sz="1000" dirty="0" smtClean="0"/>
              <a:t>口口岸</a:t>
            </a:r>
            <a:endParaRPr lang="en-US" sz="1000" dirty="0"/>
          </a:p>
        </p:txBody>
      </p:sp>
      <p:sp>
        <p:nvSpPr>
          <p:cNvPr id="207" name="TextBox 206"/>
          <p:cNvSpPr txBox="1"/>
          <p:nvPr/>
        </p:nvSpPr>
        <p:spPr>
          <a:xfrm>
            <a:off x="4071934" y="2181897"/>
            <a:ext cx="285752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08" name="TextBox 207"/>
          <p:cNvSpPr txBox="1"/>
          <p:nvPr/>
        </p:nvSpPr>
        <p:spPr>
          <a:xfrm>
            <a:off x="214282" y="2428117"/>
            <a:ext cx="714380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备案号</a:t>
            </a:r>
            <a:r>
              <a:rPr lang="en-US" altLang="zh-CN" sz="1000" dirty="0" smtClean="0"/>
              <a:t>	</a:t>
            </a:r>
            <a:endParaRPr lang="en-US" sz="1000" dirty="0"/>
          </a:p>
        </p:txBody>
      </p:sp>
      <p:sp>
        <p:nvSpPr>
          <p:cNvPr id="210" name="TextBox 209"/>
          <p:cNvSpPr txBox="1"/>
          <p:nvPr/>
        </p:nvSpPr>
        <p:spPr>
          <a:xfrm>
            <a:off x="928662" y="2428118"/>
            <a:ext cx="242889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11" name="TextBox 210"/>
          <p:cNvSpPr txBox="1"/>
          <p:nvPr/>
        </p:nvSpPr>
        <p:spPr>
          <a:xfrm>
            <a:off x="3357554" y="2428116"/>
            <a:ext cx="928694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合同协议号</a:t>
            </a:r>
            <a:endParaRPr lang="en-US" sz="1000" dirty="0"/>
          </a:p>
        </p:txBody>
      </p:sp>
      <p:sp>
        <p:nvSpPr>
          <p:cNvPr id="212" name="TextBox 211"/>
          <p:cNvSpPr txBox="1"/>
          <p:nvPr/>
        </p:nvSpPr>
        <p:spPr>
          <a:xfrm>
            <a:off x="4286248" y="2428118"/>
            <a:ext cx="264320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21" name="TextBox 220"/>
          <p:cNvSpPr txBox="1"/>
          <p:nvPr/>
        </p:nvSpPr>
        <p:spPr>
          <a:xfrm>
            <a:off x="214282" y="2642431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出</a:t>
            </a:r>
            <a:r>
              <a:rPr lang="zh-CN" altLang="en-US" sz="1000" dirty="0" smtClean="0"/>
              <a:t>口日期</a:t>
            </a:r>
            <a:endParaRPr lang="en-US" sz="1000" dirty="0"/>
          </a:p>
        </p:txBody>
      </p:sp>
      <p:sp>
        <p:nvSpPr>
          <p:cNvPr id="222" name="TextBox 221"/>
          <p:cNvSpPr txBox="1"/>
          <p:nvPr/>
        </p:nvSpPr>
        <p:spPr>
          <a:xfrm>
            <a:off x="928662" y="2642432"/>
            <a:ext cx="242889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23" name="TextBox 222"/>
          <p:cNvSpPr txBox="1"/>
          <p:nvPr/>
        </p:nvSpPr>
        <p:spPr>
          <a:xfrm>
            <a:off x="3357554" y="2642430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申报日期</a:t>
            </a:r>
            <a:endParaRPr lang="en-US" sz="1000" dirty="0"/>
          </a:p>
        </p:txBody>
      </p:sp>
      <p:sp>
        <p:nvSpPr>
          <p:cNvPr id="229" name="TextBox 228"/>
          <p:cNvSpPr txBox="1"/>
          <p:nvPr/>
        </p:nvSpPr>
        <p:spPr>
          <a:xfrm>
            <a:off x="4071934" y="2642432"/>
            <a:ext cx="285752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30" name="TextBox 229"/>
          <p:cNvSpPr txBox="1"/>
          <p:nvPr/>
        </p:nvSpPr>
        <p:spPr>
          <a:xfrm>
            <a:off x="214282" y="2867632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经营单位</a:t>
            </a:r>
            <a:endParaRPr lang="en-US" sz="1000" dirty="0"/>
          </a:p>
        </p:txBody>
      </p:sp>
      <p:sp>
        <p:nvSpPr>
          <p:cNvPr id="231" name="TextBox 230"/>
          <p:cNvSpPr txBox="1"/>
          <p:nvPr/>
        </p:nvSpPr>
        <p:spPr>
          <a:xfrm>
            <a:off x="928662" y="2867633"/>
            <a:ext cx="3143272" cy="2462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32" name="TextBox 231"/>
          <p:cNvSpPr txBox="1"/>
          <p:nvPr/>
        </p:nvSpPr>
        <p:spPr>
          <a:xfrm>
            <a:off x="4071934" y="2867632"/>
            <a:ext cx="1000132" cy="24622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运输方式</a:t>
            </a:r>
            <a:endParaRPr lang="en-US" sz="1000" dirty="0"/>
          </a:p>
        </p:txBody>
      </p:sp>
      <p:sp>
        <p:nvSpPr>
          <p:cNvPr id="233" name="TextBox 232"/>
          <p:cNvSpPr txBox="1"/>
          <p:nvPr/>
        </p:nvSpPr>
        <p:spPr>
          <a:xfrm>
            <a:off x="5072066" y="2867632"/>
            <a:ext cx="1857388" cy="2462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34" name="TextBox 233"/>
          <p:cNvSpPr txBox="1"/>
          <p:nvPr/>
        </p:nvSpPr>
        <p:spPr>
          <a:xfrm>
            <a:off x="214282" y="3109840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发</a:t>
            </a:r>
            <a:r>
              <a:rPr lang="zh-CN" altLang="en-US" sz="1000" dirty="0" smtClean="0"/>
              <a:t>货单位</a:t>
            </a:r>
            <a:endParaRPr lang="en-US" sz="1000" dirty="0"/>
          </a:p>
        </p:txBody>
      </p:sp>
      <p:sp>
        <p:nvSpPr>
          <p:cNvPr id="235" name="TextBox 234"/>
          <p:cNvSpPr txBox="1"/>
          <p:nvPr/>
        </p:nvSpPr>
        <p:spPr>
          <a:xfrm>
            <a:off x="928662" y="3109841"/>
            <a:ext cx="3143272" cy="2462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36" name="TextBox 235"/>
          <p:cNvSpPr txBox="1"/>
          <p:nvPr/>
        </p:nvSpPr>
        <p:spPr>
          <a:xfrm>
            <a:off x="4071934" y="3109839"/>
            <a:ext cx="1000132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运输工具名称</a:t>
            </a:r>
            <a:endParaRPr lang="en-US" sz="1000" dirty="0"/>
          </a:p>
        </p:txBody>
      </p:sp>
      <p:sp>
        <p:nvSpPr>
          <p:cNvPr id="237" name="TextBox 236"/>
          <p:cNvSpPr txBox="1"/>
          <p:nvPr/>
        </p:nvSpPr>
        <p:spPr>
          <a:xfrm>
            <a:off x="5072066" y="3109840"/>
            <a:ext cx="185738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38" name="TextBox 237"/>
          <p:cNvSpPr txBox="1"/>
          <p:nvPr/>
        </p:nvSpPr>
        <p:spPr>
          <a:xfrm>
            <a:off x="214282" y="3356812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申报单位</a:t>
            </a:r>
            <a:endParaRPr lang="en-US" sz="1000" dirty="0"/>
          </a:p>
        </p:txBody>
      </p:sp>
      <p:sp>
        <p:nvSpPr>
          <p:cNvPr id="239" name="TextBox 238"/>
          <p:cNvSpPr txBox="1"/>
          <p:nvPr/>
        </p:nvSpPr>
        <p:spPr>
          <a:xfrm>
            <a:off x="928662" y="3356813"/>
            <a:ext cx="3143272" cy="2462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40" name="TextBox 239"/>
          <p:cNvSpPr txBox="1"/>
          <p:nvPr/>
        </p:nvSpPr>
        <p:spPr>
          <a:xfrm>
            <a:off x="4071934" y="3356812"/>
            <a:ext cx="642942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航次号</a:t>
            </a:r>
            <a:endParaRPr lang="en-US" sz="1000" dirty="0"/>
          </a:p>
        </p:txBody>
      </p:sp>
      <p:sp>
        <p:nvSpPr>
          <p:cNvPr id="241" name="TextBox 240"/>
          <p:cNvSpPr txBox="1"/>
          <p:nvPr/>
        </p:nvSpPr>
        <p:spPr>
          <a:xfrm>
            <a:off x="4714876" y="3356813"/>
            <a:ext cx="221457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42" name="TextBox 241"/>
          <p:cNvSpPr txBox="1"/>
          <p:nvPr/>
        </p:nvSpPr>
        <p:spPr>
          <a:xfrm>
            <a:off x="214282" y="3599769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提</a:t>
            </a:r>
            <a:r>
              <a:rPr lang="zh-CN" altLang="en-US" sz="1000" dirty="0" smtClean="0"/>
              <a:t>运单号</a:t>
            </a:r>
            <a:endParaRPr lang="en-US" sz="1000" dirty="0"/>
          </a:p>
        </p:txBody>
      </p:sp>
      <p:sp>
        <p:nvSpPr>
          <p:cNvPr id="243" name="TextBox 242"/>
          <p:cNvSpPr txBox="1"/>
          <p:nvPr/>
        </p:nvSpPr>
        <p:spPr>
          <a:xfrm>
            <a:off x="928662" y="3599770"/>
            <a:ext cx="114300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44" name="TextBox 243"/>
          <p:cNvSpPr txBox="1"/>
          <p:nvPr/>
        </p:nvSpPr>
        <p:spPr>
          <a:xfrm>
            <a:off x="2071670" y="3599770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贸易方式</a:t>
            </a:r>
            <a:endParaRPr lang="en-US" sz="1000" dirty="0"/>
          </a:p>
        </p:txBody>
      </p:sp>
      <p:sp>
        <p:nvSpPr>
          <p:cNvPr id="245" name="TextBox 244"/>
          <p:cNvSpPr txBox="1"/>
          <p:nvPr/>
        </p:nvSpPr>
        <p:spPr>
          <a:xfrm>
            <a:off x="2786050" y="3599771"/>
            <a:ext cx="100013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46" name="TextBox 245"/>
          <p:cNvSpPr txBox="1"/>
          <p:nvPr/>
        </p:nvSpPr>
        <p:spPr>
          <a:xfrm>
            <a:off x="3786182" y="3599771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征免性质</a:t>
            </a:r>
            <a:endParaRPr lang="en-US" sz="1000" dirty="0"/>
          </a:p>
        </p:txBody>
      </p:sp>
      <p:sp>
        <p:nvSpPr>
          <p:cNvPr id="247" name="TextBox 246"/>
          <p:cNvSpPr txBox="1"/>
          <p:nvPr/>
        </p:nvSpPr>
        <p:spPr>
          <a:xfrm>
            <a:off x="4500562" y="3599020"/>
            <a:ext cx="100013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48" name="TextBox 247"/>
          <p:cNvSpPr txBox="1"/>
          <p:nvPr/>
        </p:nvSpPr>
        <p:spPr>
          <a:xfrm>
            <a:off x="5500694" y="3599020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结汇方式</a:t>
            </a:r>
            <a:endParaRPr lang="en-US" sz="1000" dirty="0"/>
          </a:p>
        </p:txBody>
      </p:sp>
      <p:sp>
        <p:nvSpPr>
          <p:cNvPr id="249" name="TextBox 248"/>
          <p:cNvSpPr txBox="1"/>
          <p:nvPr/>
        </p:nvSpPr>
        <p:spPr>
          <a:xfrm>
            <a:off x="6215074" y="3599771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50" name="TextBox 249"/>
          <p:cNvSpPr txBox="1"/>
          <p:nvPr/>
        </p:nvSpPr>
        <p:spPr>
          <a:xfrm>
            <a:off x="214282" y="3835856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纳税单位</a:t>
            </a:r>
            <a:endParaRPr lang="en-US" sz="1000" dirty="0"/>
          </a:p>
        </p:txBody>
      </p:sp>
      <p:sp>
        <p:nvSpPr>
          <p:cNvPr id="251" name="TextBox 250"/>
          <p:cNvSpPr txBox="1"/>
          <p:nvPr/>
        </p:nvSpPr>
        <p:spPr>
          <a:xfrm>
            <a:off x="928662" y="3835857"/>
            <a:ext cx="114300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52" name="TextBox 251"/>
          <p:cNvSpPr txBox="1"/>
          <p:nvPr/>
        </p:nvSpPr>
        <p:spPr>
          <a:xfrm>
            <a:off x="2071670" y="3835856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许可证号</a:t>
            </a:r>
            <a:endParaRPr lang="en-US" sz="1000" dirty="0"/>
          </a:p>
        </p:txBody>
      </p:sp>
      <p:sp>
        <p:nvSpPr>
          <p:cNvPr id="253" name="TextBox 252"/>
          <p:cNvSpPr txBox="1"/>
          <p:nvPr/>
        </p:nvSpPr>
        <p:spPr>
          <a:xfrm>
            <a:off x="2786050" y="3835857"/>
            <a:ext cx="414340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54" name="TextBox 253"/>
          <p:cNvSpPr txBox="1"/>
          <p:nvPr/>
        </p:nvSpPr>
        <p:spPr>
          <a:xfrm>
            <a:off x="214282" y="4082079"/>
            <a:ext cx="107157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运抵国</a:t>
            </a:r>
            <a:r>
              <a:rPr lang="en-US" altLang="zh-CN" sz="1000" dirty="0" smtClean="0"/>
              <a:t>(</a:t>
            </a:r>
            <a:r>
              <a:rPr lang="zh-CN" altLang="en-US" sz="1000" dirty="0" smtClean="0"/>
              <a:t>地区</a:t>
            </a:r>
            <a:r>
              <a:rPr lang="en-US" altLang="zh-CN" sz="1000" dirty="0" smtClean="0"/>
              <a:t>)</a:t>
            </a:r>
            <a:endParaRPr lang="en-US" sz="1000" dirty="0"/>
          </a:p>
        </p:txBody>
      </p:sp>
      <p:sp>
        <p:nvSpPr>
          <p:cNvPr id="255" name="TextBox 254"/>
          <p:cNvSpPr txBox="1"/>
          <p:nvPr/>
        </p:nvSpPr>
        <p:spPr>
          <a:xfrm>
            <a:off x="1285852" y="4082079"/>
            <a:ext cx="114300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56" name="TextBox 255"/>
          <p:cNvSpPr txBox="1"/>
          <p:nvPr/>
        </p:nvSpPr>
        <p:spPr>
          <a:xfrm>
            <a:off x="2428860" y="4082078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指运港</a:t>
            </a:r>
            <a:endParaRPr lang="en-US" sz="1000" dirty="0"/>
          </a:p>
        </p:txBody>
      </p:sp>
      <p:sp>
        <p:nvSpPr>
          <p:cNvPr id="257" name="TextBox 256"/>
          <p:cNvSpPr txBox="1"/>
          <p:nvPr/>
        </p:nvSpPr>
        <p:spPr>
          <a:xfrm>
            <a:off x="3143240" y="4082079"/>
            <a:ext cx="171451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58" name="TextBox 257"/>
          <p:cNvSpPr txBox="1"/>
          <p:nvPr/>
        </p:nvSpPr>
        <p:spPr>
          <a:xfrm>
            <a:off x="4857752" y="4082078"/>
            <a:ext cx="928694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境内货源地</a:t>
            </a:r>
            <a:endParaRPr lang="en-US" sz="1000" dirty="0"/>
          </a:p>
        </p:txBody>
      </p:sp>
      <p:sp>
        <p:nvSpPr>
          <p:cNvPr id="259" name="TextBox 258"/>
          <p:cNvSpPr txBox="1"/>
          <p:nvPr/>
        </p:nvSpPr>
        <p:spPr>
          <a:xfrm>
            <a:off x="5786446" y="4082079"/>
            <a:ext cx="114300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60" name="TextBox 259"/>
          <p:cNvSpPr txBox="1"/>
          <p:nvPr/>
        </p:nvSpPr>
        <p:spPr>
          <a:xfrm>
            <a:off x="214282" y="4324285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批准文号</a:t>
            </a:r>
            <a:endParaRPr lang="en-US" sz="1000" dirty="0"/>
          </a:p>
        </p:txBody>
      </p:sp>
      <p:sp>
        <p:nvSpPr>
          <p:cNvPr id="261" name="TextBox 260"/>
          <p:cNvSpPr txBox="1"/>
          <p:nvPr/>
        </p:nvSpPr>
        <p:spPr>
          <a:xfrm>
            <a:off x="928662" y="4324286"/>
            <a:ext cx="3929090" cy="246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62" name="TextBox 261"/>
          <p:cNvSpPr txBox="1"/>
          <p:nvPr/>
        </p:nvSpPr>
        <p:spPr>
          <a:xfrm>
            <a:off x="4857752" y="4324285"/>
            <a:ext cx="928694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成</a:t>
            </a:r>
            <a:r>
              <a:rPr lang="zh-CN" altLang="en-US" sz="1000" dirty="0" smtClean="0"/>
              <a:t>交放肆</a:t>
            </a:r>
            <a:endParaRPr lang="en-US" sz="1000" dirty="0"/>
          </a:p>
        </p:txBody>
      </p:sp>
      <p:sp>
        <p:nvSpPr>
          <p:cNvPr id="263" name="TextBox 262"/>
          <p:cNvSpPr txBox="1"/>
          <p:nvPr/>
        </p:nvSpPr>
        <p:spPr>
          <a:xfrm>
            <a:off x="5786446" y="4324286"/>
            <a:ext cx="114300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64" name="TextBox 263"/>
          <p:cNvSpPr txBox="1"/>
          <p:nvPr/>
        </p:nvSpPr>
        <p:spPr>
          <a:xfrm>
            <a:off x="214282" y="4571259"/>
            <a:ext cx="571504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运费</a:t>
            </a:r>
            <a:endParaRPr lang="en-US" sz="1000" dirty="0"/>
          </a:p>
        </p:txBody>
      </p:sp>
      <p:sp>
        <p:nvSpPr>
          <p:cNvPr id="265" name="TextBox 264"/>
          <p:cNvSpPr txBox="1"/>
          <p:nvPr/>
        </p:nvSpPr>
        <p:spPr>
          <a:xfrm>
            <a:off x="785786" y="4571259"/>
            <a:ext cx="42862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66" name="TextBox 265"/>
          <p:cNvSpPr txBox="1"/>
          <p:nvPr/>
        </p:nvSpPr>
        <p:spPr>
          <a:xfrm>
            <a:off x="1214414" y="4571259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67" name="TextBox 266"/>
          <p:cNvSpPr txBox="1"/>
          <p:nvPr/>
        </p:nvSpPr>
        <p:spPr>
          <a:xfrm>
            <a:off x="2071670" y="4571258"/>
            <a:ext cx="42862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68" name="TextBox 267"/>
          <p:cNvSpPr txBox="1"/>
          <p:nvPr/>
        </p:nvSpPr>
        <p:spPr>
          <a:xfrm>
            <a:off x="2500298" y="4571258"/>
            <a:ext cx="571504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保费</a:t>
            </a:r>
            <a:endParaRPr lang="en-US" sz="1000" dirty="0"/>
          </a:p>
        </p:txBody>
      </p:sp>
      <p:sp>
        <p:nvSpPr>
          <p:cNvPr id="269" name="TextBox 268"/>
          <p:cNvSpPr txBox="1"/>
          <p:nvPr/>
        </p:nvSpPr>
        <p:spPr>
          <a:xfrm>
            <a:off x="3071802" y="4571258"/>
            <a:ext cx="42862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70" name="TextBox 269"/>
          <p:cNvSpPr txBox="1"/>
          <p:nvPr/>
        </p:nvSpPr>
        <p:spPr>
          <a:xfrm>
            <a:off x="3500430" y="4571258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71" name="TextBox 270"/>
          <p:cNvSpPr txBox="1"/>
          <p:nvPr/>
        </p:nvSpPr>
        <p:spPr>
          <a:xfrm>
            <a:off x="4357686" y="4571257"/>
            <a:ext cx="42862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72" name="TextBox 271"/>
          <p:cNvSpPr txBox="1"/>
          <p:nvPr/>
        </p:nvSpPr>
        <p:spPr>
          <a:xfrm>
            <a:off x="4786314" y="4571258"/>
            <a:ext cx="571504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杂费</a:t>
            </a:r>
            <a:endParaRPr lang="en-US" sz="1000" dirty="0"/>
          </a:p>
        </p:txBody>
      </p:sp>
      <p:sp>
        <p:nvSpPr>
          <p:cNvPr id="273" name="TextBox 272"/>
          <p:cNvSpPr txBox="1"/>
          <p:nvPr/>
        </p:nvSpPr>
        <p:spPr>
          <a:xfrm>
            <a:off x="5357818" y="4571258"/>
            <a:ext cx="42862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74" name="TextBox 273"/>
          <p:cNvSpPr txBox="1"/>
          <p:nvPr/>
        </p:nvSpPr>
        <p:spPr>
          <a:xfrm>
            <a:off x="5786446" y="4571258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75" name="TextBox 274"/>
          <p:cNvSpPr txBox="1"/>
          <p:nvPr/>
        </p:nvSpPr>
        <p:spPr>
          <a:xfrm>
            <a:off x="6643702" y="4571257"/>
            <a:ext cx="28575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76" name="TextBox 275"/>
          <p:cNvSpPr txBox="1"/>
          <p:nvPr/>
        </p:nvSpPr>
        <p:spPr>
          <a:xfrm>
            <a:off x="214282" y="4814216"/>
            <a:ext cx="571504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件数</a:t>
            </a:r>
            <a:endParaRPr lang="en-US" sz="1000" dirty="0"/>
          </a:p>
        </p:txBody>
      </p:sp>
      <p:sp>
        <p:nvSpPr>
          <p:cNvPr id="277" name="TextBox 276"/>
          <p:cNvSpPr txBox="1"/>
          <p:nvPr/>
        </p:nvSpPr>
        <p:spPr>
          <a:xfrm>
            <a:off x="785786" y="4814216"/>
            <a:ext cx="785818" cy="246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78" name="TextBox 277"/>
          <p:cNvSpPr txBox="1"/>
          <p:nvPr/>
        </p:nvSpPr>
        <p:spPr>
          <a:xfrm>
            <a:off x="1571604" y="4813466"/>
            <a:ext cx="785818" cy="2469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包装种类</a:t>
            </a:r>
            <a:endParaRPr lang="en-US" sz="1000" dirty="0"/>
          </a:p>
        </p:txBody>
      </p:sp>
      <p:sp>
        <p:nvSpPr>
          <p:cNvPr id="279" name="TextBox 278"/>
          <p:cNvSpPr txBox="1"/>
          <p:nvPr/>
        </p:nvSpPr>
        <p:spPr>
          <a:xfrm>
            <a:off x="2357422" y="4814967"/>
            <a:ext cx="114300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80" name="TextBox 279"/>
          <p:cNvSpPr txBox="1"/>
          <p:nvPr/>
        </p:nvSpPr>
        <p:spPr>
          <a:xfrm>
            <a:off x="3500430" y="4813466"/>
            <a:ext cx="785818" cy="2469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毛重</a:t>
            </a:r>
            <a:r>
              <a:rPr lang="en-US" altLang="zh-CN" sz="1000" dirty="0" smtClean="0"/>
              <a:t>(KG)</a:t>
            </a:r>
            <a:endParaRPr lang="en-US" sz="1000" dirty="0"/>
          </a:p>
        </p:txBody>
      </p:sp>
      <p:sp>
        <p:nvSpPr>
          <p:cNvPr id="281" name="TextBox 280"/>
          <p:cNvSpPr txBox="1"/>
          <p:nvPr/>
        </p:nvSpPr>
        <p:spPr>
          <a:xfrm>
            <a:off x="4286248" y="4813466"/>
            <a:ext cx="928694" cy="246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82" name="TextBox 281"/>
          <p:cNvSpPr txBox="1"/>
          <p:nvPr/>
        </p:nvSpPr>
        <p:spPr>
          <a:xfrm>
            <a:off x="5214942" y="4813466"/>
            <a:ext cx="785818" cy="2469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净</a:t>
            </a:r>
            <a:r>
              <a:rPr lang="zh-CN" altLang="en-US" sz="1000" dirty="0" smtClean="0"/>
              <a:t>重</a:t>
            </a:r>
            <a:r>
              <a:rPr lang="en-US" altLang="zh-CN" sz="1000" dirty="0" smtClean="0"/>
              <a:t>(KG)</a:t>
            </a:r>
            <a:endParaRPr lang="en-US" sz="1000" dirty="0"/>
          </a:p>
        </p:txBody>
      </p:sp>
      <p:sp>
        <p:nvSpPr>
          <p:cNvPr id="283" name="TextBox 282"/>
          <p:cNvSpPr txBox="1"/>
          <p:nvPr/>
        </p:nvSpPr>
        <p:spPr>
          <a:xfrm>
            <a:off x="6000760" y="4813466"/>
            <a:ext cx="928694" cy="246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84" name="TextBox 283"/>
          <p:cNvSpPr txBox="1"/>
          <p:nvPr/>
        </p:nvSpPr>
        <p:spPr>
          <a:xfrm>
            <a:off x="214282" y="5060438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集装箱号</a:t>
            </a:r>
            <a:endParaRPr lang="en-US" sz="1000" dirty="0"/>
          </a:p>
        </p:txBody>
      </p:sp>
      <p:sp>
        <p:nvSpPr>
          <p:cNvPr id="285" name="TextBox 284"/>
          <p:cNvSpPr txBox="1"/>
          <p:nvPr/>
        </p:nvSpPr>
        <p:spPr>
          <a:xfrm>
            <a:off x="928662" y="5060439"/>
            <a:ext cx="257176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86" name="TextBox 285"/>
          <p:cNvSpPr txBox="1"/>
          <p:nvPr/>
        </p:nvSpPr>
        <p:spPr>
          <a:xfrm>
            <a:off x="3500430" y="5060438"/>
            <a:ext cx="785818" cy="2469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随附单证</a:t>
            </a:r>
            <a:endParaRPr lang="en-US" sz="1000" dirty="0"/>
          </a:p>
        </p:txBody>
      </p:sp>
      <p:sp>
        <p:nvSpPr>
          <p:cNvPr id="287" name="TextBox 286"/>
          <p:cNvSpPr txBox="1"/>
          <p:nvPr/>
        </p:nvSpPr>
        <p:spPr>
          <a:xfrm>
            <a:off x="4286248" y="5060438"/>
            <a:ext cx="928694" cy="246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88" name="TextBox 287"/>
          <p:cNvSpPr txBox="1"/>
          <p:nvPr/>
        </p:nvSpPr>
        <p:spPr>
          <a:xfrm>
            <a:off x="5214942" y="5060438"/>
            <a:ext cx="785818" cy="2469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生产厂家</a:t>
            </a:r>
            <a:endParaRPr lang="en-US" sz="1000" dirty="0"/>
          </a:p>
        </p:txBody>
      </p:sp>
      <p:sp>
        <p:nvSpPr>
          <p:cNvPr id="289" name="TextBox 288"/>
          <p:cNvSpPr txBox="1"/>
          <p:nvPr/>
        </p:nvSpPr>
        <p:spPr>
          <a:xfrm>
            <a:off x="6000760" y="5060438"/>
            <a:ext cx="928694" cy="246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90" name="TextBox 289"/>
          <p:cNvSpPr txBox="1"/>
          <p:nvPr/>
        </p:nvSpPr>
        <p:spPr>
          <a:xfrm>
            <a:off x="214282" y="5304146"/>
            <a:ext cx="928694" cy="24622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报关单类型</a:t>
            </a:r>
            <a:endParaRPr lang="en-US" sz="1000" dirty="0"/>
          </a:p>
        </p:txBody>
      </p:sp>
      <p:sp>
        <p:nvSpPr>
          <p:cNvPr id="291" name="TextBox 290"/>
          <p:cNvSpPr txBox="1"/>
          <p:nvPr/>
        </p:nvSpPr>
        <p:spPr>
          <a:xfrm>
            <a:off x="1142976" y="5304147"/>
            <a:ext cx="200026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92" name="TextBox 291"/>
          <p:cNvSpPr txBox="1"/>
          <p:nvPr/>
        </p:nvSpPr>
        <p:spPr>
          <a:xfrm>
            <a:off x="3143240" y="5303396"/>
            <a:ext cx="785818" cy="2469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备          注</a:t>
            </a:r>
            <a:endParaRPr lang="en-US" sz="1000" dirty="0"/>
          </a:p>
        </p:txBody>
      </p:sp>
      <p:sp>
        <p:nvSpPr>
          <p:cNvPr id="293" name="TextBox 292"/>
          <p:cNvSpPr txBox="1"/>
          <p:nvPr/>
        </p:nvSpPr>
        <p:spPr>
          <a:xfrm>
            <a:off x="3929058" y="5303396"/>
            <a:ext cx="3000396" cy="246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94" name="TextBox 293"/>
          <p:cNvSpPr txBox="1"/>
          <p:nvPr/>
        </p:nvSpPr>
        <p:spPr>
          <a:xfrm>
            <a:off x="1643042" y="1385816"/>
            <a:ext cx="664373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中和人民共和国海关出口货物报关</a:t>
            </a:r>
            <a:r>
              <a:rPr lang="zh-CN" altLang="en-US" sz="2000" b="1" dirty="0" smtClean="0"/>
              <a:t>单（</a:t>
            </a:r>
            <a:r>
              <a:rPr lang="zh-CN" altLang="en-US" sz="2000" b="1" dirty="0" smtClean="0"/>
              <a:t>一般贸易）</a:t>
            </a:r>
            <a:endParaRPr lang="en-US" sz="2000" b="1" dirty="0"/>
          </a:p>
        </p:txBody>
      </p:sp>
      <p:sp>
        <p:nvSpPr>
          <p:cNvPr id="295" name="TextBox 294"/>
          <p:cNvSpPr txBox="1"/>
          <p:nvPr/>
        </p:nvSpPr>
        <p:spPr>
          <a:xfrm>
            <a:off x="7022664" y="1928802"/>
            <a:ext cx="835484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集装箱号</a:t>
            </a:r>
            <a:endParaRPr lang="en-US" sz="1000" dirty="0"/>
          </a:p>
        </p:txBody>
      </p:sp>
      <p:sp>
        <p:nvSpPr>
          <p:cNvPr id="296" name="TextBox 295"/>
          <p:cNvSpPr txBox="1"/>
          <p:nvPr/>
        </p:nvSpPr>
        <p:spPr>
          <a:xfrm>
            <a:off x="7858148" y="1928803"/>
            <a:ext cx="50006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规格</a:t>
            </a:r>
            <a:endParaRPr lang="en-US" sz="1000" dirty="0"/>
          </a:p>
        </p:txBody>
      </p:sp>
      <p:sp>
        <p:nvSpPr>
          <p:cNvPr id="297" name="TextBox 296"/>
          <p:cNvSpPr txBox="1"/>
          <p:nvPr/>
        </p:nvSpPr>
        <p:spPr>
          <a:xfrm>
            <a:off x="8358214" y="1928802"/>
            <a:ext cx="642942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自重</a:t>
            </a:r>
            <a:r>
              <a:rPr lang="en-US" altLang="zh-CN" sz="1000" dirty="0" smtClean="0"/>
              <a:t>(KG)</a:t>
            </a:r>
            <a:endParaRPr lang="en-US" sz="1000" dirty="0"/>
          </a:p>
        </p:txBody>
      </p:sp>
      <p:sp>
        <p:nvSpPr>
          <p:cNvPr id="298" name="TextBox 297"/>
          <p:cNvSpPr txBox="1"/>
          <p:nvPr/>
        </p:nvSpPr>
        <p:spPr>
          <a:xfrm>
            <a:off x="7022664" y="2182647"/>
            <a:ext cx="83548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99" name="TextBox 298"/>
          <p:cNvSpPr txBox="1"/>
          <p:nvPr/>
        </p:nvSpPr>
        <p:spPr>
          <a:xfrm>
            <a:off x="7858148" y="2182647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00" name="TextBox 299"/>
          <p:cNvSpPr txBox="1"/>
          <p:nvPr/>
        </p:nvSpPr>
        <p:spPr>
          <a:xfrm>
            <a:off x="8358214" y="2182647"/>
            <a:ext cx="64294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01" name="TextBox 300"/>
          <p:cNvSpPr txBox="1"/>
          <p:nvPr/>
        </p:nvSpPr>
        <p:spPr>
          <a:xfrm>
            <a:off x="7022664" y="2428868"/>
            <a:ext cx="83548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02" name="TextBox 301"/>
          <p:cNvSpPr txBox="1"/>
          <p:nvPr/>
        </p:nvSpPr>
        <p:spPr>
          <a:xfrm>
            <a:off x="7858148" y="2428868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03" name="TextBox 302"/>
          <p:cNvSpPr txBox="1"/>
          <p:nvPr/>
        </p:nvSpPr>
        <p:spPr>
          <a:xfrm>
            <a:off x="8358214" y="2428868"/>
            <a:ext cx="64294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04" name="TextBox 303"/>
          <p:cNvSpPr txBox="1"/>
          <p:nvPr/>
        </p:nvSpPr>
        <p:spPr>
          <a:xfrm>
            <a:off x="7022664" y="2671827"/>
            <a:ext cx="83548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05" name="TextBox 304"/>
          <p:cNvSpPr txBox="1"/>
          <p:nvPr/>
        </p:nvSpPr>
        <p:spPr>
          <a:xfrm>
            <a:off x="7858148" y="2671827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06" name="TextBox 305"/>
          <p:cNvSpPr txBox="1"/>
          <p:nvPr/>
        </p:nvSpPr>
        <p:spPr>
          <a:xfrm>
            <a:off x="8358214" y="2671827"/>
            <a:ext cx="64294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07" name="TextBox 306"/>
          <p:cNvSpPr txBox="1"/>
          <p:nvPr/>
        </p:nvSpPr>
        <p:spPr>
          <a:xfrm>
            <a:off x="7000892" y="2968465"/>
            <a:ext cx="1000132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境内目的地</a:t>
            </a:r>
            <a:endParaRPr lang="en-US" sz="1000" dirty="0"/>
          </a:p>
        </p:txBody>
      </p:sp>
      <p:sp>
        <p:nvSpPr>
          <p:cNvPr id="308" name="TextBox 307"/>
          <p:cNvSpPr txBox="1"/>
          <p:nvPr/>
        </p:nvSpPr>
        <p:spPr>
          <a:xfrm>
            <a:off x="8000992" y="2968465"/>
            <a:ext cx="100016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09" name="TextBox 308"/>
          <p:cNvSpPr txBox="1"/>
          <p:nvPr/>
        </p:nvSpPr>
        <p:spPr>
          <a:xfrm>
            <a:off x="7000892" y="3214686"/>
            <a:ext cx="1000132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境内目的地</a:t>
            </a:r>
            <a:endParaRPr lang="en-US" sz="1000" dirty="0"/>
          </a:p>
        </p:txBody>
      </p:sp>
      <p:sp>
        <p:nvSpPr>
          <p:cNvPr id="310" name="TextBox 309"/>
          <p:cNvSpPr txBox="1"/>
          <p:nvPr/>
        </p:nvSpPr>
        <p:spPr>
          <a:xfrm>
            <a:off x="8000992" y="3214686"/>
            <a:ext cx="100016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11" name="TextBox 310"/>
          <p:cNvSpPr txBox="1"/>
          <p:nvPr/>
        </p:nvSpPr>
        <p:spPr>
          <a:xfrm>
            <a:off x="7000892" y="3429000"/>
            <a:ext cx="1000132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境内目的地</a:t>
            </a:r>
            <a:endParaRPr lang="en-US" sz="1000" dirty="0"/>
          </a:p>
        </p:txBody>
      </p:sp>
      <p:sp>
        <p:nvSpPr>
          <p:cNvPr id="312" name="TextBox 311"/>
          <p:cNvSpPr txBox="1"/>
          <p:nvPr/>
        </p:nvSpPr>
        <p:spPr>
          <a:xfrm>
            <a:off x="8000992" y="3429000"/>
            <a:ext cx="100016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13" name="Rounded Rectangle 312"/>
          <p:cNvSpPr/>
          <p:nvPr/>
        </p:nvSpPr>
        <p:spPr>
          <a:xfrm>
            <a:off x="7000892" y="3714752"/>
            <a:ext cx="571504" cy="2143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/>
              <a:t>追加</a:t>
            </a:r>
            <a:endParaRPr lang="en-US" sz="1000" dirty="0"/>
          </a:p>
        </p:txBody>
      </p:sp>
      <p:sp>
        <p:nvSpPr>
          <p:cNvPr id="314" name="Rounded Rectangle 313"/>
          <p:cNvSpPr/>
          <p:nvPr/>
        </p:nvSpPr>
        <p:spPr>
          <a:xfrm>
            <a:off x="8429652" y="3714752"/>
            <a:ext cx="571504" cy="2143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/>
              <a:t>删除</a:t>
            </a:r>
            <a:endParaRPr lang="en-US" sz="1000" dirty="0"/>
          </a:p>
        </p:txBody>
      </p:sp>
      <p:sp>
        <p:nvSpPr>
          <p:cNvPr id="315" name="TextBox 314"/>
          <p:cNvSpPr txBox="1"/>
          <p:nvPr/>
        </p:nvSpPr>
        <p:spPr>
          <a:xfrm>
            <a:off x="7022664" y="4000504"/>
            <a:ext cx="478294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代码</a:t>
            </a:r>
            <a:endParaRPr lang="en-US" sz="1000" dirty="0"/>
          </a:p>
        </p:txBody>
      </p:sp>
      <p:sp>
        <p:nvSpPr>
          <p:cNvPr id="316" name="TextBox 315"/>
          <p:cNvSpPr txBox="1"/>
          <p:nvPr/>
        </p:nvSpPr>
        <p:spPr>
          <a:xfrm>
            <a:off x="7500958" y="4000504"/>
            <a:ext cx="1500198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随</a:t>
            </a:r>
            <a:r>
              <a:rPr lang="zh-CN" altLang="en-US" sz="1000" dirty="0" smtClean="0"/>
              <a:t>附单证编号</a:t>
            </a:r>
            <a:endParaRPr lang="en-US" sz="1000" dirty="0"/>
          </a:p>
        </p:txBody>
      </p:sp>
      <p:sp>
        <p:nvSpPr>
          <p:cNvPr id="317" name="TextBox 316"/>
          <p:cNvSpPr txBox="1"/>
          <p:nvPr/>
        </p:nvSpPr>
        <p:spPr>
          <a:xfrm>
            <a:off x="7022664" y="4254349"/>
            <a:ext cx="47829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18" name="TextBox 317"/>
          <p:cNvSpPr txBox="1"/>
          <p:nvPr/>
        </p:nvSpPr>
        <p:spPr>
          <a:xfrm>
            <a:off x="7500958" y="4254349"/>
            <a:ext cx="150019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19" name="TextBox 318"/>
          <p:cNvSpPr txBox="1"/>
          <p:nvPr/>
        </p:nvSpPr>
        <p:spPr>
          <a:xfrm>
            <a:off x="7022664" y="4500570"/>
            <a:ext cx="47829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20" name="TextBox 319"/>
          <p:cNvSpPr txBox="1"/>
          <p:nvPr/>
        </p:nvSpPr>
        <p:spPr>
          <a:xfrm>
            <a:off x="7500958" y="4500570"/>
            <a:ext cx="150019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21" name="TextBox 320"/>
          <p:cNvSpPr txBox="1"/>
          <p:nvPr/>
        </p:nvSpPr>
        <p:spPr>
          <a:xfrm>
            <a:off x="7000892" y="4786322"/>
            <a:ext cx="1000132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境内目的地</a:t>
            </a:r>
            <a:endParaRPr lang="en-US" sz="1000" dirty="0"/>
          </a:p>
        </p:txBody>
      </p:sp>
      <p:sp>
        <p:nvSpPr>
          <p:cNvPr id="322" name="TextBox 321"/>
          <p:cNvSpPr txBox="1"/>
          <p:nvPr/>
        </p:nvSpPr>
        <p:spPr>
          <a:xfrm>
            <a:off x="8000992" y="4786322"/>
            <a:ext cx="100016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23" name="TextBox 322"/>
          <p:cNvSpPr txBox="1"/>
          <p:nvPr/>
        </p:nvSpPr>
        <p:spPr>
          <a:xfrm>
            <a:off x="7000892" y="5032543"/>
            <a:ext cx="1000132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境内目的地</a:t>
            </a:r>
            <a:endParaRPr lang="en-US" sz="1000" dirty="0"/>
          </a:p>
        </p:txBody>
      </p:sp>
      <p:sp>
        <p:nvSpPr>
          <p:cNvPr id="324" name="TextBox 323"/>
          <p:cNvSpPr txBox="1"/>
          <p:nvPr/>
        </p:nvSpPr>
        <p:spPr>
          <a:xfrm>
            <a:off x="8000992" y="5032543"/>
            <a:ext cx="100016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25" name="TextBox 324"/>
          <p:cNvSpPr txBox="1"/>
          <p:nvPr/>
        </p:nvSpPr>
        <p:spPr>
          <a:xfrm>
            <a:off x="214282" y="5643578"/>
            <a:ext cx="714380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商</a:t>
            </a:r>
            <a:r>
              <a:rPr lang="zh-CN" altLang="en-US" sz="1000" dirty="0" smtClean="0"/>
              <a:t>品序号</a:t>
            </a:r>
            <a:endParaRPr lang="en-US" sz="1000" dirty="0"/>
          </a:p>
        </p:txBody>
      </p:sp>
      <p:sp>
        <p:nvSpPr>
          <p:cNvPr id="326" name="TextBox 325"/>
          <p:cNvSpPr txBox="1"/>
          <p:nvPr/>
        </p:nvSpPr>
        <p:spPr>
          <a:xfrm>
            <a:off x="928662" y="5643579"/>
            <a:ext cx="736152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商品编</a:t>
            </a:r>
            <a:r>
              <a:rPr lang="zh-CN" altLang="en-US" sz="1000" dirty="0" smtClean="0"/>
              <a:t>号</a:t>
            </a:r>
            <a:endParaRPr lang="en-US" sz="1000" dirty="0"/>
          </a:p>
        </p:txBody>
      </p:sp>
      <p:sp>
        <p:nvSpPr>
          <p:cNvPr id="327" name="TextBox 326"/>
          <p:cNvSpPr txBox="1"/>
          <p:nvPr/>
        </p:nvSpPr>
        <p:spPr>
          <a:xfrm>
            <a:off x="214282" y="5897423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28" name="TextBox 327"/>
          <p:cNvSpPr txBox="1"/>
          <p:nvPr/>
        </p:nvSpPr>
        <p:spPr>
          <a:xfrm>
            <a:off x="928662" y="5897423"/>
            <a:ext cx="73615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29" name="TextBox 328"/>
          <p:cNvSpPr txBox="1"/>
          <p:nvPr/>
        </p:nvSpPr>
        <p:spPr>
          <a:xfrm>
            <a:off x="214282" y="6143644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30" name="TextBox 329"/>
          <p:cNvSpPr txBox="1"/>
          <p:nvPr/>
        </p:nvSpPr>
        <p:spPr>
          <a:xfrm>
            <a:off x="928662" y="6143644"/>
            <a:ext cx="73615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31" name="TextBox 330"/>
          <p:cNvSpPr txBox="1"/>
          <p:nvPr/>
        </p:nvSpPr>
        <p:spPr>
          <a:xfrm>
            <a:off x="214282" y="6386603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32" name="TextBox 331"/>
          <p:cNvSpPr txBox="1"/>
          <p:nvPr/>
        </p:nvSpPr>
        <p:spPr>
          <a:xfrm>
            <a:off x="928662" y="6386603"/>
            <a:ext cx="73615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33" name="TextBox 332"/>
          <p:cNvSpPr txBox="1"/>
          <p:nvPr/>
        </p:nvSpPr>
        <p:spPr>
          <a:xfrm>
            <a:off x="1643042" y="5643577"/>
            <a:ext cx="714380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附加编号</a:t>
            </a:r>
            <a:endParaRPr lang="en-US" sz="1000" dirty="0"/>
          </a:p>
        </p:txBody>
      </p:sp>
      <p:sp>
        <p:nvSpPr>
          <p:cNvPr id="334" name="TextBox 333"/>
          <p:cNvSpPr txBox="1"/>
          <p:nvPr/>
        </p:nvSpPr>
        <p:spPr>
          <a:xfrm>
            <a:off x="1643042" y="5897422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35" name="TextBox 334"/>
          <p:cNvSpPr txBox="1"/>
          <p:nvPr/>
        </p:nvSpPr>
        <p:spPr>
          <a:xfrm>
            <a:off x="1643042" y="6143643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36" name="TextBox 335"/>
          <p:cNvSpPr txBox="1"/>
          <p:nvPr/>
        </p:nvSpPr>
        <p:spPr>
          <a:xfrm>
            <a:off x="1643042" y="6386602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37" name="TextBox 336"/>
          <p:cNvSpPr txBox="1"/>
          <p:nvPr/>
        </p:nvSpPr>
        <p:spPr>
          <a:xfrm>
            <a:off x="2357422" y="5643578"/>
            <a:ext cx="85725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商</a:t>
            </a:r>
            <a:r>
              <a:rPr lang="zh-CN" altLang="en-US" sz="1000" dirty="0" smtClean="0"/>
              <a:t>品名称</a:t>
            </a:r>
            <a:endParaRPr lang="en-US" sz="1000" dirty="0"/>
          </a:p>
        </p:txBody>
      </p:sp>
      <p:sp>
        <p:nvSpPr>
          <p:cNvPr id="338" name="TextBox 337"/>
          <p:cNvSpPr txBox="1"/>
          <p:nvPr/>
        </p:nvSpPr>
        <p:spPr>
          <a:xfrm>
            <a:off x="2357422" y="5897422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39" name="TextBox 338"/>
          <p:cNvSpPr txBox="1"/>
          <p:nvPr/>
        </p:nvSpPr>
        <p:spPr>
          <a:xfrm>
            <a:off x="2357422" y="6143643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40" name="TextBox 339"/>
          <p:cNvSpPr txBox="1"/>
          <p:nvPr/>
        </p:nvSpPr>
        <p:spPr>
          <a:xfrm>
            <a:off x="2357422" y="6386602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41" name="TextBox 340"/>
          <p:cNvSpPr txBox="1"/>
          <p:nvPr/>
        </p:nvSpPr>
        <p:spPr>
          <a:xfrm>
            <a:off x="3214678" y="5643578"/>
            <a:ext cx="785818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规格型号</a:t>
            </a:r>
            <a:endParaRPr lang="en-US" sz="1000" dirty="0"/>
          </a:p>
        </p:txBody>
      </p:sp>
      <p:sp>
        <p:nvSpPr>
          <p:cNvPr id="342" name="TextBox 341"/>
          <p:cNvSpPr txBox="1"/>
          <p:nvPr/>
        </p:nvSpPr>
        <p:spPr>
          <a:xfrm>
            <a:off x="3214678" y="5897422"/>
            <a:ext cx="78581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43" name="TextBox 342"/>
          <p:cNvSpPr txBox="1"/>
          <p:nvPr/>
        </p:nvSpPr>
        <p:spPr>
          <a:xfrm>
            <a:off x="3214678" y="6143643"/>
            <a:ext cx="78581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44" name="TextBox 343"/>
          <p:cNvSpPr txBox="1"/>
          <p:nvPr/>
        </p:nvSpPr>
        <p:spPr>
          <a:xfrm>
            <a:off x="3214678" y="6386602"/>
            <a:ext cx="78581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45" name="TextBox 344"/>
          <p:cNvSpPr txBox="1"/>
          <p:nvPr/>
        </p:nvSpPr>
        <p:spPr>
          <a:xfrm>
            <a:off x="4572000" y="5643577"/>
            <a:ext cx="50006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数量</a:t>
            </a:r>
            <a:endParaRPr lang="en-US" sz="1000" dirty="0"/>
          </a:p>
        </p:txBody>
      </p:sp>
      <p:sp>
        <p:nvSpPr>
          <p:cNvPr id="346" name="TextBox 345"/>
          <p:cNvSpPr txBox="1"/>
          <p:nvPr/>
        </p:nvSpPr>
        <p:spPr>
          <a:xfrm>
            <a:off x="4572000" y="5897422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47" name="TextBox 346"/>
          <p:cNvSpPr txBox="1"/>
          <p:nvPr/>
        </p:nvSpPr>
        <p:spPr>
          <a:xfrm>
            <a:off x="4572000" y="6143643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48" name="TextBox 347"/>
          <p:cNvSpPr txBox="1"/>
          <p:nvPr/>
        </p:nvSpPr>
        <p:spPr>
          <a:xfrm>
            <a:off x="4572000" y="6386602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49" name="TextBox 348"/>
          <p:cNvSpPr txBox="1"/>
          <p:nvPr/>
        </p:nvSpPr>
        <p:spPr>
          <a:xfrm>
            <a:off x="6572264" y="5643578"/>
            <a:ext cx="50006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币制</a:t>
            </a:r>
            <a:endParaRPr lang="en-US" sz="1000" dirty="0"/>
          </a:p>
        </p:txBody>
      </p:sp>
      <p:sp>
        <p:nvSpPr>
          <p:cNvPr id="350" name="TextBox 349"/>
          <p:cNvSpPr txBox="1"/>
          <p:nvPr/>
        </p:nvSpPr>
        <p:spPr>
          <a:xfrm>
            <a:off x="6572264" y="5897422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51" name="TextBox 350"/>
          <p:cNvSpPr txBox="1"/>
          <p:nvPr/>
        </p:nvSpPr>
        <p:spPr>
          <a:xfrm>
            <a:off x="6572264" y="6143643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52" name="TextBox 351"/>
          <p:cNvSpPr txBox="1"/>
          <p:nvPr/>
        </p:nvSpPr>
        <p:spPr>
          <a:xfrm>
            <a:off x="6572264" y="6386602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53" name="TextBox 352"/>
          <p:cNvSpPr txBox="1"/>
          <p:nvPr/>
        </p:nvSpPr>
        <p:spPr>
          <a:xfrm>
            <a:off x="7072330" y="5643577"/>
            <a:ext cx="85725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生产厂家</a:t>
            </a:r>
            <a:endParaRPr lang="en-US" sz="1000" dirty="0"/>
          </a:p>
        </p:txBody>
      </p:sp>
      <p:sp>
        <p:nvSpPr>
          <p:cNvPr id="354" name="TextBox 353"/>
          <p:cNvSpPr txBox="1"/>
          <p:nvPr/>
        </p:nvSpPr>
        <p:spPr>
          <a:xfrm>
            <a:off x="7072330" y="5897422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55" name="TextBox 354"/>
          <p:cNvSpPr txBox="1"/>
          <p:nvPr/>
        </p:nvSpPr>
        <p:spPr>
          <a:xfrm>
            <a:off x="7072330" y="6143643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56" name="TextBox 355"/>
          <p:cNvSpPr txBox="1"/>
          <p:nvPr/>
        </p:nvSpPr>
        <p:spPr>
          <a:xfrm>
            <a:off x="7072330" y="6386602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57" name="TextBox 356"/>
          <p:cNvSpPr txBox="1"/>
          <p:nvPr/>
        </p:nvSpPr>
        <p:spPr>
          <a:xfrm>
            <a:off x="5072066" y="5643578"/>
            <a:ext cx="50006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单位</a:t>
            </a:r>
            <a:endParaRPr lang="en-US" sz="1000" dirty="0"/>
          </a:p>
        </p:txBody>
      </p:sp>
      <p:sp>
        <p:nvSpPr>
          <p:cNvPr id="358" name="TextBox 357"/>
          <p:cNvSpPr txBox="1"/>
          <p:nvPr/>
        </p:nvSpPr>
        <p:spPr>
          <a:xfrm>
            <a:off x="5072066" y="5897423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59" name="TextBox 358"/>
          <p:cNvSpPr txBox="1"/>
          <p:nvPr/>
        </p:nvSpPr>
        <p:spPr>
          <a:xfrm>
            <a:off x="5072066" y="6143644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60" name="TextBox 359"/>
          <p:cNvSpPr txBox="1"/>
          <p:nvPr/>
        </p:nvSpPr>
        <p:spPr>
          <a:xfrm>
            <a:off x="5072066" y="6386603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61" name="TextBox 360"/>
          <p:cNvSpPr txBox="1"/>
          <p:nvPr/>
        </p:nvSpPr>
        <p:spPr>
          <a:xfrm>
            <a:off x="5572132" y="5643578"/>
            <a:ext cx="50006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单价</a:t>
            </a:r>
            <a:endParaRPr lang="en-US" sz="1000" dirty="0"/>
          </a:p>
        </p:txBody>
      </p:sp>
      <p:sp>
        <p:nvSpPr>
          <p:cNvPr id="362" name="TextBox 361"/>
          <p:cNvSpPr txBox="1"/>
          <p:nvPr/>
        </p:nvSpPr>
        <p:spPr>
          <a:xfrm>
            <a:off x="5572132" y="5897423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63" name="TextBox 362"/>
          <p:cNvSpPr txBox="1"/>
          <p:nvPr/>
        </p:nvSpPr>
        <p:spPr>
          <a:xfrm>
            <a:off x="5572132" y="6143644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64" name="TextBox 363"/>
          <p:cNvSpPr txBox="1"/>
          <p:nvPr/>
        </p:nvSpPr>
        <p:spPr>
          <a:xfrm>
            <a:off x="5572132" y="6386603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65" name="TextBox 364"/>
          <p:cNvSpPr txBox="1"/>
          <p:nvPr/>
        </p:nvSpPr>
        <p:spPr>
          <a:xfrm>
            <a:off x="6072198" y="5643578"/>
            <a:ext cx="50006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总价</a:t>
            </a:r>
            <a:endParaRPr lang="en-US" sz="1000" dirty="0"/>
          </a:p>
        </p:txBody>
      </p:sp>
      <p:sp>
        <p:nvSpPr>
          <p:cNvPr id="366" name="TextBox 365"/>
          <p:cNvSpPr txBox="1"/>
          <p:nvPr/>
        </p:nvSpPr>
        <p:spPr>
          <a:xfrm>
            <a:off x="6072198" y="5897423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67" name="TextBox 366"/>
          <p:cNvSpPr txBox="1"/>
          <p:nvPr/>
        </p:nvSpPr>
        <p:spPr>
          <a:xfrm>
            <a:off x="6072198" y="6143644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68" name="TextBox 367"/>
          <p:cNvSpPr txBox="1"/>
          <p:nvPr/>
        </p:nvSpPr>
        <p:spPr>
          <a:xfrm>
            <a:off x="6072198" y="6386603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69" name="TextBox 368"/>
          <p:cNvSpPr txBox="1"/>
          <p:nvPr/>
        </p:nvSpPr>
        <p:spPr>
          <a:xfrm>
            <a:off x="8501090" y="5643578"/>
            <a:ext cx="50006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征免</a:t>
            </a:r>
            <a:endParaRPr lang="en-US" sz="1000" dirty="0"/>
          </a:p>
        </p:txBody>
      </p:sp>
      <p:sp>
        <p:nvSpPr>
          <p:cNvPr id="370" name="TextBox 369"/>
          <p:cNvSpPr txBox="1"/>
          <p:nvPr/>
        </p:nvSpPr>
        <p:spPr>
          <a:xfrm>
            <a:off x="8501090" y="5897422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71" name="TextBox 370"/>
          <p:cNvSpPr txBox="1"/>
          <p:nvPr/>
        </p:nvSpPr>
        <p:spPr>
          <a:xfrm>
            <a:off x="8501090" y="6143643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72" name="TextBox 371"/>
          <p:cNvSpPr txBox="1"/>
          <p:nvPr/>
        </p:nvSpPr>
        <p:spPr>
          <a:xfrm>
            <a:off x="8501090" y="6386602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73" name="TextBox 372"/>
          <p:cNvSpPr txBox="1"/>
          <p:nvPr/>
        </p:nvSpPr>
        <p:spPr>
          <a:xfrm>
            <a:off x="7286644" y="1643050"/>
            <a:ext cx="1928826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100" u="sng" dirty="0" smtClean="0"/>
              <a:t>编</a:t>
            </a:r>
            <a:r>
              <a:rPr lang="zh-CN" altLang="en-US" sz="1100" u="sng" dirty="0" smtClean="0"/>
              <a:t>号</a:t>
            </a:r>
            <a:r>
              <a:rPr lang="en-US" altLang="zh-CN" sz="1100" u="sng" dirty="0" smtClean="0"/>
              <a:t>(</a:t>
            </a:r>
            <a:r>
              <a:rPr lang="zh-CN" altLang="en-US" sz="1100" u="sng" dirty="0" smtClean="0"/>
              <a:t>报关单</a:t>
            </a:r>
            <a:r>
              <a:rPr lang="en-US" altLang="zh-CN" sz="1100" u="sng" dirty="0" smtClean="0"/>
              <a:t>)</a:t>
            </a:r>
            <a:r>
              <a:rPr lang="zh-CN" altLang="en-US" sz="1100" u="sng" dirty="0" smtClean="0"/>
              <a:t> </a:t>
            </a:r>
            <a:r>
              <a:rPr lang="zh-CN" altLang="en-US" sz="1100" u="sng" dirty="0" smtClean="0"/>
              <a:t>：</a:t>
            </a:r>
            <a:r>
              <a:rPr lang="en-US" altLang="zh-CN" sz="1100" u="sng" dirty="0" smtClean="0"/>
              <a:t>12345678</a:t>
            </a:r>
            <a:r>
              <a:rPr lang="zh-CN" altLang="en-US" sz="1100" u="sng" dirty="0" smtClean="0"/>
              <a:t> </a:t>
            </a:r>
            <a:endParaRPr lang="en-US" sz="1100" u="sng" dirty="0"/>
          </a:p>
        </p:txBody>
      </p:sp>
      <p:sp>
        <p:nvSpPr>
          <p:cNvPr id="374" name="Rounded Rectangle 373"/>
          <p:cNvSpPr/>
          <p:nvPr/>
        </p:nvSpPr>
        <p:spPr>
          <a:xfrm>
            <a:off x="7715272" y="3714752"/>
            <a:ext cx="571504" cy="2143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编辑</a:t>
            </a:r>
            <a:endParaRPr lang="en-US" sz="1000" dirty="0"/>
          </a:p>
        </p:txBody>
      </p:sp>
      <p:sp>
        <p:nvSpPr>
          <p:cNvPr id="375" name="Rounded Rectangle 374"/>
          <p:cNvSpPr/>
          <p:nvPr/>
        </p:nvSpPr>
        <p:spPr>
          <a:xfrm>
            <a:off x="7000892" y="5357826"/>
            <a:ext cx="571504" cy="2143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/>
              <a:t>追加</a:t>
            </a:r>
            <a:endParaRPr lang="en-US" sz="1000" dirty="0"/>
          </a:p>
        </p:txBody>
      </p:sp>
      <p:sp>
        <p:nvSpPr>
          <p:cNvPr id="376" name="Rounded Rectangle 375"/>
          <p:cNvSpPr/>
          <p:nvPr/>
        </p:nvSpPr>
        <p:spPr>
          <a:xfrm>
            <a:off x="8429652" y="5357826"/>
            <a:ext cx="571504" cy="2143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/>
              <a:t>删除</a:t>
            </a:r>
            <a:endParaRPr lang="en-US" sz="1000" dirty="0"/>
          </a:p>
        </p:txBody>
      </p:sp>
      <p:sp>
        <p:nvSpPr>
          <p:cNvPr id="377" name="Rounded Rectangle 376"/>
          <p:cNvSpPr/>
          <p:nvPr/>
        </p:nvSpPr>
        <p:spPr>
          <a:xfrm>
            <a:off x="7715272" y="5357826"/>
            <a:ext cx="571504" cy="2143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编辑</a:t>
            </a:r>
            <a:endParaRPr lang="en-US" sz="1000" dirty="0"/>
          </a:p>
        </p:txBody>
      </p:sp>
      <p:sp>
        <p:nvSpPr>
          <p:cNvPr id="378" name="TextBox 377"/>
          <p:cNvSpPr txBox="1"/>
          <p:nvPr/>
        </p:nvSpPr>
        <p:spPr>
          <a:xfrm>
            <a:off x="4000496" y="5643578"/>
            <a:ext cx="571504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目的地</a:t>
            </a:r>
            <a:endParaRPr lang="en-US" sz="1000" dirty="0" smtClean="0"/>
          </a:p>
        </p:txBody>
      </p:sp>
      <p:sp>
        <p:nvSpPr>
          <p:cNvPr id="379" name="TextBox 378"/>
          <p:cNvSpPr txBox="1"/>
          <p:nvPr/>
        </p:nvSpPr>
        <p:spPr>
          <a:xfrm>
            <a:off x="4000496" y="5897422"/>
            <a:ext cx="57150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80" name="TextBox 379"/>
          <p:cNvSpPr txBox="1"/>
          <p:nvPr/>
        </p:nvSpPr>
        <p:spPr>
          <a:xfrm>
            <a:off x="4000496" y="6143643"/>
            <a:ext cx="57150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81" name="TextBox 380"/>
          <p:cNvSpPr txBox="1"/>
          <p:nvPr/>
        </p:nvSpPr>
        <p:spPr>
          <a:xfrm>
            <a:off x="4000496" y="6386602"/>
            <a:ext cx="57150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82" name="TextBox 381"/>
          <p:cNvSpPr txBox="1"/>
          <p:nvPr/>
        </p:nvSpPr>
        <p:spPr>
          <a:xfrm>
            <a:off x="7929586" y="5643578"/>
            <a:ext cx="571504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工缴费</a:t>
            </a:r>
            <a:endParaRPr lang="en-US" sz="1000" dirty="0"/>
          </a:p>
        </p:txBody>
      </p:sp>
      <p:sp>
        <p:nvSpPr>
          <p:cNvPr id="383" name="TextBox 382"/>
          <p:cNvSpPr txBox="1"/>
          <p:nvPr/>
        </p:nvSpPr>
        <p:spPr>
          <a:xfrm>
            <a:off x="7929586" y="5897422"/>
            <a:ext cx="57150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84" name="TextBox 383"/>
          <p:cNvSpPr txBox="1"/>
          <p:nvPr/>
        </p:nvSpPr>
        <p:spPr>
          <a:xfrm>
            <a:off x="7929586" y="6143643"/>
            <a:ext cx="57150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85" name="TextBox 384"/>
          <p:cNvSpPr txBox="1"/>
          <p:nvPr/>
        </p:nvSpPr>
        <p:spPr>
          <a:xfrm>
            <a:off x="7929586" y="6386602"/>
            <a:ext cx="57150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1010244"/>
            <a:ext cx="857256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预录</a:t>
            </a:r>
            <a:r>
              <a:rPr lang="zh-CN" altLang="en-US" sz="1000" dirty="0" smtClean="0"/>
              <a:t>入编号</a:t>
            </a:r>
            <a:endParaRPr lang="en-US" sz="1000" dirty="0"/>
          </a:p>
        </p:txBody>
      </p:sp>
      <p:sp>
        <p:nvSpPr>
          <p:cNvPr id="5" name="TextBox 4"/>
          <p:cNvSpPr txBox="1"/>
          <p:nvPr/>
        </p:nvSpPr>
        <p:spPr>
          <a:xfrm>
            <a:off x="1071538" y="1010243"/>
            <a:ext cx="585791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6" name="TextBox 5"/>
          <p:cNvSpPr txBox="1"/>
          <p:nvPr/>
        </p:nvSpPr>
        <p:spPr>
          <a:xfrm>
            <a:off x="214282" y="1253202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海关编号</a:t>
            </a:r>
            <a:endParaRPr lang="en-US" sz="1000" dirty="0"/>
          </a:p>
        </p:txBody>
      </p:sp>
      <p:sp>
        <p:nvSpPr>
          <p:cNvPr id="10" name="TextBox 9"/>
          <p:cNvSpPr txBox="1"/>
          <p:nvPr/>
        </p:nvSpPr>
        <p:spPr>
          <a:xfrm>
            <a:off x="928662" y="1253203"/>
            <a:ext cx="242889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1" name="TextBox 10"/>
          <p:cNvSpPr txBox="1"/>
          <p:nvPr/>
        </p:nvSpPr>
        <p:spPr>
          <a:xfrm>
            <a:off x="3357554" y="1253201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进口口岸</a:t>
            </a:r>
            <a:endParaRPr lang="en-US" sz="1000" dirty="0"/>
          </a:p>
        </p:txBody>
      </p:sp>
      <p:sp>
        <p:nvSpPr>
          <p:cNvPr id="12" name="TextBox 11"/>
          <p:cNvSpPr txBox="1"/>
          <p:nvPr/>
        </p:nvSpPr>
        <p:spPr>
          <a:xfrm>
            <a:off x="4071934" y="1253203"/>
            <a:ext cx="285752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3" name="TextBox 12"/>
          <p:cNvSpPr txBox="1"/>
          <p:nvPr/>
        </p:nvSpPr>
        <p:spPr>
          <a:xfrm>
            <a:off x="214282" y="1499423"/>
            <a:ext cx="714380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备案号</a:t>
            </a:r>
            <a:r>
              <a:rPr lang="en-US" altLang="zh-CN" sz="1000" dirty="0" smtClean="0"/>
              <a:t>	</a:t>
            </a:r>
            <a:endParaRPr lang="en-US" sz="1000" dirty="0"/>
          </a:p>
        </p:txBody>
      </p:sp>
      <p:sp>
        <p:nvSpPr>
          <p:cNvPr id="14" name="TextBox 13"/>
          <p:cNvSpPr txBox="1"/>
          <p:nvPr/>
        </p:nvSpPr>
        <p:spPr>
          <a:xfrm>
            <a:off x="928662" y="1499424"/>
            <a:ext cx="242889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5" name="TextBox 14"/>
          <p:cNvSpPr txBox="1"/>
          <p:nvPr/>
        </p:nvSpPr>
        <p:spPr>
          <a:xfrm>
            <a:off x="3357554" y="1499422"/>
            <a:ext cx="928694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合同协议号</a:t>
            </a:r>
            <a:endParaRPr lang="en-US" sz="1000" dirty="0"/>
          </a:p>
        </p:txBody>
      </p:sp>
      <p:sp>
        <p:nvSpPr>
          <p:cNvPr id="16" name="TextBox 15"/>
          <p:cNvSpPr txBox="1"/>
          <p:nvPr/>
        </p:nvSpPr>
        <p:spPr>
          <a:xfrm>
            <a:off x="4286248" y="1499424"/>
            <a:ext cx="264320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7" name="TextBox 16"/>
          <p:cNvSpPr txBox="1"/>
          <p:nvPr/>
        </p:nvSpPr>
        <p:spPr>
          <a:xfrm>
            <a:off x="214282" y="1713737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进口日期</a:t>
            </a:r>
            <a:endParaRPr lang="en-US" sz="1000" dirty="0"/>
          </a:p>
        </p:txBody>
      </p:sp>
      <p:sp>
        <p:nvSpPr>
          <p:cNvPr id="18" name="TextBox 17"/>
          <p:cNvSpPr txBox="1"/>
          <p:nvPr/>
        </p:nvSpPr>
        <p:spPr>
          <a:xfrm>
            <a:off x="928662" y="1713738"/>
            <a:ext cx="242889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9" name="TextBox 18"/>
          <p:cNvSpPr txBox="1"/>
          <p:nvPr/>
        </p:nvSpPr>
        <p:spPr>
          <a:xfrm>
            <a:off x="3357554" y="1713736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申报日期</a:t>
            </a:r>
            <a:endParaRPr lang="en-US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071934" y="1713738"/>
            <a:ext cx="285752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1" name="TextBox 20"/>
          <p:cNvSpPr txBox="1"/>
          <p:nvPr/>
        </p:nvSpPr>
        <p:spPr>
          <a:xfrm>
            <a:off x="214282" y="1938938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经营单位</a:t>
            </a:r>
            <a:endParaRPr lang="en-US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928662" y="1938939"/>
            <a:ext cx="3143272" cy="2462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071934" y="1938938"/>
            <a:ext cx="1000132" cy="24622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运输方式</a:t>
            </a:r>
            <a:endParaRPr lang="en-US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5072066" y="1938938"/>
            <a:ext cx="1857388" cy="2462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9" name="TextBox 28"/>
          <p:cNvSpPr txBox="1"/>
          <p:nvPr/>
        </p:nvSpPr>
        <p:spPr>
          <a:xfrm>
            <a:off x="214282" y="2181146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收货单位</a:t>
            </a:r>
            <a:endParaRPr lang="en-US" sz="1000" dirty="0"/>
          </a:p>
        </p:txBody>
      </p:sp>
      <p:sp>
        <p:nvSpPr>
          <p:cNvPr id="30" name="TextBox 29"/>
          <p:cNvSpPr txBox="1"/>
          <p:nvPr/>
        </p:nvSpPr>
        <p:spPr>
          <a:xfrm>
            <a:off x="928662" y="2181147"/>
            <a:ext cx="3143272" cy="2462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1" name="TextBox 30"/>
          <p:cNvSpPr txBox="1"/>
          <p:nvPr/>
        </p:nvSpPr>
        <p:spPr>
          <a:xfrm>
            <a:off x="4071934" y="2181145"/>
            <a:ext cx="1000132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运输工具名称</a:t>
            </a:r>
            <a:endParaRPr lang="en-US" sz="1000" dirty="0"/>
          </a:p>
        </p:txBody>
      </p:sp>
      <p:sp>
        <p:nvSpPr>
          <p:cNvPr id="32" name="TextBox 31"/>
          <p:cNvSpPr txBox="1"/>
          <p:nvPr/>
        </p:nvSpPr>
        <p:spPr>
          <a:xfrm>
            <a:off x="5072066" y="2181146"/>
            <a:ext cx="185738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3" name="TextBox 32"/>
          <p:cNvSpPr txBox="1"/>
          <p:nvPr/>
        </p:nvSpPr>
        <p:spPr>
          <a:xfrm>
            <a:off x="214282" y="2428118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申报单位</a:t>
            </a:r>
            <a:endParaRPr lang="en-US" sz="1000" dirty="0"/>
          </a:p>
        </p:txBody>
      </p:sp>
      <p:sp>
        <p:nvSpPr>
          <p:cNvPr id="34" name="TextBox 33"/>
          <p:cNvSpPr txBox="1"/>
          <p:nvPr/>
        </p:nvSpPr>
        <p:spPr>
          <a:xfrm>
            <a:off x="928662" y="2428119"/>
            <a:ext cx="3143272" cy="2462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5" name="TextBox 34"/>
          <p:cNvSpPr txBox="1"/>
          <p:nvPr/>
        </p:nvSpPr>
        <p:spPr>
          <a:xfrm>
            <a:off x="4071934" y="2428118"/>
            <a:ext cx="642942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航次号</a:t>
            </a:r>
            <a:endParaRPr lang="en-US" sz="1000" dirty="0"/>
          </a:p>
        </p:txBody>
      </p:sp>
      <p:sp>
        <p:nvSpPr>
          <p:cNvPr id="36" name="TextBox 35"/>
          <p:cNvSpPr txBox="1"/>
          <p:nvPr/>
        </p:nvSpPr>
        <p:spPr>
          <a:xfrm>
            <a:off x="4714876" y="2428119"/>
            <a:ext cx="221457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7" name="TextBox 36"/>
          <p:cNvSpPr txBox="1"/>
          <p:nvPr/>
        </p:nvSpPr>
        <p:spPr>
          <a:xfrm>
            <a:off x="214282" y="2671075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提</a:t>
            </a:r>
            <a:r>
              <a:rPr lang="zh-CN" altLang="en-US" sz="1000" dirty="0" smtClean="0"/>
              <a:t>运单号</a:t>
            </a:r>
            <a:endParaRPr lang="en-US" sz="1000" dirty="0"/>
          </a:p>
        </p:txBody>
      </p:sp>
      <p:sp>
        <p:nvSpPr>
          <p:cNvPr id="38" name="TextBox 37"/>
          <p:cNvSpPr txBox="1"/>
          <p:nvPr/>
        </p:nvSpPr>
        <p:spPr>
          <a:xfrm>
            <a:off x="928662" y="2671076"/>
            <a:ext cx="114300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41" name="TextBox 40"/>
          <p:cNvSpPr txBox="1"/>
          <p:nvPr/>
        </p:nvSpPr>
        <p:spPr>
          <a:xfrm>
            <a:off x="2071670" y="2671076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贸易方式</a:t>
            </a:r>
            <a:endParaRPr lang="en-US" sz="1000" dirty="0"/>
          </a:p>
        </p:txBody>
      </p:sp>
      <p:sp>
        <p:nvSpPr>
          <p:cNvPr id="42" name="TextBox 41"/>
          <p:cNvSpPr txBox="1"/>
          <p:nvPr/>
        </p:nvSpPr>
        <p:spPr>
          <a:xfrm>
            <a:off x="2786050" y="2671077"/>
            <a:ext cx="100013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43" name="TextBox 42"/>
          <p:cNvSpPr txBox="1"/>
          <p:nvPr/>
        </p:nvSpPr>
        <p:spPr>
          <a:xfrm>
            <a:off x="3786182" y="2671077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征免性质</a:t>
            </a:r>
            <a:endParaRPr lang="en-US" sz="1000" dirty="0"/>
          </a:p>
        </p:txBody>
      </p:sp>
      <p:sp>
        <p:nvSpPr>
          <p:cNvPr id="44" name="TextBox 43"/>
          <p:cNvSpPr txBox="1"/>
          <p:nvPr/>
        </p:nvSpPr>
        <p:spPr>
          <a:xfrm>
            <a:off x="4500562" y="2670326"/>
            <a:ext cx="100013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45" name="TextBox 44"/>
          <p:cNvSpPr txBox="1"/>
          <p:nvPr/>
        </p:nvSpPr>
        <p:spPr>
          <a:xfrm>
            <a:off x="5500694" y="2670326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征税比例</a:t>
            </a:r>
            <a:endParaRPr lang="en-US" sz="1000" dirty="0"/>
          </a:p>
        </p:txBody>
      </p:sp>
      <p:sp>
        <p:nvSpPr>
          <p:cNvPr id="46" name="TextBox 45"/>
          <p:cNvSpPr txBox="1"/>
          <p:nvPr/>
        </p:nvSpPr>
        <p:spPr>
          <a:xfrm>
            <a:off x="6215074" y="2671077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47" name="TextBox 46"/>
          <p:cNvSpPr txBox="1"/>
          <p:nvPr/>
        </p:nvSpPr>
        <p:spPr>
          <a:xfrm>
            <a:off x="214282" y="2907162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纳税单位</a:t>
            </a:r>
            <a:endParaRPr lang="en-US" sz="1000" dirty="0"/>
          </a:p>
        </p:txBody>
      </p:sp>
      <p:sp>
        <p:nvSpPr>
          <p:cNvPr id="48" name="TextBox 47"/>
          <p:cNvSpPr txBox="1"/>
          <p:nvPr/>
        </p:nvSpPr>
        <p:spPr>
          <a:xfrm>
            <a:off x="928662" y="2907163"/>
            <a:ext cx="114300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49" name="TextBox 48"/>
          <p:cNvSpPr txBox="1"/>
          <p:nvPr/>
        </p:nvSpPr>
        <p:spPr>
          <a:xfrm>
            <a:off x="2071670" y="2907162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许可证号</a:t>
            </a:r>
            <a:endParaRPr lang="en-US" sz="1000" dirty="0"/>
          </a:p>
        </p:txBody>
      </p:sp>
      <p:sp>
        <p:nvSpPr>
          <p:cNvPr id="50" name="TextBox 49"/>
          <p:cNvSpPr txBox="1"/>
          <p:nvPr/>
        </p:nvSpPr>
        <p:spPr>
          <a:xfrm>
            <a:off x="2786050" y="2907163"/>
            <a:ext cx="414340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51" name="TextBox 50"/>
          <p:cNvSpPr txBox="1"/>
          <p:nvPr/>
        </p:nvSpPr>
        <p:spPr>
          <a:xfrm>
            <a:off x="214282" y="3153385"/>
            <a:ext cx="107157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启运国</a:t>
            </a:r>
            <a:r>
              <a:rPr lang="en-US" altLang="zh-CN" sz="1000" dirty="0" smtClean="0"/>
              <a:t>(</a:t>
            </a:r>
            <a:r>
              <a:rPr lang="zh-CN" altLang="en-US" sz="1000" dirty="0" smtClean="0"/>
              <a:t>地区</a:t>
            </a:r>
            <a:r>
              <a:rPr lang="en-US" altLang="zh-CN" sz="1000" dirty="0" smtClean="0"/>
              <a:t>)</a:t>
            </a:r>
            <a:endParaRPr lang="en-US" sz="1000" dirty="0"/>
          </a:p>
        </p:txBody>
      </p:sp>
      <p:sp>
        <p:nvSpPr>
          <p:cNvPr id="52" name="TextBox 51"/>
          <p:cNvSpPr txBox="1"/>
          <p:nvPr/>
        </p:nvSpPr>
        <p:spPr>
          <a:xfrm>
            <a:off x="1285852" y="3153385"/>
            <a:ext cx="114300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53" name="TextBox 52"/>
          <p:cNvSpPr txBox="1"/>
          <p:nvPr/>
        </p:nvSpPr>
        <p:spPr>
          <a:xfrm>
            <a:off x="2428860" y="3153384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装货港</a:t>
            </a:r>
            <a:endParaRPr lang="en-US" sz="1000" dirty="0"/>
          </a:p>
        </p:txBody>
      </p:sp>
      <p:sp>
        <p:nvSpPr>
          <p:cNvPr id="54" name="TextBox 53"/>
          <p:cNvSpPr txBox="1"/>
          <p:nvPr/>
        </p:nvSpPr>
        <p:spPr>
          <a:xfrm>
            <a:off x="3143240" y="3153385"/>
            <a:ext cx="171451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55" name="TextBox 54"/>
          <p:cNvSpPr txBox="1"/>
          <p:nvPr/>
        </p:nvSpPr>
        <p:spPr>
          <a:xfrm>
            <a:off x="4857752" y="3153384"/>
            <a:ext cx="928694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境内目的地</a:t>
            </a:r>
            <a:endParaRPr lang="en-US" sz="1000" dirty="0"/>
          </a:p>
        </p:txBody>
      </p:sp>
      <p:sp>
        <p:nvSpPr>
          <p:cNvPr id="56" name="TextBox 55"/>
          <p:cNvSpPr txBox="1"/>
          <p:nvPr/>
        </p:nvSpPr>
        <p:spPr>
          <a:xfrm>
            <a:off x="5786446" y="3153385"/>
            <a:ext cx="114300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57" name="TextBox 56"/>
          <p:cNvSpPr txBox="1"/>
          <p:nvPr/>
        </p:nvSpPr>
        <p:spPr>
          <a:xfrm>
            <a:off x="214282" y="3395591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批准文号</a:t>
            </a:r>
            <a:endParaRPr lang="en-US" sz="1000" dirty="0"/>
          </a:p>
        </p:txBody>
      </p:sp>
      <p:sp>
        <p:nvSpPr>
          <p:cNvPr id="58" name="TextBox 57"/>
          <p:cNvSpPr txBox="1"/>
          <p:nvPr/>
        </p:nvSpPr>
        <p:spPr>
          <a:xfrm>
            <a:off x="928662" y="3395592"/>
            <a:ext cx="3929090" cy="246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59" name="TextBox 58"/>
          <p:cNvSpPr txBox="1"/>
          <p:nvPr/>
        </p:nvSpPr>
        <p:spPr>
          <a:xfrm>
            <a:off x="4857752" y="3395591"/>
            <a:ext cx="928694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成</a:t>
            </a:r>
            <a:r>
              <a:rPr lang="zh-CN" altLang="en-US" sz="1000" dirty="0" smtClean="0"/>
              <a:t>交放肆</a:t>
            </a:r>
            <a:endParaRPr lang="en-US" sz="1000" dirty="0"/>
          </a:p>
        </p:txBody>
      </p:sp>
      <p:sp>
        <p:nvSpPr>
          <p:cNvPr id="60" name="TextBox 59"/>
          <p:cNvSpPr txBox="1"/>
          <p:nvPr/>
        </p:nvSpPr>
        <p:spPr>
          <a:xfrm>
            <a:off x="5786446" y="3395592"/>
            <a:ext cx="114300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61" name="TextBox 60"/>
          <p:cNvSpPr txBox="1"/>
          <p:nvPr/>
        </p:nvSpPr>
        <p:spPr>
          <a:xfrm>
            <a:off x="214282" y="3642565"/>
            <a:ext cx="571504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运费</a:t>
            </a:r>
            <a:endParaRPr lang="en-US" sz="1000" dirty="0"/>
          </a:p>
        </p:txBody>
      </p:sp>
      <p:sp>
        <p:nvSpPr>
          <p:cNvPr id="62" name="TextBox 61"/>
          <p:cNvSpPr txBox="1"/>
          <p:nvPr/>
        </p:nvSpPr>
        <p:spPr>
          <a:xfrm>
            <a:off x="785786" y="3642565"/>
            <a:ext cx="42862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63" name="TextBox 62"/>
          <p:cNvSpPr txBox="1"/>
          <p:nvPr/>
        </p:nvSpPr>
        <p:spPr>
          <a:xfrm>
            <a:off x="1214414" y="3642565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64" name="TextBox 63"/>
          <p:cNvSpPr txBox="1"/>
          <p:nvPr/>
        </p:nvSpPr>
        <p:spPr>
          <a:xfrm>
            <a:off x="2071670" y="3642564"/>
            <a:ext cx="42862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73" name="TextBox 72"/>
          <p:cNvSpPr txBox="1"/>
          <p:nvPr/>
        </p:nvSpPr>
        <p:spPr>
          <a:xfrm>
            <a:off x="2500298" y="3642564"/>
            <a:ext cx="571504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保费</a:t>
            </a:r>
            <a:endParaRPr lang="en-US" sz="1000" dirty="0"/>
          </a:p>
        </p:txBody>
      </p:sp>
      <p:sp>
        <p:nvSpPr>
          <p:cNvPr id="74" name="TextBox 73"/>
          <p:cNvSpPr txBox="1"/>
          <p:nvPr/>
        </p:nvSpPr>
        <p:spPr>
          <a:xfrm>
            <a:off x="3071802" y="3642564"/>
            <a:ext cx="42862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75" name="TextBox 74"/>
          <p:cNvSpPr txBox="1"/>
          <p:nvPr/>
        </p:nvSpPr>
        <p:spPr>
          <a:xfrm>
            <a:off x="3500430" y="3642564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76" name="TextBox 75"/>
          <p:cNvSpPr txBox="1"/>
          <p:nvPr/>
        </p:nvSpPr>
        <p:spPr>
          <a:xfrm>
            <a:off x="4357686" y="3642563"/>
            <a:ext cx="42862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77" name="TextBox 76"/>
          <p:cNvSpPr txBox="1"/>
          <p:nvPr/>
        </p:nvSpPr>
        <p:spPr>
          <a:xfrm>
            <a:off x="4786314" y="3642564"/>
            <a:ext cx="571504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杂费</a:t>
            </a:r>
            <a:endParaRPr lang="en-US" sz="1000" dirty="0"/>
          </a:p>
        </p:txBody>
      </p:sp>
      <p:sp>
        <p:nvSpPr>
          <p:cNvPr id="78" name="TextBox 77"/>
          <p:cNvSpPr txBox="1"/>
          <p:nvPr/>
        </p:nvSpPr>
        <p:spPr>
          <a:xfrm>
            <a:off x="5357818" y="3642564"/>
            <a:ext cx="42862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79" name="TextBox 78"/>
          <p:cNvSpPr txBox="1"/>
          <p:nvPr/>
        </p:nvSpPr>
        <p:spPr>
          <a:xfrm>
            <a:off x="5786446" y="3642564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80" name="TextBox 79"/>
          <p:cNvSpPr txBox="1"/>
          <p:nvPr/>
        </p:nvSpPr>
        <p:spPr>
          <a:xfrm>
            <a:off x="6643702" y="3642563"/>
            <a:ext cx="28575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81" name="TextBox 80"/>
          <p:cNvSpPr txBox="1"/>
          <p:nvPr/>
        </p:nvSpPr>
        <p:spPr>
          <a:xfrm>
            <a:off x="214282" y="3885522"/>
            <a:ext cx="571504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件数</a:t>
            </a:r>
            <a:endParaRPr lang="en-US" sz="1000" dirty="0"/>
          </a:p>
        </p:txBody>
      </p:sp>
      <p:sp>
        <p:nvSpPr>
          <p:cNvPr id="82" name="TextBox 81"/>
          <p:cNvSpPr txBox="1"/>
          <p:nvPr/>
        </p:nvSpPr>
        <p:spPr>
          <a:xfrm>
            <a:off x="785786" y="3885522"/>
            <a:ext cx="785818" cy="246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83" name="TextBox 82"/>
          <p:cNvSpPr txBox="1"/>
          <p:nvPr/>
        </p:nvSpPr>
        <p:spPr>
          <a:xfrm>
            <a:off x="1571604" y="3884772"/>
            <a:ext cx="785818" cy="2469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包装种类</a:t>
            </a:r>
            <a:endParaRPr lang="en-US" sz="1000" dirty="0"/>
          </a:p>
        </p:txBody>
      </p:sp>
      <p:sp>
        <p:nvSpPr>
          <p:cNvPr id="84" name="TextBox 83"/>
          <p:cNvSpPr txBox="1"/>
          <p:nvPr/>
        </p:nvSpPr>
        <p:spPr>
          <a:xfrm>
            <a:off x="2357422" y="3886273"/>
            <a:ext cx="114300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85" name="TextBox 84"/>
          <p:cNvSpPr txBox="1"/>
          <p:nvPr/>
        </p:nvSpPr>
        <p:spPr>
          <a:xfrm>
            <a:off x="3500430" y="3884772"/>
            <a:ext cx="785818" cy="2469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毛重</a:t>
            </a:r>
            <a:r>
              <a:rPr lang="en-US" altLang="zh-CN" sz="1000" dirty="0" smtClean="0"/>
              <a:t>(KG)</a:t>
            </a:r>
            <a:endParaRPr lang="en-US" sz="1000" dirty="0"/>
          </a:p>
        </p:txBody>
      </p:sp>
      <p:sp>
        <p:nvSpPr>
          <p:cNvPr id="86" name="TextBox 85"/>
          <p:cNvSpPr txBox="1"/>
          <p:nvPr/>
        </p:nvSpPr>
        <p:spPr>
          <a:xfrm>
            <a:off x="4286248" y="3884772"/>
            <a:ext cx="928694" cy="246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89" name="TextBox 88"/>
          <p:cNvSpPr txBox="1"/>
          <p:nvPr/>
        </p:nvSpPr>
        <p:spPr>
          <a:xfrm>
            <a:off x="5214942" y="3884772"/>
            <a:ext cx="785818" cy="2469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净</a:t>
            </a:r>
            <a:r>
              <a:rPr lang="zh-CN" altLang="en-US" sz="1000" dirty="0" smtClean="0"/>
              <a:t>重</a:t>
            </a:r>
            <a:r>
              <a:rPr lang="en-US" altLang="zh-CN" sz="1000" dirty="0" smtClean="0"/>
              <a:t>(KG)</a:t>
            </a:r>
            <a:endParaRPr lang="en-US" sz="1000" dirty="0"/>
          </a:p>
        </p:txBody>
      </p:sp>
      <p:sp>
        <p:nvSpPr>
          <p:cNvPr id="90" name="TextBox 89"/>
          <p:cNvSpPr txBox="1"/>
          <p:nvPr/>
        </p:nvSpPr>
        <p:spPr>
          <a:xfrm>
            <a:off x="6000760" y="3884772"/>
            <a:ext cx="928694" cy="246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91" name="TextBox 90"/>
          <p:cNvSpPr txBox="1"/>
          <p:nvPr/>
        </p:nvSpPr>
        <p:spPr>
          <a:xfrm>
            <a:off x="214282" y="4131744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集装箱号</a:t>
            </a:r>
            <a:endParaRPr lang="en-US" sz="1000" dirty="0"/>
          </a:p>
        </p:txBody>
      </p:sp>
      <p:sp>
        <p:nvSpPr>
          <p:cNvPr id="92" name="TextBox 91"/>
          <p:cNvSpPr txBox="1"/>
          <p:nvPr/>
        </p:nvSpPr>
        <p:spPr>
          <a:xfrm>
            <a:off x="928662" y="4131745"/>
            <a:ext cx="257176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93" name="TextBox 92"/>
          <p:cNvSpPr txBox="1"/>
          <p:nvPr/>
        </p:nvSpPr>
        <p:spPr>
          <a:xfrm>
            <a:off x="3500430" y="4131744"/>
            <a:ext cx="785818" cy="2469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随附单证</a:t>
            </a:r>
            <a:endParaRPr lang="en-US" sz="1000" dirty="0"/>
          </a:p>
        </p:txBody>
      </p:sp>
      <p:sp>
        <p:nvSpPr>
          <p:cNvPr id="94" name="TextBox 93"/>
          <p:cNvSpPr txBox="1"/>
          <p:nvPr/>
        </p:nvSpPr>
        <p:spPr>
          <a:xfrm>
            <a:off x="4286248" y="4131744"/>
            <a:ext cx="928694" cy="246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95" name="TextBox 94"/>
          <p:cNvSpPr txBox="1"/>
          <p:nvPr/>
        </p:nvSpPr>
        <p:spPr>
          <a:xfrm>
            <a:off x="5214942" y="4131744"/>
            <a:ext cx="785818" cy="2469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用途</a:t>
            </a:r>
            <a:endParaRPr lang="en-US" sz="1000" dirty="0"/>
          </a:p>
        </p:txBody>
      </p:sp>
      <p:sp>
        <p:nvSpPr>
          <p:cNvPr id="96" name="TextBox 95"/>
          <p:cNvSpPr txBox="1"/>
          <p:nvPr/>
        </p:nvSpPr>
        <p:spPr>
          <a:xfrm>
            <a:off x="6000760" y="4131744"/>
            <a:ext cx="928694" cy="246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97" name="TextBox 96"/>
          <p:cNvSpPr txBox="1"/>
          <p:nvPr/>
        </p:nvSpPr>
        <p:spPr>
          <a:xfrm>
            <a:off x="214282" y="4375452"/>
            <a:ext cx="928694" cy="24622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报关单类型</a:t>
            </a:r>
            <a:endParaRPr lang="en-US" sz="1000" dirty="0"/>
          </a:p>
        </p:txBody>
      </p:sp>
      <p:sp>
        <p:nvSpPr>
          <p:cNvPr id="98" name="TextBox 97"/>
          <p:cNvSpPr txBox="1"/>
          <p:nvPr/>
        </p:nvSpPr>
        <p:spPr>
          <a:xfrm>
            <a:off x="1142976" y="4375453"/>
            <a:ext cx="200026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99" name="TextBox 98"/>
          <p:cNvSpPr txBox="1"/>
          <p:nvPr/>
        </p:nvSpPr>
        <p:spPr>
          <a:xfrm>
            <a:off x="3143240" y="4374702"/>
            <a:ext cx="785818" cy="2469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备          注</a:t>
            </a:r>
            <a:endParaRPr lang="en-US" sz="1000" dirty="0"/>
          </a:p>
        </p:txBody>
      </p:sp>
      <p:sp>
        <p:nvSpPr>
          <p:cNvPr id="100" name="TextBox 99"/>
          <p:cNvSpPr txBox="1"/>
          <p:nvPr/>
        </p:nvSpPr>
        <p:spPr>
          <a:xfrm>
            <a:off x="3929058" y="4374702"/>
            <a:ext cx="3000396" cy="246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01" name="TextBox 100"/>
          <p:cNvSpPr txBox="1"/>
          <p:nvPr/>
        </p:nvSpPr>
        <p:spPr>
          <a:xfrm>
            <a:off x="2214546" y="142852"/>
            <a:ext cx="535785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中和人民共和国海关进口货物报关单</a:t>
            </a:r>
            <a:endParaRPr lang="en-US" altLang="zh-CN" sz="2400" b="1" dirty="0" smtClean="0"/>
          </a:p>
          <a:p>
            <a:pPr algn="ctr"/>
            <a:r>
              <a:rPr lang="zh-CN" altLang="en-US" sz="2400" b="1" dirty="0" smtClean="0"/>
              <a:t>（一般贸易）</a:t>
            </a:r>
            <a:endParaRPr lang="en-US" sz="2400" b="1" dirty="0"/>
          </a:p>
        </p:txBody>
      </p:sp>
      <p:sp>
        <p:nvSpPr>
          <p:cNvPr id="102" name="TextBox 101"/>
          <p:cNvSpPr txBox="1"/>
          <p:nvPr/>
        </p:nvSpPr>
        <p:spPr>
          <a:xfrm>
            <a:off x="7022664" y="1000108"/>
            <a:ext cx="835484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集装箱号</a:t>
            </a:r>
            <a:endParaRPr lang="en-US" sz="1000" dirty="0"/>
          </a:p>
        </p:txBody>
      </p:sp>
      <p:sp>
        <p:nvSpPr>
          <p:cNvPr id="103" name="TextBox 102"/>
          <p:cNvSpPr txBox="1"/>
          <p:nvPr/>
        </p:nvSpPr>
        <p:spPr>
          <a:xfrm>
            <a:off x="7858148" y="1000109"/>
            <a:ext cx="50006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规格</a:t>
            </a:r>
            <a:endParaRPr lang="en-US" sz="1000" dirty="0"/>
          </a:p>
        </p:txBody>
      </p:sp>
      <p:sp>
        <p:nvSpPr>
          <p:cNvPr id="104" name="TextBox 103"/>
          <p:cNvSpPr txBox="1"/>
          <p:nvPr/>
        </p:nvSpPr>
        <p:spPr>
          <a:xfrm>
            <a:off x="8358214" y="1000108"/>
            <a:ext cx="642942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自重</a:t>
            </a:r>
            <a:r>
              <a:rPr lang="en-US" altLang="zh-CN" sz="1000" dirty="0" smtClean="0"/>
              <a:t>(KG)</a:t>
            </a:r>
            <a:endParaRPr lang="en-US" sz="1000" dirty="0"/>
          </a:p>
        </p:txBody>
      </p:sp>
      <p:sp>
        <p:nvSpPr>
          <p:cNvPr id="105" name="TextBox 104"/>
          <p:cNvSpPr txBox="1"/>
          <p:nvPr/>
        </p:nvSpPr>
        <p:spPr>
          <a:xfrm>
            <a:off x="7022664" y="1253953"/>
            <a:ext cx="83548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06" name="TextBox 105"/>
          <p:cNvSpPr txBox="1"/>
          <p:nvPr/>
        </p:nvSpPr>
        <p:spPr>
          <a:xfrm>
            <a:off x="7858148" y="1253953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07" name="TextBox 106"/>
          <p:cNvSpPr txBox="1"/>
          <p:nvPr/>
        </p:nvSpPr>
        <p:spPr>
          <a:xfrm>
            <a:off x="8358214" y="1253953"/>
            <a:ext cx="64294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08" name="TextBox 107"/>
          <p:cNvSpPr txBox="1"/>
          <p:nvPr/>
        </p:nvSpPr>
        <p:spPr>
          <a:xfrm>
            <a:off x="7022664" y="1500174"/>
            <a:ext cx="83548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09" name="TextBox 108"/>
          <p:cNvSpPr txBox="1"/>
          <p:nvPr/>
        </p:nvSpPr>
        <p:spPr>
          <a:xfrm>
            <a:off x="7858148" y="1500174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10" name="TextBox 109"/>
          <p:cNvSpPr txBox="1"/>
          <p:nvPr/>
        </p:nvSpPr>
        <p:spPr>
          <a:xfrm>
            <a:off x="8358214" y="1500174"/>
            <a:ext cx="64294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11" name="TextBox 110"/>
          <p:cNvSpPr txBox="1"/>
          <p:nvPr/>
        </p:nvSpPr>
        <p:spPr>
          <a:xfrm>
            <a:off x="7022664" y="1743133"/>
            <a:ext cx="83548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12" name="TextBox 111"/>
          <p:cNvSpPr txBox="1"/>
          <p:nvPr/>
        </p:nvSpPr>
        <p:spPr>
          <a:xfrm>
            <a:off x="7858148" y="1743133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13" name="TextBox 112"/>
          <p:cNvSpPr txBox="1"/>
          <p:nvPr/>
        </p:nvSpPr>
        <p:spPr>
          <a:xfrm>
            <a:off x="8358214" y="1743133"/>
            <a:ext cx="64294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14" name="TextBox 113"/>
          <p:cNvSpPr txBox="1"/>
          <p:nvPr/>
        </p:nvSpPr>
        <p:spPr>
          <a:xfrm>
            <a:off x="7000892" y="2039771"/>
            <a:ext cx="1000132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境内目的地</a:t>
            </a:r>
            <a:endParaRPr lang="en-US" sz="1000" dirty="0"/>
          </a:p>
        </p:txBody>
      </p:sp>
      <p:sp>
        <p:nvSpPr>
          <p:cNvPr id="115" name="TextBox 114"/>
          <p:cNvSpPr txBox="1"/>
          <p:nvPr/>
        </p:nvSpPr>
        <p:spPr>
          <a:xfrm>
            <a:off x="8000992" y="2039771"/>
            <a:ext cx="100016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16" name="TextBox 115"/>
          <p:cNvSpPr txBox="1"/>
          <p:nvPr/>
        </p:nvSpPr>
        <p:spPr>
          <a:xfrm>
            <a:off x="7000892" y="2285992"/>
            <a:ext cx="1000132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境内目的地</a:t>
            </a:r>
            <a:endParaRPr lang="en-US" sz="1000" dirty="0"/>
          </a:p>
        </p:txBody>
      </p:sp>
      <p:sp>
        <p:nvSpPr>
          <p:cNvPr id="117" name="TextBox 116"/>
          <p:cNvSpPr txBox="1"/>
          <p:nvPr/>
        </p:nvSpPr>
        <p:spPr>
          <a:xfrm>
            <a:off x="8000992" y="2285992"/>
            <a:ext cx="100016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18" name="TextBox 117"/>
          <p:cNvSpPr txBox="1"/>
          <p:nvPr/>
        </p:nvSpPr>
        <p:spPr>
          <a:xfrm>
            <a:off x="7000892" y="2500306"/>
            <a:ext cx="1000132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境内目的地</a:t>
            </a:r>
            <a:endParaRPr lang="en-US" sz="1000" dirty="0"/>
          </a:p>
        </p:txBody>
      </p:sp>
      <p:sp>
        <p:nvSpPr>
          <p:cNvPr id="119" name="TextBox 118"/>
          <p:cNvSpPr txBox="1"/>
          <p:nvPr/>
        </p:nvSpPr>
        <p:spPr>
          <a:xfrm>
            <a:off x="8000992" y="2500306"/>
            <a:ext cx="100016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21" name="Rounded Rectangle 120"/>
          <p:cNvSpPr/>
          <p:nvPr/>
        </p:nvSpPr>
        <p:spPr>
          <a:xfrm>
            <a:off x="7000892" y="2786058"/>
            <a:ext cx="571504" cy="2143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/>
              <a:t>追加</a:t>
            </a:r>
            <a:endParaRPr lang="en-US" sz="1000" dirty="0"/>
          </a:p>
        </p:txBody>
      </p:sp>
      <p:sp>
        <p:nvSpPr>
          <p:cNvPr id="122" name="Rounded Rectangle 121"/>
          <p:cNvSpPr/>
          <p:nvPr/>
        </p:nvSpPr>
        <p:spPr>
          <a:xfrm>
            <a:off x="8429652" y="2786058"/>
            <a:ext cx="571504" cy="2143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/>
              <a:t>删除</a:t>
            </a:r>
            <a:endParaRPr lang="en-US" sz="1000" dirty="0"/>
          </a:p>
        </p:txBody>
      </p:sp>
      <p:sp>
        <p:nvSpPr>
          <p:cNvPr id="123" name="TextBox 122"/>
          <p:cNvSpPr txBox="1"/>
          <p:nvPr/>
        </p:nvSpPr>
        <p:spPr>
          <a:xfrm>
            <a:off x="7022664" y="3071810"/>
            <a:ext cx="478294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代码</a:t>
            </a:r>
            <a:endParaRPr lang="en-US" sz="1000" dirty="0"/>
          </a:p>
        </p:txBody>
      </p:sp>
      <p:sp>
        <p:nvSpPr>
          <p:cNvPr id="125" name="TextBox 124"/>
          <p:cNvSpPr txBox="1"/>
          <p:nvPr/>
        </p:nvSpPr>
        <p:spPr>
          <a:xfrm>
            <a:off x="7500958" y="3071810"/>
            <a:ext cx="1500198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随</a:t>
            </a:r>
            <a:r>
              <a:rPr lang="zh-CN" altLang="en-US" sz="1000" dirty="0" smtClean="0"/>
              <a:t>附单证编号</a:t>
            </a:r>
            <a:endParaRPr lang="en-US" sz="1000" dirty="0"/>
          </a:p>
        </p:txBody>
      </p:sp>
      <p:sp>
        <p:nvSpPr>
          <p:cNvPr id="126" name="TextBox 125"/>
          <p:cNvSpPr txBox="1"/>
          <p:nvPr/>
        </p:nvSpPr>
        <p:spPr>
          <a:xfrm>
            <a:off x="7022664" y="3325655"/>
            <a:ext cx="47829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28" name="TextBox 127"/>
          <p:cNvSpPr txBox="1"/>
          <p:nvPr/>
        </p:nvSpPr>
        <p:spPr>
          <a:xfrm>
            <a:off x="7500958" y="3325655"/>
            <a:ext cx="150019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29" name="TextBox 128"/>
          <p:cNvSpPr txBox="1"/>
          <p:nvPr/>
        </p:nvSpPr>
        <p:spPr>
          <a:xfrm>
            <a:off x="7022664" y="3571876"/>
            <a:ext cx="47829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31" name="TextBox 130"/>
          <p:cNvSpPr txBox="1"/>
          <p:nvPr/>
        </p:nvSpPr>
        <p:spPr>
          <a:xfrm>
            <a:off x="7500958" y="3571876"/>
            <a:ext cx="150019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35" name="TextBox 134"/>
          <p:cNvSpPr txBox="1"/>
          <p:nvPr/>
        </p:nvSpPr>
        <p:spPr>
          <a:xfrm>
            <a:off x="7000892" y="3857628"/>
            <a:ext cx="1000132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境内目的地</a:t>
            </a:r>
            <a:endParaRPr lang="en-US" sz="1000" dirty="0"/>
          </a:p>
        </p:txBody>
      </p:sp>
      <p:sp>
        <p:nvSpPr>
          <p:cNvPr id="136" name="TextBox 135"/>
          <p:cNvSpPr txBox="1"/>
          <p:nvPr/>
        </p:nvSpPr>
        <p:spPr>
          <a:xfrm>
            <a:off x="8000992" y="3857628"/>
            <a:ext cx="100016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37" name="TextBox 136"/>
          <p:cNvSpPr txBox="1"/>
          <p:nvPr/>
        </p:nvSpPr>
        <p:spPr>
          <a:xfrm>
            <a:off x="7000892" y="4103849"/>
            <a:ext cx="1000132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境内目的地</a:t>
            </a:r>
            <a:endParaRPr lang="en-US" sz="1000" dirty="0"/>
          </a:p>
        </p:txBody>
      </p:sp>
      <p:sp>
        <p:nvSpPr>
          <p:cNvPr id="138" name="TextBox 137"/>
          <p:cNvSpPr txBox="1"/>
          <p:nvPr/>
        </p:nvSpPr>
        <p:spPr>
          <a:xfrm>
            <a:off x="8000992" y="4103849"/>
            <a:ext cx="100016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43" name="TextBox 142"/>
          <p:cNvSpPr txBox="1"/>
          <p:nvPr/>
        </p:nvSpPr>
        <p:spPr>
          <a:xfrm>
            <a:off x="214282" y="4714884"/>
            <a:ext cx="714380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商</a:t>
            </a:r>
            <a:r>
              <a:rPr lang="zh-CN" altLang="en-US" sz="1000" dirty="0" smtClean="0"/>
              <a:t>品序号</a:t>
            </a:r>
            <a:endParaRPr lang="en-US" sz="1000" dirty="0"/>
          </a:p>
        </p:txBody>
      </p:sp>
      <p:sp>
        <p:nvSpPr>
          <p:cNvPr id="144" name="TextBox 143"/>
          <p:cNvSpPr txBox="1"/>
          <p:nvPr/>
        </p:nvSpPr>
        <p:spPr>
          <a:xfrm>
            <a:off x="928662" y="4714885"/>
            <a:ext cx="736152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商品编</a:t>
            </a:r>
            <a:r>
              <a:rPr lang="zh-CN" altLang="en-US" sz="1000" dirty="0" smtClean="0"/>
              <a:t>号</a:t>
            </a:r>
            <a:endParaRPr lang="en-US" sz="1000" dirty="0"/>
          </a:p>
        </p:txBody>
      </p:sp>
      <p:sp>
        <p:nvSpPr>
          <p:cNvPr id="146" name="TextBox 145"/>
          <p:cNvSpPr txBox="1"/>
          <p:nvPr/>
        </p:nvSpPr>
        <p:spPr>
          <a:xfrm>
            <a:off x="214282" y="4968729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47" name="TextBox 146"/>
          <p:cNvSpPr txBox="1"/>
          <p:nvPr/>
        </p:nvSpPr>
        <p:spPr>
          <a:xfrm>
            <a:off x="928662" y="4968729"/>
            <a:ext cx="73615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49" name="TextBox 148"/>
          <p:cNvSpPr txBox="1"/>
          <p:nvPr/>
        </p:nvSpPr>
        <p:spPr>
          <a:xfrm>
            <a:off x="214282" y="5214950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50" name="TextBox 149"/>
          <p:cNvSpPr txBox="1"/>
          <p:nvPr/>
        </p:nvSpPr>
        <p:spPr>
          <a:xfrm>
            <a:off x="928662" y="5214950"/>
            <a:ext cx="73615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52" name="TextBox 151"/>
          <p:cNvSpPr txBox="1"/>
          <p:nvPr/>
        </p:nvSpPr>
        <p:spPr>
          <a:xfrm>
            <a:off x="214282" y="5457909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53" name="TextBox 152"/>
          <p:cNvSpPr txBox="1"/>
          <p:nvPr/>
        </p:nvSpPr>
        <p:spPr>
          <a:xfrm>
            <a:off x="928662" y="5457909"/>
            <a:ext cx="73615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55" name="TextBox 154"/>
          <p:cNvSpPr txBox="1"/>
          <p:nvPr/>
        </p:nvSpPr>
        <p:spPr>
          <a:xfrm>
            <a:off x="1643042" y="4714883"/>
            <a:ext cx="714380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附加编号</a:t>
            </a:r>
            <a:endParaRPr lang="en-US" sz="1000" dirty="0"/>
          </a:p>
        </p:txBody>
      </p:sp>
      <p:sp>
        <p:nvSpPr>
          <p:cNvPr id="156" name="TextBox 155"/>
          <p:cNvSpPr txBox="1"/>
          <p:nvPr/>
        </p:nvSpPr>
        <p:spPr>
          <a:xfrm>
            <a:off x="1643042" y="4968728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57" name="TextBox 156"/>
          <p:cNvSpPr txBox="1"/>
          <p:nvPr/>
        </p:nvSpPr>
        <p:spPr>
          <a:xfrm>
            <a:off x="1643042" y="5214949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58" name="TextBox 157"/>
          <p:cNvSpPr txBox="1"/>
          <p:nvPr/>
        </p:nvSpPr>
        <p:spPr>
          <a:xfrm>
            <a:off x="1643042" y="5457908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59" name="TextBox 158"/>
          <p:cNvSpPr txBox="1"/>
          <p:nvPr/>
        </p:nvSpPr>
        <p:spPr>
          <a:xfrm>
            <a:off x="2357422" y="4714884"/>
            <a:ext cx="85725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商</a:t>
            </a:r>
            <a:r>
              <a:rPr lang="zh-CN" altLang="en-US" sz="1000" dirty="0" smtClean="0"/>
              <a:t>品名称</a:t>
            </a:r>
            <a:endParaRPr lang="en-US" sz="1000" dirty="0"/>
          </a:p>
        </p:txBody>
      </p:sp>
      <p:sp>
        <p:nvSpPr>
          <p:cNvPr id="160" name="TextBox 159"/>
          <p:cNvSpPr txBox="1"/>
          <p:nvPr/>
        </p:nvSpPr>
        <p:spPr>
          <a:xfrm>
            <a:off x="2357422" y="4968728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61" name="TextBox 160"/>
          <p:cNvSpPr txBox="1"/>
          <p:nvPr/>
        </p:nvSpPr>
        <p:spPr>
          <a:xfrm>
            <a:off x="2357422" y="5214949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62" name="TextBox 161"/>
          <p:cNvSpPr txBox="1"/>
          <p:nvPr/>
        </p:nvSpPr>
        <p:spPr>
          <a:xfrm>
            <a:off x="2357422" y="5457908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63" name="TextBox 162"/>
          <p:cNvSpPr txBox="1"/>
          <p:nvPr/>
        </p:nvSpPr>
        <p:spPr>
          <a:xfrm>
            <a:off x="3214678" y="4714884"/>
            <a:ext cx="1428760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规格型号</a:t>
            </a:r>
            <a:endParaRPr lang="en-US" sz="1000" dirty="0"/>
          </a:p>
        </p:txBody>
      </p:sp>
      <p:sp>
        <p:nvSpPr>
          <p:cNvPr id="164" name="TextBox 163"/>
          <p:cNvSpPr txBox="1"/>
          <p:nvPr/>
        </p:nvSpPr>
        <p:spPr>
          <a:xfrm>
            <a:off x="3214678" y="4968728"/>
            <a:ext cx="142876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65" name="TextBox 164"/>
          <p:cNvSpPr txBox="1"/>
          <p:nvPr/>
        </p:nvSpPr>
        <p:spPr>
          <a:xfrm>
            <a:off x="3214678" y="5214949"/>
            <a:ext cx="142876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66" name="TextBox 165"/>
          <p:cNvSpPr txBox="1"/>
          <p:nvPr/>
        </p:nvSpPr>
        <p:spPr>
          <a:xfrm>
            <a:off x="3214678" y="5457908"/>
            <a:ext cx="142876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71" name="TextBox 170"/>
          <p:cNvSpPr txBox="1"/>
          <p:nvPr/>
        </p:nvSpPr>
        <p:spPr>
          <a:xfrm>
            <a:off x="5357818" y="4714883"/>
            <a:ext cx="50006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数量</a:t>
            </a:r>
            <a:endParaRPr lang="en-US" sz="1000" dirty="0"/>
          </a:p>
        </p:txBody>
      </p:sp>
      <p:sp>
        <p:nvSpPr>
          <p:cNvPr id="172" name="TextBox 171"/>
          <p:cNvSpPr txBox="1"/>
          <p:nvPr/>
        </p:nvSpPr>
        <p:spPr>
          <a:xfrm>
            <a:off x="5357818" y="4968728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73" name="TextBox 172"/>
          <p:cNvSpPr txBox="1"/>
          <p:nvPr/>
        </p:nvSpPr>
        <p:spPr>
          <a:xfrm>
            <a:off x="5357818" y="5214949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74" name="TextBox 173"/>
          <p:cNvSpPr txBox="1"/>
          <p:nvPr/>
        </p:nvSpPr>
        <p:spPr>
          <a:xfrm>
            <a:off x="5357818" y="5457908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75" name="TextBox 174"/>
          <p:cNvSpPr txBox="1"/>
          <p:nvPr/>
        </p:nvSpPr>
        <p:spPr>
          <a:xfrm>
            <a:off x="7358082" y="4714884"/>
            <a:ext cx="50006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币制</a:t>
            </a:r>
            <a:endParaRPr lang="en-US" sz="1000" dirty="0"/>
          </a:p>
        </p:txBody>
      </p:sp>
      <p:sp>
        <p:nvSpPr>
          <p:cNvPr id="176" name="TextBox 175"/>
          <p:cNvSpPr txBox="1"/>
          <p:nvPr/>
        </p:nvSpPr>
        <p:spPr>
          <a:xfrm>
            <a:off x="7358082" y="4968728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77" name="TextBox 176"/>
          <p:cNvSpPr txBox="1"/>
          <p:nvPr/>
        </p:nvSpPr>
        <p:spPr>
          <a:xfrm>
            <a:off x="7358082" y="5214949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78" name="TextBox 177"/>
          <p:cNvSpPr txBox="1"/>
          <p:nvPr/>
        </p:nvSpPr>
        <p:spPr>
          <a:xfrm>
            <a:off x="7358082" y="5457908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79" name="TextBox 178"/>
          <p:cNvSpPr txBox="1"/>
          <p:nvPr/>
        </p:nvSpPr>
        <p:spPr>
          <a:xfrm>
            <a:off x="7858148" y="4714884"/>
            <a:ext cx="642942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用途</a:t>
            </a:r>
            <a:endParaRPr lang="en-US" sz="1000" dirty="0"/>
          </a:p>
        </p:txBody>
      </p:sp>
      <p:sp>
        <p:nvSpPr>
          <p:cNvPr id="180" name="TextBox 179"/>
          <p:cNvSpPr txBox="1"/>
          <p:nvPr/>
        </p:nvSpPr>
        <p:spPr>
          <a:xfrm>
            <a:off x="7858148" y="4968728"/>
            <a:ext cx="64294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81" name="TextBox 180"/>
          <p:cNvSpPr txBox="1"/>
          <p:nvPr/>
        </p:nvSpPr>
        <p:spPr>
          <a:xfrm>
            <a:off x="7858148" y="5214949"/>
            <a:ext cx="64294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82" name="TextBox 181"/>
          <p:cNvSpPr txBox="1"/>
          <p:nvPr/>
        </p:nvSpPr>
        <p:spPr>
          <a:xfrm>
            <a:off x="7858148" y="5457908"/>
            <a:ext cx="64294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83" name="TextBox 182"/>
          <p:cNvSpPr txBox="1"/>
          <p:nvPr/>
        </p:nvSpPr>
        <p:spPr>
          <a:xfrm>
            <a:off x="5857884" y="4714884"/>
            <a:ext cx="50006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单位</a:t>
            </a:r>
            <a:endParaRPr lang="en-US" sz="1000" dirty="0"/>
          </a:p>
        </p:txBody>
      </p:sp>
      <p:sp>
        <p:nvSpPr>
          <p:cNvPr id="184" name="TextBox 183"/>
          <p:cNvSpPr txBox="1"/>
          <p:nvPr/>
        </p:nvSpPr>
        <p:spPr>
          <a:xfrm>
            <a:off x="5857884" y="4968729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85" name="TextBox 184"/>
          <p:cNvSpPr txBox="1"/>
          <p:nvPr/>
        </p:nvSpPr>
        <p:spPr>
          <a:xfrm>
            <a:off x="5857884" y="5214950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86" name="TextBox 185"/>
          <p:cNvSpPr txBox="1"/>
          <p:nvPr/>
        </p:nvSpPr>
        <p:spPr>
          <a:xfrm>
            <a:off x="5857884" y="5457909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87" name="TextBox 186"/>
          <p:cNvSpPr txBox="1"/>
          <p:nvPr/>
        </p:nvSpPr>
        <p:spPr>
          <a:xfrm>
            <a:off x="6357950" y="4714884"/>
            <a:ext cx="50006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单价</a:t>
            </a:r>
            <a:endParaRPr lang="en-US" sz="1000" dirty="0"/>
          </a:p>
        </p:txBody>
      </p:sp>
      <p:sp>
        <p:nvSpPr>
          <p:cNvPr id="188" name="TextBox 187"/>
          <p:cNvSpPr txBox="1"/>
          <p:nvPr/>
        </p:nvSpPr>
        <p:spPr>
          <a:xfrm>
            <a:off x="6357950" y="4968729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89" name="TextBox 188"/>
          <p:cNvSpPr txBox="1"/>
          <p:nvPr/>
        </p:nvSpPr>
        <p:spPr>
          <a:xfrm>
            <a:off x="6357950" y="5214950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90" name="TextBox 189"/>
          <p:cNvSpPr txBox="1"/>
          <p:nvPr/>
        </p:nvSpPr>
        <p:spPr>
          <a:xfrm>
            <a:off x="6357950" y="5457909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91" name="TextBox 190"/>
          <p:cNvSpPr txBox="1"/>
          <p:nvPr/>
        </p:nvSpPr>
        <p:spPr>
          <a:xfrm>
            <a:off x="6858016" y="4714884"/>
            <a:ext cx="50006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总价</a:t>
            </a:r>
            <a:endParaRPr lang="en-US" sz="1000" dirty="0"/>
          </a:p>
        </p:txBody>
      </p:sp>
      <p:sp>
        <p:nvSpPr>
          <p:cNvPr id="192" name="TextBox 191"/>
          <p:cNvSpPr txBox="1"/>
          <p:nvPr/>
        </p:nvSpPr>
        <p:spPr>
          <a:xfrm>
            <a:off x="6858016" y="4968729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93" name="TextBox 192"/>
          <p:cNvSpPr txBox="1"/>
          <p:nvPr/>
        </p:nvSpPr>
        <p:spPr>
          <a:xfrm>
            <a:off x="6858016" y="5214950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94" name="TextBox 193"/>
          <p:cNvSpPr txBox="1"/>
          <p:nvPr/>
        </p:nvSpPr>
        <p:spPr>
          <a:xfrm>
            <a:off x="6858016" y="5457909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95" name="TextBox 194"/>
          <p:cNvSpPr txBox="1"/>
          <p:nvPr/>
        </p:nvSpPr>
        <p:spPr>
          <a:xfrm>
            <a:off x="8501090" y="4714884"/>
            <a:ext cx="50006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征免</a:t>
            </a:r>
            <a:endParaRPr lang="en-US" sz="1000" dirty="0"/>
          </a:p>
        </p:txBody>
      </p:sp>
      <p:sp>
        <p:nvSpPr>
          <p:cNvPr id="196" name="TextBox 195"/>
          <p:cNvSpPr txBox="1"/>
          <p:nvPr/>
        </p:nvSpPr>
        <p:spPr>
          <a:xfrm>
            <a:off x="8501090" y="4968728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97" name="TextBox 196"/>
          <p:cNvSpPr txBox="1"/>
          <p:nvPr/>
        </p:nvSpPr>
        <p:spPr>
          <a:xfrm>
            <a:off x="8501090" y="5214949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98" name="TextBox 197"/>
          <p:cNvSpPr txBox="1"/>
          <p:nvPr/>
        </p:nvSpPr>
        <p:spPr>
          <a:xfrm>
            <a:off x="8501090" y="5457908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99" name="TextBox 198"/>
          <p:cNvSpPr txBox="1"/>
          <p:nvPr/>
        </p:nvSpPr>
        <p:spPr>
          <a:xfrm>
            <a:off x="7286644" y="714356"/>
            <a:ext cx="1928826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100" u="sng" dirty="0" smtClean="0"/>
              <a:t>编号</a:t>
            </a:r>
            <a:r>
              <a:rPr lang="en-US" altLang="zh-CN" sz="1100" u="sng" dirty="0" smtClean="0"/>
              <a:t>(</a:t>
            </a:r>
            <a:r>
              <a:rPr lang="zh-CN" altLang="en-US" sz="1100" u="sng" dirty="0" smtClean="0"/>
              <a:t>报关单</a:t>
            </a:r>
            <a:r>
              <a:rPr lang="en-US" altLang="zh-CN" sz="1100" u="sng" dirty="0" smtClean="0"/>
              <a:t>)</a:t>
            </a:r>
            <a:r>
              <a:rPr lang="zh-CN" altLang="en-US" sz="1100" u="sng" dirty="0" smtClean="0"/>
              <a:t> ：</a:t>
            </a:r>
            <a:r>
              <a:rPr lang="en-US" altLang="zh-CN" sz="1100" u="sng" dirty="0" smtClean="0"/>
              <a:t>12345678</a:t>
            </a:r>
            <a:r>
              <a:rPr lang="zh-CN" altLang="en-US" sz="1100" u="sng" dirty="0" smtClean="0"/>
              <a:t> </a:t>
            </a:r>
            <a:endParaRPr lang="en-US" sz="1100" u="sng" dirty="0"/>
          </a:p>
        </p:txBody>
      </p:sp>
      <p:sp>
        <p:nvSpPr>
          <p:cNvPr id="200" name="Rounded Rectangle 199"/>
          <p:cNvSpPr/>
          <p:nvPr/>
        </p:nvSpPr>
        <p:spPr>
          <a:xfrm>
            <a:off x="7715272" y="2786058"/>
            <a:ext cx="571504" cy="2143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编辑</a:t>
            </a:r>
            <a:endParaRPr lang="en-US" sz="1000" dirty="0"/>
          </a:p>
        </p:txBody>
      </p:sp>
      <p:sp>
        <p:nvSpPr>
          <p:cNvPr id="201" name="Rounded Rectangle 200"/>
          <p:cNvSpPr/>
          <p:nvPr/>
        </p:nvSpPr>
        <p:spPr>
          <a:xfrm>
            <a:off x="7000892" y="4429132"/>
            <a:ext cx="571504" cy="2143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/>
              <a:t>追加</a:t>
            </a:r>
            <a:endParaRPr lang="en-US" sz="1000" dirty="0"/>
          </a:p>
        </p:txBody>
      </p:sp>
      <p:sp>
        <p:nvSpPr>
          <p:cNvPr id="202" name="Rounded Rectangle 201"/>
          <p:cNvSpPr/>
          <p:nvPr/>
        </p:nvSpPr>
        <p:spPr>
          <a:xfrm>
            <a:off x="8429652" y="4429132"/>
            <a:ext cx="571504" cy="2143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/>
              <a:t>删除</a:t>
            </a:r>
            <a:endParaRPr lang="en-US" sz="1000" dirty="0"/>
          </a:p>
        </p:txBody>
      </p:sp>
      <p:sp>
        <p:nvSpPr>
          <p:cNvPr id="203" name="Rounded Rectangle 202"/>
          <p:cNvSpPr/>
          <p:nvPr/>
        </p:nvSpPr>
        <p:spPr>
          <a:xfrm>
            <a:off x="7715272" y="4429132"/>
            <a:ext cx="571504" cy="2143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编辑</a:t>
            </a:r>
            <a:endParaRPr lang="en-US" sz="1000" dirty="0"/>
          </a:p>
        </p:txBody>
      </p:sp>
      <p:sp>
        <p:nvSpPr>
          <p:cNvPr id="204" name="TextBox 203"/>
          <p:cNvSpPr txBox="1"/>
          <p:nvPr/>
        </p:nvSpPr>
        <p:spPr>
          <a:xfrm>
            <a:off x="4643438" y="4714883"/>
            <a:ext cx="714380" cy="400110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原产地</a:t>
            </a:r>
            <a:endParaRPr lang="en-US" sz="1000" dirty="0" smtClean="0"/>
          </a:p>
          <a:p>
            <a:endParaRPr lang="en-US" sz="1000" dirty="0"/>
          </a:p>
        </p:txBody>
      </p:sp>
      <p:sp>
        <p:nvSpPr>
          <p:cNvPr id="205" name="TextBox 204"/>
          <p:cNvSpPr txBox="1"/>
          <p:nvPr/>
        </p:nvSpPr>
        <p:spPr>
          <a:xfrm>
            <a:off x="4643438" y="4968728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06" name="TextBox 205"/>
          <p:cNvSpPr txBox="1"/>
          <p:nvPr/>
        </p:nvSpPr>
        <p:spPr>
          <a:xfrm>
            <a:off x="4643438" y="5214949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07" name="TextBox 206"/>
          <p:cNvSpPr txBox="1"/>
          <p:nvPr/>
        </p:nvSpPr>
        <p:spPr>
          <a:xfrm>
            <a:off x="4643438" y="5457908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1010244"/>
            <a:ext cx="857256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预录</a:t>
            </a:r>
            <a:r>
              <a:rPr lang="zh-CN" altLang="en-US" sz="1000" dirty="0" smtClean="0"/>
              <a:t>入编号</a:t>
            </a:r>
            <a:endParaRPr lang="en-US" sz="1000" dirty="0"/>
          </a:p>
        </p:txBody>
      </p:sp>
      <p:sp>
        <p:nvSpPr>
          <p:cNvPr id="5" name="TextBox 4"/>
          <p:cNvSpPr txBox="1"/>
          <p:nvPr/>
        </p:nvSpPr>
        <p:spPr>
          <a:xfrm>
            <a:off x="1071538" y="1010243"/>
            <a:ext cx="585791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6" name="TextBox 5"/>
          <p:cNvSpPr txBox="1"/>
          <p:nvPr/>
        </p:nvSpPr>
        <p:spPr>
          <a:xfrm>
            <a:off x="214282" y="1253202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海关编号</a:t>
            </a:r>
            <a:endParaRPr lang="en-US" sz="1000" dirty="0"/>
          </a:p>
        </p:txBody>
      </p:sp>
      <p:sp>
        <p:nvSpPr>
          <p:cNvPr id="10" name="TextBox 9"/>
          <p:cNvSpPr txBox="1"/>
          <p:nvPr/>
        </p:nvSpPr>
        <p:spPr>
          <a:xfrm>
            <a:off x="928662" y="1253203"/>
            <a:ext cx="242889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1" name="TextBox 10"/>
          <p:cNvSpPr txBox="1"/>
          <p:nvPr/>
        </p:nvSpPr>
        <p:spPr>
          <a:xfrm>
            <a:off x="3357554" y="1253201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出</a:t>
            </a:r>
            <a:r>
              <a:rPr lang="zh-CN" altLang="en-US" sz="1000" dirty="0" smtClean="0"/>
              <a:t>口口岸</a:t>
            </a:r>
            <a:endParaRPr lang="en-US" sz="1000" dirty="0"/>
          </a:p>
        </p:txBody>
      </p:sp>
      <p:sp>
        <p:nvSpPr>
          <p:cNvPr id="12" name="TextBox 11"/>
          <p:cNvSpPr txBox="1"/>
          <p:nvPr/>
        </p:nvSpPr>
        <p:spPr>
          <a:xfrm>
            <a:off x="4071934" y="1253203"/>
            <a:ext cx="285752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3" name="TextBox 12"/>
          <p:cNvSpPr txBox="1"/>
          <p:nvPr/>
        </p:nvSpPr>
        <p:spPr>
          <a:xfrm>
            <a:off x="214282" y="1499423"/>
            <a:ext cx="714380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备案号</a:t>
            </a:r>
            <a:r>
              <a:rPr lang="en-US" altLang="zh-CN" sz="1000" dirty="0" smtClean="0"/>
              <a:t>	</a:t>
            </a:r>
            <a:endParaRPr lang="en-US" sz="1000" dirty="0"/>
          </a:p>
        </p:txBody>
      </p:sp>
      <p:sp>
        <p:nvSpPr>
          <p:cNvPr id="14" name="TextBox 13"/>
          <p:cNvSpPr txBox="1"/>
          <p:nvPr/>
        </p:nvSpPr>
        <p:spPr>
          <a:xfrm>
            <a:off x="928662" y="1499424"/>
            <a:ext cx="242889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5" name="TextBox 14"/>
          <p:cNvSpPr txBox="1"/>
          <p:nvPr/>
        </p:nvSpPr>
        <p:spPr>
          <a:xfrm>
            <a:off x="3357554" y="1499422"/>
            <a:ext cx="928694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合同协议号</a:t>
            </a:r>
            <a:endParaRPr lang="en-US" sz="1000" dirty="0"/>
          </a:p>
        </p:txBody>
      </p:sp>
      <p:sp>
        <p:nvSpPr>
          <p:cNvPr id="16" name="TextBox 15"/>
          <p:cNvSpPr txBox="1"/>
          <p:nvPr/>
        </p:nvSpPr>
        <p:spPr>
          <a:xfrm>
            <a:off x="4286248" y="1499424"/>
            <a:ext cx="264320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7" name="TextBox 16"/>
          <p:cNvSpPr txBox="1"/>
          <p:nvPr/>
        </p:nvSpPr>
        <p:spPr>
          <a:xfrm>
            <a:off x="214282" y="1713737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出</a:t>
            </a:r>
            <a:r>
              <a:rPr lang="zh-CN" altLang="en-US" sz="1000" dirty="0" smtClean="0"/>
              <a:t>口日期</a:t>
            </a:r>
            <a:endParaRPr lang="en-US" sz="1000" dirty="0"/>
          </a:p>
        </p:txBody>
      </p:sp>
      <p:sp>
        <p:nvSpPr>
          <p:cNvPr id="18" name="TextBox 17"/>
          <p:cNvSpPr txBox="1"/>
          <p:nvPr/>
        </p:nvSpPr>
        <p:spPr>
          <a:xfrm>
            <a:off x="928662" y="1713738"/>
            <a:ext cx="242889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9" name="TextBox 18"/>
          <p:cNvSpPr txBox="1"/>
          <p:nvPr/>
        </p:nvSpPr>
        <p:spPr>
          <a:xfrm>
            <a:off x="3357554" y="1713736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申报日期</a:t>
            </a:r>
            <a:endParaRPr lang="en-US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071934" y="1713738"/>
            <a:ext cx="285752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1" name="TextBox 20"/>
          <p:cNvSpPr txBox="1"/>
          <p:nvPr/>
        </p:nvSpPr>
        <p:spPr>
          <a:xfrm>
            <a:off x="214282" y="1938938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经营单位</a:t>
            </a:r>
            <a:endParaRPr lang="en-US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928662" y="1938939"/>
            <a:ext cx="3143272" cy="2462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071934" y="1938938"/>
            <a:ext cx="1000132" cy="24622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运输方式</a:t>
            </a:r>
            <a:endParaRPr lang="en-US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5072066" y="1938938"/>
            <a:ext cx="1857388" cy="2462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9" name="TextBox 28"/>
          <p:cNvSpPr txBox="1"/>
          <p:nvPr/>
        </p:nvSpPr>
        <p:spPr>
          <a:xfrm>
            <a:off x="214282" y="2181146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发</a:t>
            </a:r>
            <a:r>
              <a:rPr lang="zh-CN" altLang="en-US" sz="1000" dirty="0" smtClean="0"/>
              <a:t>货单位</a:t>
            </a:r>
            <a:endParaRPr lang="en-US" sz="1000" dirty="0"/>
          </a:p>
        </p:txBody>
      </p:sp>
      <p:sp>
        <p:nvSpPr>
          <p:cNvPr id="30" name="TextBox 29"/>
          <p:cNvSpPr txBox="1"/>
          <p:nvPr/>
        </p:nvSpPr>
        <p:spPr>
          <a:xfrm>
            <a:off x="928662" y="2181147"/>
            <a:ext cx="3143272" cy="2462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1" name="TextBox 30"/>
          <p:cNvSpPr txBox="1"/>
          <p:nvPr/>
        </p:nvSpPr>
        <p:spPr>
          <a:xfrm>
            <a:off x="4071934" y="2181145"/>
            <a:ext cx="1000132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运输工具名称</a:t>
            </a:r>
            <a:endParaRPr lang="en-US" sz="1000" dirty="0"/>
          </a:p>
        </p:txBody>
      </p:sp>
      <p:sp>
        <p:nvSpPr>
          <p:cNvPr id="32" name="TextBox 31"/>
          <p:cNvSpPr txBox="1"/>
          <p:nvPr/>
        </p:nvSpPr>
        <p:spPr>
          <a:xfrm>
            <a:off x="5072066" y="2181146"/>
            <a:ext cx="185738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3" name="TextBox 32"/>
          <p:cNvSpPr txBox="1"/>
          <p:nvPr/>
        </p:nvSpPr>
        <p:spPr>
          <a:xfrm>
            <a:off x="214282" y="2428118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申报单位</a:t>
            </a:r>
            <a:endParaRPr lang="en-US" sz="1000" dirty="0"/>
          </a:p>
        </p:txBody>
      </p:sp>
      <p:sp>
        <p:nvSpPr>
          <p:cNvPr id="34" name="TextBox 33"/>
          <p:cNvSpPr txBox="1"/>
          <p:nvPr/>
        </p:nvSpPr>
        <p:spPr>
          <a:xfrm>
            <a:off x="928662" y="2428119"/>
            <a:ext cx="3143272" cy="2462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5" name="TextBox 34"/>
          <p:cNvSpPr txBox="1"/>
          <p:nvPr/>
        </p:nvSpPr>
        <p:spPr>
          <a:xfrm>
            <a:off x="4071934" y="2428118"/>
            <a:ext cx="642942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航次号</a:t>
            </a:r>
            <a:endParaRPr lang="en-US" sz="1000" dirty="0"/>
          </a:p>
        </p:txBody>
      </p:sp>
      <p:sp>
        <p:nvSpPr>
          <p:cNvPr id="36" name="TextBox 35"/>
          <p:cNvSpPr txBox="1"/>
          <p:nvPr/>
        </p:nvSpPr>
        <p:spPr>
          <a:xfrm>
            <a:off x="4714876" y="2428119"/>
            <a:ext cx="221457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7" name="TextBox 36"/>
          <p:cNvSpPr txBox="1"/>
          <p:nvPr/>
        </p:nvSpPr>
        <p:spPr>
          <a:xfrm>
            <a:off x="214282" y="2671075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提</a:t>
            </a:r>
            <a:r>
              <a:rPr lang="zh-CN" altLang="en-US" sz="1000" dirty="0" smtClean="0"/>
              <a:t>运单号</a:t>
            </a:r>
            <a:endParaRPr lang="en-US" sz="1000" dirty="0"/>
          </a:p>
        </p:txBody>
      </p:sp>
      <p:sp>
        <p:nvSpPr>
          <p:cNvPr id="38" name="TextBox 37"/>
          <p:cNvSpPr txBox="1"/>
          <p:nvPr/>
        </p:nvSpPr>
        <p:spPr>
          <a:xfrm>
            <a:off x="928662" y="2671076"/>
            <a:ext cx="114300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41" name="TextBox 40"/>
          <p:cNvSpPr txBox="1"/>
          <p:nvPr/>
        </p:nvSpPr>
        <p:spPr>
          <a:xfrm>
            <a:off x="2071670" y="2671076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贸易方式</a:t>
            </a:r>
            <a:endParaRPr lang="en-US" sz="1000" dirty="0"/>
          </a:p>
        </p:txBody>
      </p:sp>
      <p:sp>
        <p:nvSpPr>
          <p:cNvPr id="42" name="TextBox 41"/>
          <p:cNvSpPr txBox="1"/>
          <p:nvPr/>
        </p:nvSpPr>
        <p:spPr>
          <a:xfrm>
            <a:off x="2786050" y="2671077"/>
            <a:ext cx="100013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43" name="TextBox 42"/>
          <p:cNvSpPr txBox="1"/>
          <p:nvPr/>
        </p:nvSpPr>
        <p:spPr>
          <a:xfrm>
            <a:off x="3786182" y="2671077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征免性质</a:t>
            </a:r>
            <a:endParaRPr lang="en-US" sz="1000" dirty="0"/>
          </a:p>
        </p:txBody>
      </p:sp>
      <p:sp>
        <p:nvSpPr>
          <p:cNvPr id="44" name="TextBox 43"/>
          <p:cNvSpPr txBox="1"/>
          <p:nvPr/>
        </p:nvSpPr>
        <p:spPr>
          <a:xfrm>
            <a:off x="4500562" y="2670326"/>
            <a:ext cx="100013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45" name="TextBox 44"/>
          <p:cNvSpPr txBox="1"/>
          <p:nvPr/>
        </p:nvSpPr>
        <p:spPr>
          <a:xfrm>
            <a:off x="5500694" y="2670326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结汇方式</a:t>
            </a:r>
            <a:endParaRPr lang="en-US" sz="1000" dirty="0"/>
          </a:p>
        </p:txBody>
      </p:sp>
      <p:sp>
        <p:nvSpPr>
          <p:cNvPr id="46" name="TextBox 45"/>
          <p:cNvSpPr txBox="1"/>
          <p:nvPr/>
        </p:nvSpPr>
        <p:spPr>
          <a:xfrm>
            <a:off x="6215074" y="2671077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47" name="TextBox 46"/>
          <p:cNvSpPr txBox="1"/>
          <p:nvPr/>
        </p:nvSpPr>
        <p:spPr>
          <a:xfrm>
            <a:off x="214282" y="2907162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纳税单位</a:t>
            </a:r>
            <a:endParaRPr lang="en-US" sz="1000" dirty="0"/>
          </a:p>
        </p:txBody>
      </p:sp>
      <p:sp>
        <p:nvSpPr>
          <p:cNvPr id="48" name="TextBox 47"/>
          <p:cNvSpPr txBox="1"/>
          <p:nvPr/>
        </p:nvSpPr>
        <p:spPr>
          <a:xfrm>
            <a:off x="928662" y="2907163"/>
            <a:ext cx="114300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49" name="TextBox 48"/>
          <p:cNvSpPr txBox="1"/>
          <p:nvPr/>
        </p:nvSpPr>
        <p:spPr>
          <a:xfrm>
            <a:off x="2071670" y="2907162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许可证号</a:t>
            </a:r>
            <a:endParaRPr lang="en-US" sz="1000" dirty="0"/>
          </a:p>
        </p:txBody>
      </p:sp>
      <p:sp>
        <p:nvSpPr>
          <p:cNvPr id="50" name="TextBox 49"/>
          <p:cNvSpPr txBox="1"/>
          <p:nvPr/>
        </p:nvSpPr>
        <p:spPr>
          <a:xfrm>
            <a:off x="2786050" y="2907163"/>
            <a:ext cx="414340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51" name="TextBox 50"/>
          <p:cNvSpPr txBox="1"/>
          <p:nvPr/>
        </p:nvSpPr>
        <p:spPr>
          <a:xfrm>
            <a:off x="214282" y="3153385"/>
            <a:ext cx="107157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运抵国</a:t>
            </a:r>
            <a:r>
              <a:rPr lang="en-US" altLang="zh-CN" sz="1000" dirty="0" smtClean="0"/>
              <a:t>(</a:t>
            </a:r>
            <a:r>
              <a:rPr lang="zh-CN" altLang="en-US" sz="1000" dirty="0" smtClean="0"/>
              <a:t>地区</a:t>
            </a:r>
            <a:r>
              <a:rPr lang="en-US" altLang="zh-CN" sz="1000" dirty="0" smtClean="0"/>
              <a:t>)</a:t>
            </a:r>
            <a:endParaRPr lang="en-US" sz="1000" dirty="0"/>
          </a:p>
        </p:txBody>
      </p:sp>
      <p:sp>
        <p:nvSpPr>
          <p:cNvPr id="52" name="TextBox 51"/>
          <p:cNvSpPr txBox="1"/>
          <p:nvPr/>
        </p:nvSpPr>
        <p:spPr>
          <a:xfrm>
            <a:off x="1285852" y="3153385"/>
            <a:ext cx="114300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53" name="TextBox 52"/>
          <p:cNvSpPr txBox="1"/>
          <p:nvPr/>
        </p:nvSpPr>
        <p:spPr>
          <a:xfrm>
            <a:off x="2428860" y="3153384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指运港</a:t>
            </a:r>
            <a:endParaRPr lang="en-US" sz="1000" dirty="0"/>
          </a:p>
        </p:txBody>
      </p:sp>
      <p:sp>
        <p:nvSpPr>
          <p:cNvPr id="54" name="TextBox 53"/>
          <p:cNvSpPr txBox="1"/>
          <p:nvPr/>
        </p:nvSpPr>
        <p:spPr>
          <a:xfrm>
            <a:off x="3143240" y="3153385"/>
            <a:ext cx="171451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55" name="TextBox 54"/>
          <p:cNvSpPr txBox="1"/>
          <p:nvPr/>
        </p:nvSpPr>
        <p:spPr>
          <a:xfrm>
            <a:off x="4857752" y="3153384"/>
            <a:ext cx="928694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境内货源地</a:t>
            </a:r>
            <a:endParaRPr lang="en-US" sz="1000" dirty="0"/>
          </a:p>
        </p:txBody>
      </p:sp>
      <p:sp>
        <p:nvSpPr>
          <p:cNvPr id="56" name="TextBox 55"/>
          <p:cNvSpPr txBox="1"/>
          <p:nvPr/>
        </p:nvSpPr>
        <p:spPr>
          <a:xfrm>
            <a:off x="5786446" y="3153385"/>
            <a:ext cx="114300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57" name="TextBox 56"/>
          <p:cNvSpPr txBox="1"/>
          <p:nvPr/>
        </p:nvSpPr>
        <p:spPr>
          <a:xfrm>
            <a:off x="214282" y="3395591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批准文号</a:t>
            </a:r>
            <a:endParaRPr lang="en-US" sz="1000" dirty="0"/>
          </a:p>
        </p:txBody>
      </p:sp>
      <p:sp>
        <p:nvSpPr>
          <p:cNvPr id="58" name="TextBox 57"/>
          <p:cNvSpPr txBox="1"/>
          <p:nvPr/>
        </p:nvSpPr>
        <p:spPr>
          <a:xfrm>
            <a:off x="928662" y="3395592"/>
            <a:ext cx="3929090" cy="246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59" name="TextBox 58"/>
          <p:cNvSpPr txBox="1"/>
          <p:nvPr/>
        </p:nvSpPr>
        <p:spPr>
          <a:xfrm>
            <a:off x="4857752" y="3395591"/>
            <a:ext cx="928694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成</a:t>
            </a:r>
            <a:r>
              <a:rPr lang="zh-CN" altLang="en-US" sz="1000" dirty="0" smtClean="0"/>
              <a:t>交放肆</a:t>
            </a:r>
            <a:endParaRPr lang="en-US" sz="1000" dirty="0"/>
          </a:p>
        </p:txBody>
      </p:sp>
      <p:sp>
        <p:nvSpPr>
          <p:cNvPr id="60" name="TextBox 59"/>
          <p:cNvSpPr txBox="1"/>
          <p:nvPr/>
        </p:nvSpPr>
        <p:spPr>
          <a:xfrm>
            <a:off x="5786446" y="3395592"/>
            <a:ext cx="114300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61" name="TextBox 60"/>
          <p:cNvSpPr txBox="1"/>
          <p:nvPr/>
        </p:nvSpPr>
        <p:spPr>
          <a:xfrm>
            <a:off x="214282" y="3642565"/>
            <a:ext cx="571504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运费</a:t>
            </a:r>
            <a:endParaRPr lang="en-US" sz="1000" dirty="0"/>
          </a:p>
        </p:txBody>
      </p:sp>
      <p:sp>
        <p:nvSpPr>
          <p:cNvPr id="62" name="TextBox 61"/>
          <p:cNvSpPr txBox="1"/>
          <p:nvPr/>
        </p:nvSpPr>
        <p:spPr>
          <a:xfrm>
            <a:off x="785786" y="3642565"/>
            <a:ext cx="42862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63" name="TextBox 62"/>
          <p:cNvSpPr txBox="1"/>
          <p:nvPr/>
        </p:nvSpPr>
        <p:spPr>
          <a:xfrm>
            <a:off x="1214414" y="3642565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64" name="TextBox 63"/>
          <p:cNvSpPr txBox="1"/>
          <p:nvPr/>
        </p:nvSpPr>
        <p:spPr>
          <a:xfrm>
            <a:off x="2071670" y="3642564"/>
            <a:ext cx="42862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73" name="TextBox 72"/>
          <p:cNvSpPr txBox="1"/>
          <p:nvPr/>
        </p:nvSpPr>
        <p:spPr>
          <a:xfrm>
            <a:off x="2500298" y="3642564"/>
            <a:ext cx="571504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保费</a:t>
            </a:r>
            <a:endParaRPr lang="en-US" sz="1000" dirty="0"/>
          </a:p>
        </p:txBody>
      </p:sp>
      <p:sp>
        <p:nvSpPr>
          <p:cNvPr id="74" name="TextBox 73"/>
          <p:cNvSpPr txBox="1"/>
          <p:nvPr/>
        </p:nvSpPr>
        <p:spPr>
          <a:xfrm>
            <a:off x="3071802" y="3642564"/>
            <a:ext cx="42862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75" name="TextBox 74"/>
          <p:cNvSpPr txBox="1"/>
          <p:nvPr/>
        </p:nvSpPr>
        <p:spPr>
          <a:xfrm>
            <a:off x="3500430" y="3642564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76" name="TextBox 75"/>
          <p:cNvSpPr txBox="1"/>
          <p:nvPr/>
        </p:nvSpPr>
        <p:spPr>
          <a:xfrm>
            <a:off x="4357686" y="3642563"/>
            <a:ext cx="42862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77" name="TextBox 76"/>
          <p:cNvSpPr txBox="1"/>
          <p:nvPr/>
        </p:nvSpPr>
        <p:spPr>
          <a:xfrm>
            <a:off x="4786314" y="3642564"/>
            <a:ext cx="571504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杂费</a:t>
            </a:r>
            <a:endParaRPr lang="en-US" sz="1000" dirty="0"/>
          </a:p>
        </p:txBody>
      </p:sp>
      <p:sp>
        <p:nvSpPr>
          <p:cNvPr id="78" name="TextBox 77"/>
          <p:cNvSpPr txBox="1"/>
          <p:nvPr/>
        </p:nvSpPr>
        <p:spPr>
          <a:xfrm>
            <a:off x="5357818" y="3642564"/>
            <a:ext cx="42862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79" name="TextBox 78"/>
          <p:cNvSpPr txBox="1"/>
          <p:nvPr/>
        </p:nvSpPr>
        <p:spPr>
          <a:xfrm>
            <a:off x="5786446" y="3642564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80" name="TextBox 79"/>
          <p:cNvSpPr txBox="1"/>
          <p:nvPr/>
        </p:nvSpPr>
        <p:spPr>
          <a:xfrm>
            <a:off x="6643702" y="3642563"/>
            <a:ext cx="28575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81" name="TextBox 80"/>
          <p:cNvSpPr txBox="1"/>
          <p:nvPr/>
        </p:nvSpPr>
        <p:spPr>
          <a:xfrm>
            <a:off x="214282" y="3885522"/>
            <a:ext cx="571504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件数</a:t>
            </a:r>
            <a:endParaRPr lang="en-US" sz="1000" dirty="0"/>
          </a:p>
        </p:txBody>
      </p:sp>
      <p:sp>
        <p:nvSpPr>
          <p:cNvPr id="82" name="TextBox 81"/>
          <p:cNvSpPr txBox="1"/>
          <p:nvPr/>
        </p:nvSpPr>
        <p:spPr>
          <a:xfrm>
            <a:off x="785786" y="3885522"/>
            <a:ext cx="785818" cy="246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83" name="TextBox 82"/>
          <p:cNvSpPr txBox="1"/>
          <p:nvPr/>
        </p:nvSpPr>
        <p:spPr>
          <a:xfrm>
            <a:off x="1571604" y="3884772"/>
            <a:ext cx="785818" cy="2469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包装种类</a:t>
            </a:r>
            <a:endParaRPr lang="en-US" sz="1000" dirty="0"/>
          </a:p>
        </p:txBody>
      </p:sp>
      <p:sp>
        <p:nvSpPr>
          <p:cNvPr id="84" name="TextBox 83"/>
          <p:cNvSpPr txBox="1"/>
          <p:nvPr/>
        </p:nvSpPr>
        <p:spPr>
          <a:xfrm>
            <a:off x="2357422" y="3886273"/>
            <a:ext cx="114300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85" name="TextBox 84"/>
          <p:cNvSpPr txBox="1"/>
          <p:nvPr/>
        </p:nvSpPr>
        <p:spPr>
          <a:xfrm>
            <a:off x="3500430" y="3884772"/>
            <a:ext cx="785818" cy="2469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毛重</a:t>
            </a:r>
            <a:r>
              <a:rPr lang="en-US" altLang="zh-CN" sz="1000" dirty="0" smtClean="0"/>
              <a:t>(KG)</a:t>
            </a:r>
            <a:endParaRPr lang="en-US" sz="1000" dirty="0"/>
          </a:p>
        </p:txBody>
      </p:sp>
      <p:sp>
        <p:nvSpPr>
          <p:cNvPr id="86" name="TextBox 85"/>
          <p:cNvSpPr txBox="1"/>
          <p:nvPr/>
        </p:nvSpPr>
        <p:spPr>
          <a:xfrm>
            <a:off x="4286248" y="3884772"/>
            <a:ext cx="928694" cy="246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89" name="TextBox 88"/>
          <p:cNvSpPr txBox="1"/>
          <p:nvPr/>
        </p:nvSpPr>
        <p:spPr>
          <a:xfrm>
            <a:off x="5214942" y="3884772"/>
            <a:ext cx="785818" cy="2469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净</a:t>
            </a:r>
            <a:r>
              <a:rPr lang="zh-CN" altLang="en-US" sz="1000" dirty="0" smtClean="0"/>
              <a:t>重</a:t>
            </a:r>
            <a:r>
              <a:rPr lang="en-US" altLang="zh-CN" sz="1000" dirty="0" smtClean="0"/>
              <a:t>(KG)</a:t>
            </a:r>
            <a:endParaRPr lang="en-US" sz="1000" dirty="0"/>
          </a:p>
        </p:txBody>
      </p:sp>
      <p:sp>
        <p:nvSpPr>
          <p:cNvPr id="90" name="TextBox 89"/>
          <p:cNvSpPr txBox="1"/>
          <p:nvPr/>
        </p:nvSpPr>
        <p:spPr>
          <a:xfrm>
            <a:off x="6000760" y="3884772"/>
            <a:ext cx="928694" cy="246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91" name="TextBox 90"/>
          <p:cNvSpPr txBox="1"/>
          <p:nvPr/>
        </p:nvSpPr>
        <p:spPr>
          <a:xfrm>
            <a:off x="214282" y="4131744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集装箱号</a:t>
            </a:r>
            <a:endParaRPr lang="en-US" sz="1000" dirty="0"/>
          </a:p>
        </p:txBody>
      </p:sp>
      <p:sp>
        <p:nvSpPr>
          <p:cNvPr id="92" name="TextBox 91"/>
          <p:cNvSpPr txBox="1"/>
          <p:nvPr/>
        </p:nvSpPr>
        <p:spPr>
          <a:xfrm>
            <a:off x="928662" y="4131745"/>
            <a:ext cx="257176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93" name="TextBox 92"/>
          <p:cNvSpPr txBox="1"/>
          <p:nvPr/>
        </p:nvSpPr>
        <p:spPr>
          <a:xfrm>
            <a:off x="3500430" y="4131744"/>
            <a:ext cx="785818" cy="2469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随附单证</a:t>
            </a:r>
            <a:endParaRPr lang="en-US" sz="1000" dirty="0"/>
          </a:p>
        </p:txBody>
      </p:sp>
      <p:sp>
        <p:nvSpPr>
          <p:cNvPr id="94" name="TextBox 93"/>
          <p:cNvSpPr txBox="1"/>
          <p:nvPr/>
        </p:nvSpPr>
        <p:spPr>
          <a:xfrm>
            <a:off x="4286248" y="4131744"/>
            <a:ext cx="928694" cy="246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95" name="TextBox 94"/>
          <p:cNvSpPr txBox="1"/>
          <p:nvPr/>
        </p:nvSpPr>
        <p:spPr>
          <a:xfrm>
            <a:off x="5214942" y="4131744"/>
            <a:ext cx="785818" cy="2469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生产厂家</a:t>
            </a:r>
            <a:endParaRPr lang="en-US" sz="1000" dirty="0"/>
          </a:p>
        </p:txBody>
      </p:sp>
      <p:sp>
        <p:nvSpPr>
          <p:cNvPr id="96" name="TextBox 95"/>
          <p:cNvSpPr txBox="1"/>
          <p:nvPr/>
        </p:nvSpPr>
        <p:spPr>
          <a:xfrm>
            <a:off x="6000760" y="4131744"/>
            <a:ext cx="928694" cy="246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97" name="TextBox 96"/>
          <p:cNvSpPr txBox="1"/>
          <p:nvPr/>
        </p:nvSpPr>
        <p:spPr>
          <a:xfrm>
            <a:off x="214282" y="4375452"/>
            <a:ext cx="928694" cy="24622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报关单类型</a:t>
            </a:r>
            <a:endParaRPr lang="en-US" sz="1000" dirty="0"/>
          </a:p>
        </p:txBody>
      </p:sp>
      <p:sp>
        <p:nvSpPr>
          <p:cNvPr id="98" name="TextBox 97"/>
          <p:cNvSpPr txBox="1"/>
          <p:nvPr/>
        </p:nvSpPr>
        <p:spPr>
          <a:xfrm>
            <a:off x="1142976" y="4375453"/>
            <a:ext cx="200026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99" name="TextBox 98"/>
          <p:cNvSpPr txBox="1"/>
          <p:nvPr/>
        </p:nvSpPr>
        <p:spPr>
          <a:xfrm>
            <a:off x="3143240" y="4374702"/>
            <a:ext cx="785818" cy="2469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备          注</a:t>
            </a:r>
            <a:endParaRPr lang="en-US" sz="1000" dirty="0"/>
          </a:p>
        </p:txBody>
      </p:sp>
      <p:sp>
        <p:nvSpPr>
          <p:cNvPr id="100" name="TextBox 99"/>
          <p:cNvSpPr txBox="1"/>
          <p:nvPr/>
        </p:nvSpPr>
        <p:spPr>
          <a:xfrm>
            <a:off x="3929058" y="4374702"/>
            <a:ext cx="3000396" cy="246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01" name="TextBox 100"/>
          <p:cNvSpPr txBox="1"/>
          <p:nvPr/>
        </p:nvSpPr>
        <p:spPr>
          <a:xfrm>
            <a:off x="2214546" y="142852"/>
            <a:ext cx="535785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中和人民共和国海关出口货物报关单</a:t>
            </a:r>
            <a:endParaRPr lang="en-US" altLang="zh-CN" sz="2400" b="1" dirty="0" smtClean="0"/>
          </a:p>
          <a:p>
            <a:pPr algn="ctr"/>
            <a:r>
              <a:rPr lang="zh-CN" altLang="en-US" sz="2400" b="1" dirty="0" smtClean="0"/>
              <a:t>（一般贸易）</a:t>
            </a:r>
            <a:endParaRPr lang="en-US" sz="2400" b="1" dirty="0"/>
          </a:p>
        </p:txBody>
      </p:sp>
      <p:sp>
        <p:nvSpPr>
          <p:cNvPr id="102" name="TextBox 101"/>
          <p:cNvSpPr txBox="1"/>
          <p:nvPr/>
        </p:nvSpPr>
        <p:spPr>
          <a:xfrm>
            <a:off x="7022664" y="1000108"/>
            <a:ext cx="835484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集装箱号</a:t>
            </a:r>
            <a:endParaRPr lang="en-US" sz="1000" dirty="0"/>
          </a:p>
        </p:txBody>
      </p:sp>
      <p:sp>
        <p:nvSpPr>
          <p:cNvPr id="103" name="TextBox 102"/>
          <p:cNvSpPr txBox="1"/>
          <p:nvPr/>
        </p:nvSpPr>
        <p:spPr>
          <a:xfrm>
            <a:off x="7858148" y="1000109"/>
            <a:ext cx="50006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规格</a:t>
            </a:r>
            <a:endParaRPr lang="en-US" sz="1000" dirty="0"/>
          </a:p>
        </p:txBody>
      </p:sp>
      <p:sp>
        <p:nvSpPr>
          <p:cNvPr id="104" name="TextBox 103"/>
          <p:cNvSpPr txBox="1"/>
          <p:nvPr/>
        </p:nvSpPr>
        <p:spPr>
          <a:xfrm>
            <a:off x="8358214" y="1000108"/>
            <a:ext cx="642942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自重</a:t>
            </a:r>
            <a:r>
              <a:rPr lang="en-US" altLang="zh-CN" sz="1000" dirty="0" smtClean="0"/>
              <a:t>(KG)</a:t>
            </a:r>
            <a:endParaRPr lang="en-US" sz="1000" dirty="0"/>
          </a:p>
        </p:txBody>
      </p:sp>
      <p:sp>
        <p:nvSpPr>
          <p:cNvPr id="105" name="TextBox 104"/>
          <p:cNvSpPr txBox="1"/>
          <p:nvPr/>
        </p:nvSpPr>
        <p:spPr>
          <a:xfrm>
            <a:off x="7022664" y="1253953"/>
            <a:ext cx="83548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06" name="TextBox 105"/>
          <p:cNvSpPr txBox="1"/>
          <p:nvPr/>
        </p:nvSpPr>
        <p:spPr>
          <a:xfrm>
            <a:off x="7858148" y="1253953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07" name="TextBox 106"/>
          <p:cNvSpPr txBox="1"/>
          <p:nvPr/>
        </p:nvSpPr>
        <p:spPr>
          <a:xfrm>
            <a:off x="8358214" y="1253953"/>
            <a:ext cx="64294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08" name="TextBox 107"/>
          <p:cNvSpPr txBox="1"/>
          <p:nvPr/>
        </p:nvSpPr>
        <p:spPr>
          <a:xfrm>
            <a:off x="7022664" y="1500174"/>
            <a:ext cx="83548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09" name="TextBox 108"/>
          <p:cNvSpPr txBox="1"/>
          <p:nvPr/>
        </p:nvSpPr>
        <p:spPr>
          <a:xfrm>
            <a:off x="7858148" y="1500174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10" name="TextBox 109"/>
          <p:cNvSpPr txBox="1"/>
          <p:nvPr/>
        </p:nvSpPr>
        <p:spPr>
          <a:xfrm>
            <a:off x="8358214" y="1500174"/>
            <a:ext cx="64294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11" name="TextBox 110"/>
          <p:cNvSpPr txBox="1"/>
          <p:nvPr/>
        </p:nvSpPr>
        <p:spPr>
          <a:xfrm>
            <a:off x="7022664" y="1743133"/>
            <a:ext cx="83548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12" name="TextBox 111"/>
          <p:cNvSpPr txBox="1"/>
          <p:nvPr/>
        </p:nvSpPr>
        <p:spPr>
          <a:xfrm>
            <a:off x="7858148" y="1743133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13" name="TextBox 112"/>
          <p:cNvSpPr txBox="1"/>
          <p:nvPr/>
        </p:nvSpPr>
        <p:spPr>
          <a:xfrm>
            <a:off x="8358214" y="1743133"/>
            <a:ext cx="64294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14" name="TextBox 113"/>
          <p:cNvSpPr txBox="1"/>
          <p:nvPr/>
        </p:nvSpPr>
        <p:spPr>
          <a:xfrm>
            <a:off x="7000892" y="2039771"/>
            <a:ext cx="1000132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境内目的地</a:t>
            </a:r>
            <a:endParaRPr lang="en-US" sz="1000" dirty="0"/>
          </a:p>
        </p:txBody>
      </p:sp>
      <p:sp>
        <p:nvSpPr>
          <p:cNvPr id="115" name="TextBox 114"/>
          <p:cNvSpPr txBox="1"/>
          <p:nvPr/>
        </p:nvSpPr>
        <p:spPr>
          <a:xfrm>
            <a:off x="8000992" y="2039771"/>
            <a:ext cx="100016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16" name="TextBox 115"/>
          <p:cNvSpPr txBox="1"/>
          <p:nvPr/>
        </p:nvSpPr>
        <p:spPr>
          <a:xfrm>
            <a:off x="7000892" y="2285992"/>
            <a:ext cx="1000132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境内目的地</a:t>
            </a:r>
            <a:endParaRPr lang="en-US" sz="1000" dirty="0"/>
          </a:p>
        </p:txBody>
      </p:sp>
      <p:sp>
        <p:nvSpPr>
          <p:cNvPr id="117" name="TextBox 116"/>
          <p:cNvSpPr txBox="1"/>
          <p:nvPr/>
        </p:nvSpPr>
        <p:spPr>
          <a:xfrm>
            <a:off x="8000992" y="2285992"/>
            <a:ext cx="100016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18" name="TextBox 117"/>
          <p:cNvSpPr txBox="1"/>
          <p:nvPr/>
        </p:nvSpPr>
        <p:spPr>
          <a:xfrm>
            <a:off x="7000892" y="2500306"/>
            <a:ext cx="1000132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境内目的地</a:t>
            </a:r>
            <a:endParaRPr lang="en-US" sz="1000" dirty="0"/>
          </a:p>
        </p:txBody>
      </p:sp>
      <p:sp>
        <p:nvSpPr>
          <p:cNvPr id="119" name="TextBox 118"/>
          <p:cNvSpPr txBox="1"/>
          <p:nvPr/>
        </p:nvSpPr>
        <p:spPr>
          <a:xfrm>
            <a:off x="8000992" y="2500306"/>
            <a:ext cx="100016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21" name="Rounded Rectangle 120"/>
          <p:cNvSpPr/>
          <p:nvPr/>
        </p:nvSpPr>
        <p:spPr>
          <a:xfrm>
            <a:off x="7000892" y="2786058"/>
            <a:ext cx="571504" cy="2143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/>
              <a:t>追加</a:t>
            </a:r>
            <a:endParaRPr lang="en-US" sz="1000" dirty="0"/>
          </a:p>
        </p:txBody>
      </p:sp>
      <p:sp>
        <p:nvSpPr>
          <p:cNvPr id="122" name="Rounded Rectangle 121"/>
          <p:cNvSpPr/>
          <p:nvPr/>
        </p:nvSpPr>
        <p:spPr>
          <a:xfrm>
            <a:off x="8429652" y="2786058"/>
            <a:ext cx="571504" cy="2143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/>
              <a:t>删除</a:t>
            </a:r>
            <a:endParaRPr lang="en-US" sz="1000" dirty="0"/>
          </a:p>
        </p:txBody>
      </p:sp>
      <p:sp>
        <p:nvSpPr>
          <p:cNvPr id="123" name="TextBox 122"/>
          <p:cNvSpPr txBox="1"/>
          <p:nvPr/>
        </p:nvSpPr>
        <p:spPr>
          <a:xfrm>
            <a:off x="7022664" y="3071810"/>
            <a:ext cx="478294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代码</a:t>
            </a:r>
            <a:endParaRPr lang="en-US" sz="1000" dirty="0"/>
          </a:p>
        </p:txBody>
      </p:sp>
      <p:sp>
        <p:nvSpPr>
          <p:cNvPr id="125" name="TextBox 124"/>
          <p:cNvSpPr txBox="1"/>
          <p:nvPr/>
        </p:nvSpPr>
        <p:spPr>
          <a:xfrm>
            <a:off x="7500958" y="3071810"/>
            <a:ext cx="1500198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随</a:t>
            </a:r>
            <a:r>
              <a:rPr lang="zh-CN" altLang="en-US" sz="1000" dirty="0" smtClean="0"/>
              <a:t>附单证编号</a:t>
            </a:r>
            <a:endParaRPr lang="en-US" sz="1000" dirty="0"/>
          </a:p>
        </p:txBody>
      </p:sp>
      <p:sp>
        <p:nvSpPr>
          <p:cNvPr id="126" name="TextBox 125"/>
          <p:cNvSpPr txBox="1"/>
          <p:nvPr/>
        </p:nvSpPr>
        <p:spPr>
          <a:xfrm>
            <a:off x="7022664" y="3325655"/>
            <a:ext cx="47829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28" name="TextBox 127"/>
          <p:cNvSpPr txBox="1"/>
          <p:nvPr/>
        </p:nvSpPr>
        <p:spPr>
          <a:xfrm>
            <a:off x="7500958" y="3325655"/>
            <a:ext cx="150019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29" name="TextBox 128"/>
          <p:cNvSpPr txBox="1"/>
          <p:nvPr/>
        </p:nvSpPr>
        <p:spPr>
          <a:xfrm>
            <a:off x="7022664" y="3571876"/>
            <a:ext cx="47829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31" name="TextBox 130"/>
          <p:cNvSpPr txBox="1"/>
          <p:nvPr/>
        </p:nvSpPr>
        <p:spPr>
          <a:xfrm>
            <a:off x="7500958" y="3571876"/>
            <a:ext cx="150019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35" name="TextBox 134"/>
          <p:cNvSpPr txBox="1"/>
          <p:nvPr/>
        </p:nvSpPr>
        <p:spPr>
          <a:xfrm>
            <a:off x="7000892" y="3857628"/>
            <a:ext cx="1000132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境内目的地</a:t>
            </a:r>
            <a:endParaRPr lang="en-US" sz="1000" dirty="0"/>
          </a:p>
        </p:txBody>
      </p:sp>
      <p:sp>
        <p:nvSpPr>
          <p:cNvPr id="136" name="TextBox 135"/>
          <p:cNvSpPr txBox="1"/>
          <p:nvPr/>
        </p:nvSpPr>
        <p:spPr>
          <a:xfrm>
            <a:off x="8000992" y="3857628"/>
            <a:ext cx="100016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37" name="TextBox 136"/>
          <p:cNvSpPr txBox="1"/>
          <p:nvPr/>
        </p:nvSpPr>
        <p:spPr>
          <a:xfrm>
            <a:off x="7000892" y="4103849"/>
            <a:ext cx="1000132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境内目的地</a:t>
            </a:r>
            <a:endParaRPr lang="en-US" sz="1000" dirty="0"/>
          </a:p>
        </p:txBody>
      </p:sp>
      <p:sp>
        <p:nvSpPr>
          <p:cNvPr id="138" name="TextBox 137"/>
          <p:cNvSpPr txBox="1"/>
          <p:nvPr/>
        </p:nvSpPr>
        <p:spPr>
          <a:xfrm>
            <a:off x="8000992" y="4103849"/>
            <a:ext cx="100016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43" name="TextBox 142"/>
          <p:cNvSpPr txBox="1"/>
          <p:nvPr/>
        </p:nvSpPr>
        <p:spPr>
          <a:xfrm>
            <a:off x="214282" y="4714884"/>
            <a:ext cx="714380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商</a:t>
            </a:r>
            <a:r>
              <a:rPr lang="zh-CN" altLang="en-US" sz="1000" dirty="0" smtClean="0"/>
              <a:t>品序号</a:t>
            </a:r>
            <a:endParaRPr lang="en-US" sz="1000" dirty="0"/>
          </a:p>
        </p:txBody>
      </p:sp>
      <p:sp>
        <p:nvSpPr>
          <p:cNvPr id="144" name="TextBox 143"/>
          <p:cNvSpPr txBox="1"/>
          <p:nvPr/>
        </p:nvSpPr>
        <p:spPr>
          <a:xfrm>
            <a:off x="928662" y="4714885"/>
            <a:ext cx="736152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商品编</a:t>
            </a:r>
            <a:r>
              <a:rPr lang="zh-CN" altLang="en-US" sz="1000" dirty="0" smtClean="0"/>
              <a:t>号</a:t>
            </a:r>
            <a:endParaRPr lang="en-US" sz="1000" dirty="0"/>
          </a:p>
        </p:txBody>
      </p:sp>
      <p:sp>
        <p:nvSpPr>
          <p:cNvPr id="146" name="TextBox 145"/>
          <p:cNvSpPr txBox="1"/>
          <p:nvPr/>
        </p:nvSpPr>
        <p:spPr>
          <a:xfrm>
            <a:off x="214282" y="4968729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47" name="TextBox 146"/>
          <p:cNvSpPr txBox="1"/>
          <p:nvPr/>
        </p:nvSpPr>
        <p:spPr>
          <a:xfrm>
            <a:off x="928662" y="4968729"/>
            <a:ext cx="73615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49" name="TextBox 148"/>
          <p:cNvSpPr txBox="1"/>
          <p:nvPr/>
        </p:nvSpPr>
        <p:spPr>
          <a:xfrm>
            <a:off x="214282" y="5214950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50" name="TextBox 149"/>
          <p:cNvSpPr txBox="1"/>
          <p:nvPr/>
        </p:nvSpPr>
        <p:spPr>
          <a:xfrm>
            <a:off x="928662" y="5214950"/>
            <a:ext cx="73615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52" name="TextBox 151"/>
          <p:cNvSpPr txBox="1"/>
          <p:nvPr/>
        </p:nvSpPr>
        <p:spPr>
          <a:xfrm>
            <a:off x="214282" y="5457909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53" name="TextBox 152"/>
          <p:cNvSpPr txBox="1"/>
          <p:nvPr/>
        </p:nvSpPr>
        <p:spPr>
          <a:xfrm>
            <a:off x="928662" y="5457909"/>
            <a:ext cx="73615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55" name="TextBox 154"/>
          <p:cNvSpPr txBox="1"/>
          <p:nvPr/>
        </p:nvSpPr>
        <p:spPr>
          <a:xfrm>
            <a:off x="1643042" y="4714883"/>
            <a:ext cx="714380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附加编号</a:t>
            </a:r>
            <a:endParaRPr lang="en-US" sz="1000" dirty="0"/>
          </a:p>
        </p:txBody>
      </p:sp>
      <p:sp>
        <p:nvSpPr>
          <p:cNvPr id="156" name="TextBox 155"/>
          <p:cNvSpPr txBox="1"/>
          <p:nvPr/>
        </p:nvSpPr>
        <p:spPr>
          <a:xfrm>
            <a:off x="1643042" y="4968728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57" name="TextBox 156"/>
          <p:cNvSpPr txBox="1"/>
          <p:nvPr/>
        </p:nvSpPr>
        <p:spPr>
          <a:xfrm>
            <a:off x="1643042" y="5214949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58" name="TextBox 157"/>
          <p:cNvSpPr txBox="1"/>
          <p:nvPr/>
        </p:nvSpPr>
        <p:spPr>
          <a:xfrm>
            <a:off x="1643042" y="5457908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59" name="TextBox 158"/>
          <p:cNvSpPr txBox="1"/>
          <p:nvPr/>
        </p:nvSpPr>
        <p:spPr>
          <a:xfrm>
            <a:off x="2357422" y="4714884"/>
            <a:ext cx="85725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商</a:t>
            </a:r>
            <a:r>
              <a:rPr lang="zh-CN" altLang="en-US" sz="1000" dirty="0" smtClean="0"/>
              <a:t>品名称</a:t>
            </a:r>
            <a:endParaRPr lang="en-US" sz="1000" dirty="0"/>
          </a:p>
        </p:txBody>
      </p:sp>
      <p:sp>
        <p:nvSpPr>
          <p:cNvPr id="160" name="TextBox 159"/>
          <p:cNvSpPr txBox="1"/>
          <p:nvPr/>
        </p:nvSpPr>
        <p:spPr>
          <a:xfrm>
            <a:off x="2357422" y="4968728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61" name="TextBox 160"/>
          <p:cNvSpPr txBox="1"/>
          <p:nvPr/>
        </p:nvSpPr>
        <p:spPr>
          <a:xfrm>
            <a:off x="2357422" y="5214949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62" name="TextBox 161"/>
          <p:cNvSpPr txBox="1"/>
          <p:nvPr/>
        </p:nvSpPr>
        <p:spPr>
          <a:xfrm>
            <a:off x="2357422" y="5457908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63" name="TextBox 162"/>
          <p:cNvSpPr txBox="1"/>
          <p:nvPr/>
        </p:nvSpPr>
        <p:spPr>
          <a:xfrm>
            <a:off x="3214678" y="4714884"/>
            <a:ext cx="785818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规格型号</a:t>
            </a:r>
            <a:endParaRPr lang="en-US" sz="1000" dirty="0"/>
          </a:p>
        </p:txBody>
      </p:sp>
      <p:sp>
        <p:nvSpPr>
          <p:cNvPr id="164" name="TextBox 163"/>
          <p:cNvSpPr txBox="1"/>
          <p:nvPr/>
        </p:nvSpPr>
        <p:spPr>
          <a:xfrm>
            <a:off x="3214678" y="4968728"/>
            <a:ext cx="78581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65" name="TextBox 164"/>
          <p:cNvSpPr txBox="1"/>
          <p:nvPr/>
        </p:nvSpPr>
        <p:spPr>
          <a:xfrm>
            <a:off x="3214678" y="5214949"/>
            <a:ext cx="78581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66" name="TextBox 165"/>
          <p:cNvSpPr txBox="1"/>
          <p:nvPr/>
        </p:nvSpPr>
        <p:spPr>
          <a:xfrm>
            <a:off x="3214678" y="5457908"/>
            <a:ext cx="78581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71" name="TextBox 170"/>
          <p:cNvSpPr txBox="1"/>
          <p:nvPr/>
        </p:nvSpPr>
        <p:spPr>
          <a:xfrm>
            <a:off x="4572000" y="4714883"/>
            <a:ext cx="50006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数量</a:t>
            </a:r>
            <a:endParaRPr lang="en-US" sz="1000" dirty="0"/>
          </a:p>
        </p:txBody>
      </p:sp>
      <p:sp>
        <p:nvSpPr>
          <p:cNvPr id="172" name="TextBox 171"/>
          <p:cNvSpPr txBox="1"/>
          <p:nvPr/>
        </p:nvSpPr>
        <p:spPr>
          <a:xfrm>
            <a:off x="4572000" y="4968728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73" name="TextBox 172"/>
          <p:cNvSpPr txBox="1"/>
          <p:nvPr/>
        </p:nvSpPr>
        <p:spPr>
          <a:xfrm>
            <a:off x="4572000" y="5214949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74" name="TextBox 173"/>
          <p:cNvSpPr txBox="1"/>
          <p:nvPr/>
        </p:nvSpPr>
        <p:spPr>
          <a:xfrm>
            <a:off x="4572000" y="5457908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75" name="TextBox 174"/>
          <p:cNvSpPr txBox="1"/>
          <p:nvPr/>
        </p:nvSpPr>
        <p:spPr>
          <a:xfrm>
            <a:off x="6572264" y="4714884"/>
            <a:ext cx="50006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币制</a:t>
            </a:r>
            <a:endParaRPr lang="en-US" sz="1000" dirty="0"/>
          </a:p>
        </p:txBody>
      </p:sp>
      <p:sp>
        <p:nvSpPr>
          <p:cNvPr id="176" name="TextBox 175"/>
          <p:cNvSpPr txBox="1"/>
          <p:nvPr/>
        </p:nvSpPr>
        <p:spPr>
          <a:xfrm>
            <a:off x="6572264" y="4968728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77" name="TextBox 176"/>
          <p:cNvSpPr txBox="1"/>
          <p:nvPr/>
        </p:nvSpPr>
        <p:spPr>
          <a:xfrm>
            <a:off x="6572264" y="5214949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78" name="TextBox 177"/>
          <p:cNvSpPr txBox="1"/>
          <p:nvPr/>
        </p:nvSpPr>
        <p:spPr>
          <a:xfrm>
            <a:off x="6572264" y="5457908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79" name="TextBox 178"/>
          <p:cNvSpPr txBox="1"/>
          <p:nvPr/>
        </p:nvSpPr>
        <p:spPr>
          <a:xfrm>
            <a:off x="7072330" y="4714883"/>
            <a:ext cx="85725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生产厂家</a:t>
            </a:r>
            <a:endParaRPr lang="en-US" sz="1000" dirty="0"/>
          </a:p>
        </p:txBody>
      </p:sp>
      <p:sp>
        <p:nvSpPr>
          <p:cNvPr id="180" name="TextBox 179"/>
          <p:cNvSpPr txBox="1"/>
          <p:nvPr/>
        </p:nvSpPr>
        <p:spPr>
          <a:xfrm>
            <a:off x="7072330" y="4968728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81" name="TextBox 180"/>
          <p:cNvSpPr txBox="1"/>
          <p:nvPr/>
        </p:nvSpPr>
        <p:spPr>
          <a:xfrm>
            <a:off x="7072330" y="5214949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82" name="TextBox 181"/>
          <p:cNvSpPr txBox="1"/>
          <p:nvPr/>
        </p:nvSpPr>
        <p:spPr>
          <a:xfrm>
            <a:off x="7072330" y="5457908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83" name="TextBox 182"/>
          <p:cNvSpPr txBox="1"/>
          <p:nvPr/>
        </p:nvSpPr>
        <p:spPr>
          <a:xfrm>
            <a:off x="5072066" y="4714884"/>
            <a:ext cx="50006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单位</a:t>
            </a:r>
            <a:endParaRPr lang="en-US" sz="1000" dirty="0"/>
          </a:p>
        </p:txBody>
      </p:sp>
      <p:sp>
        <p:nvSpPr>
          <p:cNvPr id="184" name="TextBox 183"/>
          <p:cNvSpPr txBox="1"/>
          <p:nvPr/>
        </p:nvSpPr>
        <p:spPr>
          <a:xfrm>
            <a:off x="5072066" y="4968729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85" name="TextBox 184"/>
          <p:cNvSpPr txBox="1"/>
          <p:nvPr/>
        </p:nvSpPr>
        <p:spPr>
          <a:xfrm>
            <a:off x="5072066" y="5214950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86" name="TextBox 185"/>
          <p:cNvSpPr txBox="1"/>
          <p:nvPr/>
        </p:nvSpPr>
        <p:spPr>
          <a:xfrm>
            <a:off x="5072066" y="5457909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87" name="TextBox 186"/>
          <p:cNvSpPr txBox="1"/>
          <p:nvPr/>
        </p:nvSpPr>
        <p:spPr>
          <a:xfrm>
            <a:off x="5572132" y="4714884"/>
            <a:ext cx="50006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单价</a:t>
            </a:r>
            <a:endParaRPr lang="en-US" sz="1000" dirty="0"/>
          </a:p>
        </p:txBody>
      </p:sp>
      <p:sp>
        <p:nvSpPr>
          <p:cNvPr id="188" name="TextBox 187"/>
          <p:cNvSpPr txBox="1"/>
          <p:nvPr/>
        </p:nvSpPr>
        <p:spPr>
          <a:xfrm>
            <a:off x="5572132" y="4968729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89" name="TextBox 188"/>
          <p:cNvSpPr txBox="1"/>
          <p:nvPr/>
        </p:nvSpPr>
        <p:spPr>
          <a:xfrm>
            <a:off x="5572132" y="5214950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90" name="TextBox 189"/>
          <p:cNvSpPr txBox="1"/>
          <p:nvPr/>
        </p:nvSpPr>
        <p:spPr>
          <a:xfrm>
            <a:off x="5572132" y="5457909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91" name="TextBox 190"/>
          <p:cNvSpPr txBox="1"/>
          <p:nvPr/>
        </p:nvSpPr>
        <p:spPr>
          <a:xfrm>
            <a:off x="6072198" y="4714884"/>
            <a:ext cx="50006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总价</a:t>
            </a:r>
            <a:endParaRPr lang="en-US" sz="1000" dirty="0"/>
          </a:p>
        </p:txBody>
      </p:sp>
      <p:sp>
        <p:nvSpPr>
          <p:cNvPr id="192" name="TextBox 191"/>
          <p:cNvSpPr txBox="1"/>
          <p:nvPr/>
        </p:nvSpPr>
        <p:spPr>
          <a:xfrm>
            <a:off x="6072198" y="4968729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93" name="TextBox 192"/>
          <p:cNvSpPr txBox="1"/>
          <p:nvPr/>
        </p:nvSpPr>
        <p:spPr>
          <a:xfrm>
            <a:off x="6072198" y="5214950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94" name="TextBox 193"/>
          <p:cNvSpPr txBox="1"/>
          <p:nvPr/>
        </p:nvSpPr>
        <p:spPr>
          <a:xfrm>
            <a:off x="6072198" y="5457909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95" name="TextBox 194"/>
          <p:cNvSpPr txBox="1"/>
          <p:nvPr/>
        </p:nvSpPr>
        <p:spPr>
          <a:xfrm>
            <a:off x="8501090" y="4714884"/>
            <a:ext cx="50006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征免</a:t>
            </a:r>
            <a:endParaRPr lang="en-US" sz="1000" dirty="0"/>
          </a:p>
        </p:txBody>
      </p:sp>
      <p:sp>
        <p:nvSpPr>
          <p:cNvPr id="196" name="TextBox 195"/>
          <p:cNvSpPr txBox="1"/>
          <p:nvPr/>
        </p:nvSpPr>
        <p:spPr>
          <a:xfrm>
            <a:off x="8501090" y="4968728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97" name="TextBox 196"/>
          <p:cNvSpPr txBox="1"/>
          <p:nvPr/>
        </p:nvSpPr>
        <p:spPr>
          <a:xfrm>
            <a:off x="8501090" y="5214949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98" name="TextBox 197"/>
          <p:cNvSpPr txBox="1"/>
          <p:nvPr/>
        </p:nvSpPr>
        <p:spPr>
          <a:xfrm>
            <a:off x="8501090" y="5457908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99" name="TextBox 198"/>
          <p:cNvSpPr txBox="1"/>
          <p:nvPr/>
        </p:nvSpPr>
        <p:spPr>
          <a:xfrm>
            <a:off x="7286644" y="714356"/>
            <a:ext cx="1928826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100" u="sng" dirty="0" smtClean="0"/>
              <a:t>编号</a:t>
            </a:r>
            <a:r>
              <a:rPr lang="en-US" altLang="zh-CN" sz="1100" u="sng" dirty="0" smtClean="0"/>
              <a:t>(</a:t>
            </a:r>
            <a:r>
              <a:rPr lang="zh-CN" altLang="en-US" sz="1100" u="sng" dirty="0" smtClean="0"/>
              <a:t>报关单</a:t>
            </a:r>
            <a:r>
              <a:rPr lang="en-US" altLang="zh-CN" sz="1100" u="sng" dirty="0" smtClean="0"/>
              <a:t>)</a:t>
            </a:r>
            <a:r>
              <a:rPr lang="zh-CN" altLang="en-US" sz="1100" u="sng" dirty="0" smtClean="0"/>
              <a:t> ：</a:t>
            </a:r>
            <a:r>
              <a:rPr lang="en-US" altLang="zh-CN" sz="1100" u="sng" dirty="0" smtClean="0"/>
              <a:t>12345678</a:t>
            </a:r>
            <a:r>
              <a:rPr lang="zh-CN" altLang="en-US" sz="1100" u="sng" dirty="0" smtClean="0"/>
              <a:t> </a:t>
            </a:r>
            <a:endParaRPr lang="en-US" sz="1100" u="sng" dirty="0"/>
          </a:p>
        </p:txBody>
      </p:sp>
      <p:sp>
        <p:nvSpPr>
          <p:cNvPr id="200" name="Rounded Rectangle 199"/>
          <p:cNvSpPr/>
          <p:nvPr/>
        </p:nvSpPr>
        <p:spPr>
          <a:xfrm>
            <a:off x="7715272" y="2786058"/>
            <a:ext cx="571504" cy="2143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编辑</a:t>
            </a:r>
            <a:endParaRPr lang="en-US" sz="1000" dirty="0"/>
          </a:p>
        </p:txBody>
      </p:sp>
      <p:sp>
        <p:nvSpPr>
          <p:cNvPr id="201" name="Rounded Rectangle 200"/>
          <p:cNvSpPr/>
          <p:nvPr/>
        </p:nvSpPr>
        <p:spPr>
          <a:xfrm>
            <a:off x="7000892" y="4429132"/>
            <a:ext cx="571504" cy="2143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/>
              <a:t>追加</a:t>
            </a:r>
            <a:endParaRPr lang="en-US" sz="1000" dirty="0"/>
          </a:p>
        </p:txBody>
      </p:sp>
      <p:sp>
        <p:nvSpPr>
          <p:cNvPr id="202" name="Rounded Rectangle 201"/>
          <p:cNvSpPr/>
          <p:nvPr/>
        </p:nvSpPr>
        <p:spPr>
          <a:xfrm>
            <a:off x="8429652" y="4429132"/>
            <a:ext cx="571504" cy="2143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/>
              <a:t>删除</a:t>
            </a:r>
            <a:endParaRPr lang="en-US" sz="1000" dirty="0"/>
          </a:p>
        </p:txBody>
      </p:sp>
      <p:sp>
        <p:nvSpPr>
          <p:cNvPr id="203" name="Rounded Rectangle 202"/>
          <p:cNvSpPr/>
          <p:nvPr/>
        </p:nvSpPr>
        <p:spPr>
          <a:xfrm>
            <a:off x="7715272" y="4429132"/>
            <a:ext cx="571504" cy="2143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编辑</a:t>
            </a:r>
            <a:endParaRPr lang="en-US" sz="1000" dirty="0"/>
          </a:p>
        </p:txBody>
      </p:sp>
      <p:sp>
        <p:nvSpPr>
          <p:cNvPr id="167" name="TextBox 166"/>
          <p:cNvSpPr txBox="1"/>
          <p:nvPr/>
        </p:nvSpPr>
        <p:spPr>
          <a:xfrm>
            <a:off x="4000496" y="4714884"/>
            <a:ext cx="571504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目的地</a:t>
            </a:r>
            <a:endParaRPr lang="en-US" sz="1000" dirty="0" smtClean="0"/>
          </a:p>
        </p:txBody>
      </p:sp>
      <p:sp>
        <p:nvSpPr>
          <p:cNvPr id="168" name="TextBox 167"/>
          <p:cNvSpPr txBox="1"/>
          <p:nvPr/>
        </p:nvSpPr>
        <p:spPr>
          <a:xfrm>
            <a:off x="4000496" y="4968728"/>
            <a:ext cx="57150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69" name="TextBox 168"/>
          <p:cNvSpPr txBox="1"/>
          <p:nvPr/>
        </p:nvSpPr>
        <p:spPr>
          <a:xfrm>
            <a:off x="4000496" y="5214949"/>
            <a:ext cx="57150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70" name="TextBox 169"/>
          <p:cNvSpPr txBox="1"/>
          <p:nvPr/>
        </p:nvSpPr>
        <p:spPr>
          <a:xfrm>
            <a:off x="4000496" y="5457908"/>
            <a:ext cx="57150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08" name="TextBox 207"/>
          <p:cNvSpPr txBox="1"/>
          <p:nvPr/>
        </p:nvSpPr>
        <p:spPr>
          <a:xfrm>
            <a:off x="7929586" y="4714884"/>
            <a:ext cx="571504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工缴费</a:t>
            </a:r>
            <a:endParaRPr lang="en-US" sz="1000" dirty="0"/>
          </a:p>
        </p:txBody>
      </p:sp>
      <p:sp>
        <p:nvSpPr>
          <p:cNvPr id="209" name="TextBox 208"/>
          <p:cNvSpPr txBox="1"/>
          <p:nvPr/>
        </p:nvSpPr>
        <p:spPr>
          <a:xfrm>
            <a:off x="7929586" y="4968728"/>
            <a:ext cx="57150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10" name="TextBox 209"/>
          <p:cNvSpPr txBox="1"/>
          <p:nvPr/>
        </p:nvSpPr>
        <p:spPr>
          <a:xfrm>
            <a:off x="7929586" y="5214949"/>
            <a:ext cx="57150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11" name="TextBox 210"/>
          <p:cNvSpPr txBox="1"/>
          <p:nvPr/>
        </p:nvSpPr>
        <p:spPr>
          <a:xfrm>
            <a:off x="7929586" y="5457908"/>
            <a:ext cx="57150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1010244"/>
            <a:ext cx="857256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预录</a:t>
            </a:r>
            <a:r>
              <a:rPr lang="zh-CN" altLang="en-US" sz="1000" dirty="0" smtClean="0"/>
              <a:t>入编号</a:t>
            </a:r>
            <a:endParaRPr lang="en-US" sz="1000" dirty="0"/>
          </a:p>
        </p:txBody>
      </p:sp>
      <p:sp>
        <p:nvSpPr>
          <p:cNvPr id="5" name="TextBox 4"/>
          <p:cNvSpPr txBox="1"/>
          <p:nvPr/>
        </p:nvSpPr>
        <p:spPr>
          <a:xfrm>
            <a:off x="1071538" y="1010243"/>
            <a:ext cx="585791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6" name="TextBox 5"/>
          <p:cNvSpPr txBox="1"/>
          <p:nvPr/>
        </p:nvSpPr>
        <p:spPr>
          <a:xfrm>
            <a:off x="214282" y="1253202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海关编号</a:t>
            </a:r>
            <a:endParaRPr lang="en-US" sz="1000" dirty="0"/>
          </a:p>
        </p:txBody>
      </p:sp>
      <p:sp>
        <p:nvSpPr>
          <p:cNvPr id="10" name="TextBox 9"/>
          <p:cNvSpPr txBox="1"/>
          <p:nvPr/>
        </p:nvSpPr>
        <p:spPr>
          <a:xfrm>
            <a:off x="928662" y="1253203"/>
            <a:ext cx="242889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1" name="TextBox 10"/>
          <p:cNvSpPr txBox="1"/>
          <p:nvPr/>
        </p:nvSpPr>
        <p:spPr>
          <a:xfrm>
            <a:off x="3357554" y="1253201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进口口岸</a:t>
            </a:r>
            <a:endParaRPr lang="en-US" sz="1000" dirty="0"/>
          </a:p>
        </p:txBody>
      </p:sp>
      <p:sp>
        <p:nvSpPr>
          <p:cNvPr id="12" name="TextBox 11"/>
          <p:cNvSpPr txBox="1"/>
          <p:nvPr/>
        </p:nvSpPr>
        <p:spPr>
          <a:xfrm>
            <a:off x="4071934" y="1253203"/>
            <a:ext cx="285752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3" name="TextBox 12"/>
          <p:cNvSpPr txBox="1"/>
          <p:nvPr/>
        </p:nvSpPr>
        <p:spPr>
          <a:xfrm>
            <a:off x="214282" y="1499423"/>
            <a:ext cx="714380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备案号</a:t>
            </a:r>
            <a:r>
              <a:rPr lang="en-US" altLang="zh-CN" sz="1000" dirty="0" smtClean="0"/>
              <a:t>	</a:t>
            </a:r>
            <a:endParaRPr lang="en-US" sz="1000" dirty="0"/>
          </a:p>
        </p:txBody>
      </p:sp>
      <p:sp>
        <p:nvSpPr>
          <p:cNvPr id="14" name="TextBox 13"/>
          <p:cNvSpPr txBox="1"/>
          <p:nvPr/>
        </p:nvSpPr>
        <p:spPr>
          <a:xfrm>
            <a:off x="928662" y="1499424"/>
            <a:ext cx="242889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5" name="TextBox 14"/>
          <p:cNvSpPr txBox="1"/>
          <p:nvPr/>
        </p:nvSpPr>
        <p:spPr>
          <a:xfrm>
            <a:off x="3357554" y="1499422"/>
            <a:ext cx="928694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合同协议号</a:t>
            </a:r>
            <a:endParaRPr lang="en-US" sz="1000" dirty="0"/>
          </a:p>
        </p:txBody>
      </p:sp>
      <p:sp>
        <p:nvSpPr>
          <p:cNvPr id="16" name="TextBox 15"/>
          <p:cNvSpPr txBox="1"/>
          <p:nvPr/>
        </p:nvSpPr>
        <p:spPr>
          <a:xfrm>
            <a:off x="4286248" y="1499424"/>
            <a:ext cx="264320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7" name="TextBox 16"/>
          <p:cNvSpPr txBox="1"/>
          <p:nvPr/>
        </p:nvSpPr>
        <p:spPr>
          <a:xfrm>
            <a:off x="214282" y="1713737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进口日期</a:t>
            </a:r>
            <a:endParaRPr lang="en-US" sz="1000" dirty="0"/>
          </a:p>
        </p:txBody>
      </p:sp>
      <p:sp>
        <p:nvSpPr>
          <p:cNvPr id="18" name="TextBox 17"/>
          <p:cNvSpPr txBox="1"/>
          <p:nvPr/>
        </p:nvSpPr>
        <p:spPr>
          <a:xfrm>
            <a:off x="928662" y="1713738"/>
            <a:ext cx="242889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9" name="TextBox 18"/>
          <p:cNvSpPr txBox="1"/>
          <p:nvPr/>
        </p:nvSpPr>
        <p:spPr>
          <a:xfrm>
            <a:off x="3357554" y="1713736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申报日期</a:t>
            </a:r>
            <a:endParaRPr lang="en-US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071934" y="1713738"/>
            <a:ext cx="285752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1" name="TextBox 20"/>
          <p:cNvSpPr txBox="1"/>
          <p:nvPr/>
        </p:nvSpPr>
        <p:spPr>
          <a:xfrm>
            <a:off x="214282" y="1938938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经营单位</a:t>
            </a:r>
            <a:endParaRPr lang="en-US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928662" y="1938939"/>
            <a:ext cx="3143272" cy="2462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071934" y="1938938"/>
            <a:ext cx="1000132" cy="24622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运输方式</a:t>
            </a:r>
            <a:endParaRPr lang="en-US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5072066" y="1938938"/>
            <a:ext cx="1857388" cy="2462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9" name="TextBox 28"/>
          <p:cNvSpPr txBox="1"/>
          <p:nvPr/>
        </p:nvSpPr>
        <p:spPr>
          <a:xfrm>
            <a:off x="214282" y="2181146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收货单位</a:t>
            </a:r>
            <a:endParaRPr lang="en-US" sz="1000" dirty="0"/>
          </a:p>
        </p:txBody>
      </p:sp>
      <p:sp>
        <p:nvSpPr>
          <p:cNvPr id="30" name="TextBox 29"/>
          <p:cNvSpPr txBox="1"/>
          <p:nvPr/>
        </p:nvSpPr>
        <p:spPr>
          <a:xfrm>
            <a:off x="928662" y="2181147"/>
            <a:ext cx="3143272" cy="2462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1" name="TextBox 30"/>
          <p:cNvSpPr txBox="1"/>
          <p:nvPr/>
        </p:nvSpPr>
        <p:spPr>
          <a:xfrm>
            <a:off x="4071934" y="2181145"/>
            <a:ext cx="1000132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运输工具名称</a:t>
            </a:r>
            <a:endParaRPr lang="en-US" sz="1000" dirty="0"/>
          </a:p>
        </p:txBody>
      </p:sp>
      <p:sp>
        <p:nvSpPr>
          <p:cNvPr id="32" name="TextBox 31"/>
          <p:cNvSpPr txBox="1"/>
          <p:nvPr/>
        </p:nvSpPr>
        <p:spPr>
          <a:xfrm>
            <a:off x="5072066" y="2181146"/>
            <a:ext cx="185738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3" name="TextBox 32"/>
          <p:cNvSpPr txBox="1"/>
          <p:nvPr/>
        </p:nvSpPr>
        <p:spPr>
          <a:xfrm>
            <a:off x="214282" y="2428118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申报单位</a:t>
            </a:r>
            <a:endParaRPr lang="en-US" sz="1000" dirty="0"/>
          </a:p>
        </p:txBody>
      </p:sp>
      <p:sp>
        <p:nvSpPr>
          <p:cNvPr id="34" name="TextBox 33"/>
          <p:cNvSpPr txBox="1"/>
          <p:nvPr/>
        </p:nvSpPr>
        <p:spPr>
          <a:xfrm>
            <a:off x="928662" y="2428119"/>
            <a:ext cx="3143272" cy="2462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5" name="TextBox 34"/>
          <p:cNvSpPr txBox="1"/>
          <p:nvPr/>
        </p:nvSpPr>
        <p:spPr>
          <a:xfrm>
            <a:off x="4071934" y="2428118"/>
            <a:ext cx="642942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航次号</a:t>
            </a:r>
            <a:endParaRPr lang="en-US" sz="1000" dirty="0"/>
          </a:p>
        </p:txBody>
      </p:sp>
      <p:sp>
        <p:nvSpPr>
          <p:cNvPr id="36" name="TextBox 35"/>
          <p:cNvSpPr txBox="1"/>
          <p:nvPr/>
        </p:nvSpPr>
        <p:spPr>
          <a:xfrm>
            <a:off x="4714876" y="2428119"/>
            <a:ext cx="221457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7" name="TextBox 36"/>
          <p:cNvSpPr txBox="1"/>
          <p:nvPr/>
        </p:nvSpPr>
        <p:spPr>
          <a:xfrm>
            <a:off x="214282" y="2671075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提</a:t>
            </a:r>
            <a:r>
              <a:rPr lang="zh-CN" altLang="en-US" sz="1000" dirty="0" smtClean="0"/>
              <a:t>运单号</a:t>
            </a:r>
            <a:endParaRPr lang="en-US" sz="1000" dirty="0"/>
          </a:p>
        </p:txBody>
      </p:sp>
      <p:sp>
        <p:nvSpPr>
          <p:cNvPr id="38" name="TextBox 37"/>
          <p:cNvSpPr txBox="1"/>
          <p:nvPr/>
        </p:nvSpPr>
        <p:spPr>
          <a:xfrm>
            <a:off x="928662" y="2671076"/>
            <a:ext cx="114300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41" name="TextBox 40"/>
          <p:cNvSpPr txBox="1"/>
          <p:nvPr/>
        </p:nvSpPr>
        <p:spPr>
          <a:xfrm>
            <a:off x="2071670" y="2671076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贸易方式</a:t>
            </a:r>
            <a:endParaRPr lang="en-US" sz="1000" dirty="0"/>
          </a:p>
        </p:txBody>
      </p:sp>
      <p:sp>
        <p:nvSpPr>
          <p:cNvPr id="42" name="TextBox 41"/>
          <p:cNvSpPr txBox="1"/>
          <p:nvPr/>
        </p:nvSpPr>
        <p:spPr>
          <a:xfrm>
            <a:off x="2786050" y="2671077"/>
            <a:ext cx="100013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43" name="TextBox 42"/>
          <p:cNvSpPr txBox="1"/>
          <p:nvPr/>
        </p:nvSpPr>
        <p:spPr>
          <a:xfrm>
            <a:off x="3786182" y="2671077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征免性质</a:t>
            </a:r>
            <a:endParaRPr lang="en-US" sz="1000" dirty="0"/>
          </a:p>
        </p:txBody>
      </p:sp>
      <p:sp>
        <p:nvSpPr>
          <p:cNvPr id="44" name="TextBox 43"/>
          <p:cNvSpPr txBox="1"/>
          <p:nvPr/>
        </p:nvSpPr>
        <p:spPr>
          <a:xfrm>
            <a:off x="4500562" y="2670326"/>
            <a:ext cx="100013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45" name="TextBox 44"/>
          <p:cNvSpPr txBox="1"/>
          <p:nvPr/>
        </p:nvSpPr>
        <p:spPr>
          <a:xfrm>
            <a:off x="5500694" y="2670326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征税比例</a:t>
            </a:r>
            <a:endParaRPr lang="en-US" sz="1000" dirty="0"/>
          </a:p>
        </p:txBody>
      </p:sp>
      <p:sp>
        <p:nvSpPr>
          <p:cNvPr id="46" name="TextBox 45"/>
          <p:cNvSpPr txBox="1"/>
          <p:nvPr/>
        </p:nvSpPr>
        <p:spPr>
          <a:xfrm>
            <a:off x="6215074" y="2671077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47" name="TextBox 46"/>
          <p:cNvSpPr txBox="1"/>
          <p:nvPr/>
        </p:nvSpPr>
        <p:spPr>
          <a:xfrm>
            <a:off x="214282" y="2907162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纳税单位</a:t>
            </a:r>
            <a:endParaRPr lang="en-US" sz="1000" dirty="0"/>
          </a:p>
        </p:txBody>
      </p:sp>
      <p:sp>
        <p:nvSpPr>
          <p:cNvPr id="48" name="TextBox 47"/>
          <p:cNvSpPr txBox="1"/>
          <p:nvPr/>
        </p:nvSpPr>
        <p:spPr>
          <a:xfrm>
            <a:off x="928662" y="2907163"/>
            <a:ext cx="114300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49" name="TextBox 48"/>
          <p:cNvSpPr txBox="1"/>
          <p:nvPr/>
        </p:nvSpPr>
        <p:spPr>
          <a:xfrm>
            <a:off x="2071670" y="2907162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许可证号</a:t>
            </a:r>
            <a:endParaRPr lang="en-US" sz="1000" dirty="0"/>
          </a:p>
        </p:txBody>
      </p:sp>
      <p:sp>
        <p:nvSpPr>
          <p:cNvPr id="50" name="TextBox 49"/>
          <p:cNvSpPr txBox="1"/>
          <p:nvPr/>
        </p:nvSpPr>
        <p:spPr>
          <a:xfrm>
            <a:off x="2786050" y="2907163"/>
            <a:ext cx="414340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51" name="TextBox 50"/>
          <p:cNvSpPr txBox="1"/>
          <p:nvPr/>
        </p:nvSpPr>
        <p:spPr>
          <a:xfrm>
            <a:off x="214282" y="3153385"/>
            <a:ext cx="107157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启运国</a:t>
            </a:r>
            <a:r>
              <a:rPr lang="en-US" altLang="zh-CN" sz="1000" dirty="0" smtClean="0"/>
              <a:t>(</a:t>
            </a:r>
            <a:r>
              <a:rPr lang="zh-CN" altLang="en-US" sz="1000" dirty="0" smtClean="0"/>
              <a:t>地区</a:t>
            </a:r>
            <a:r>
              <a:rPr lang="en-US" altLang="zh-CN" sz="1000" dirty="0" smtClean="0"/>
              <a:t>)</a:t>
            </a:r>
            <a:endParaRPr lang="en-US" sz="1000" dirty="0"/>
          </a:p>
        </p:txBody>
      </p:sp>
      <p:sp>
        <p:nvSpPr>
          <p:cNvPr id="52" name="TextBox 51"/>
          <p:cNvSpPr txBox="1"/>
          <p:nvPr/>
        </p:nvSpPr>
        <p:spPr>
          <a:xfrm>
            <a:off x="1285852" y="3153385"/>
            <a:ext cx="114300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53" name="TextBox 52"/>
          <p:cNvSpPr txBox="1"/>
          <p:nvPr/>
        </p:nvSpPr>
        <p:spPr>
          <a:xfrm>
            <a:off x="2428860" y="3153384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装货港</a:t>
            </a:r>
            <a:endParaRPr lang="en-US" sz="1000" dirty="0"/>
          </a:p>
        </p:txBody>
      </p:sp>
      <p:sp>
        <p:nvSpPr>
          <p:cNvPr id="54" name="TextBox 53"/>
          <p:cNvSpPr txBox="1"/>
          <p:nvPr/>
        </p:nvSpPr>
        <p:spPr>
          <a:xfrm>
            <a:off x="3143240" y="3153385"/>
            <a:ext cx="171451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55" name="TextBox 54"/>
          <p:cNvSpPr txBox="1"/>
          <p:nvPr/>
        </p:nvSpPr>
        <p:spPr>
          <a:xfrm>
            <a:off x="4857752" y="3153384"/>
            <a:ext cx="928694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境内目的地</a:t>
            </a:r>
            <a:endParaRPr lang="en-US" sz="1000" dirty="0"/>
          </a:p>
        </p:txBody>
      </p:sp>
      <p:sp>
        <p:nvSpPr>
          <p:cNvPr id="56" name="TextBox 55"/>
          <p:cNvSpPr txBox="1"/>
          <p:nvPr/>
        </p:nvSpPr>
        <p:spPr>
          <a:xfrm>
            <a:off x="5786446" y="3153385"/>
            <a:ext cx="114300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57" name="TextBox 56"/>
          <p:cNvSpPr txBox="1"/>
          <p:nvPr/>
        </p:nvSpPr>
        <p:spPr>
          <a:xfrm>
            <a:off x="214282" y="3395591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批准文号</a:t>
            </a:r>
            <a:endParaRPr lang="en-US" sz="1000" dirty="0"/>
          </a:p>
        </p:txBody>
      </p:sp>
      <p:sp>
        <p:nvSpPr>
          <p:cNvPr id="58" name="TextBox 57"/>
          <p:cNvSpPr txBox="1"/>
          <p:nvPr/>
        </p:nvSpPr>
        <p:spPr>
          <a:xfrm>
            <a:off x="928662" y="3395592"/>
            <a:ext cx="3929090" cy="246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59" name="TextBox 58"/>
          <p:cNvSpPr txBox="1"/>
          <p:nvPr/>
        </p:nvSpPr>
        <p:spPr>
          <a:xfrm>
            <a:off x="4857752" y="3395591"/>
            <a:ext cx="928694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成</a:t>
            </a:r>
            <a:r>
              <a:rPr lang="zh-CN" altLang="en-US" sz="1000" dirty="0" smtClean="0"/>
              <a:t>交放肆</a:t>
            </a:r>
            <a:endParaRPr lang="en-US" sz="1000" dirty="0"/>
          </a:p>
        </p:txBody>
      </p:sp>
      <p:sp>
        <p:nvSpPr>
          <p:cNvPr id="60" name="TextBox 59"/>
          <p:cNvSpPr txBox="1"/>
          <p:nvPr/>
        </p:nvSpPr>
        <p:spPr>
          <a:xfrm>
            <a:off x="5786446" y="3395592"/>
            <a:ext cx="114300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61" name="TextBox 60"/>
          <p:cNvSpPr txBox="1"/>
          <p:nvPr/>
        </p:nvSpPr>
        <p:spPr>
          <a:xfrm>
            <a:off x="214282" y="3642565"/>
            <a:ext cx="571504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运费</a:t>
            </a:r>
            <a:endParaRPr lang="en-US" sz="1000" dirty="0"/>
          </a:p>
        </p:txBody>
      </p:sp>
      <p:sp>
        <p:nvSpPr>
          <p:cNvPr id="62" name="TextBox 61"/>
          <p:cNvSpPr txBox="1"/>
          <p:nvPr/>
        </p:nvSpPr>
        <p:spPr>
          <a:xfrm>
            <a:off x="785786" y="3642565"/>
            <a:ext cx="42862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63" name="TextBox 62"/>
          <p:cNvSpPr txBox="1"/>
          <p:nvPr/>
        </p:nvSpPr>
        <p:spPr>
          <a:xfrm>
            <a:off x="1214414" y="3642565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64" name="TextBox 63"/>
          <p:cNvSpPr txBox="1"/>
          <p:nvPr/>
        </p:nvSpPr>
        <p:spPr>
          <a:xfrm>
            <a:off x="2071670" y="3642564"/>
            <a:ext cx="42862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73" name="TextBox 72"/>
          <p:cNvSpPr txBox="1"/>
          <p:nvPr/>
        </p:nvSpPr>
        <p:spPr>
          <a:xfrm>
            <a:off x="2500298" y="3642564"/>
            <a:ext cx="571504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保费</a:t>
            </a:r>
            <a:endParaRPr lang="en-US" sz="1000" dirty="0"/>
          </a:p>
        </p:txBody>
      </p:sp>
      <p:sp>
        <p:nvSpPr>
          <p:cNvPr id="74" name="TextBox 73"/>
          <p:cNvSpPr txBox="1"/>
          <p:nvPr/>
        </p:nvSpPr>
        <p:spPr>
          <a:xfrm>
            <a:off x="3071802" y="3642564"/>
            <a:ext cx="42862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75" name="TextBox 74"/>
          <p:cNvSpPr txBox="1"/>
          <p:nvPr/>
        </p:nvSpPr>
        <p:spPr>
          <a:xfrm>
            <a:off x="3500430" y="3642564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76" name="TextBox 75"/>
          <p:cNvSpPr txBox="1"/>
          <p:nvPr/>
        </p:nvSpPr>
        <p:spPr>
          <a:xfrm>
            <a:off x="4357686" y="3642563"/>
            <a:ext cx="42862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77" name="TextBox 76"/>
          <p:cNvSpPr txBox="1"/>
          <p:nvPr/>
        </p:nvSpPr>
        <p:spPr>
          <a:xfrm>
            <a:off x="4786314" y="3642564"/>
            <a:ext cx="571504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杂费</a:t>
            </a:r>
            <a:endParaRPr lang="en-US" sz="1000" dirty="0"/>
          </a:p>
        </p:txBody>
      </p:sp>
      <p:sp>
        <p:nvSpPr>
          <p:cNvPr id="78" name="TextBox 77"/>
          <p:cNvSpPr txBox="1"/>
          <p:nvPr/>
        </p:nvSpPr>
        <p:spPr>
          <a:xfrm>
            <a:off x="5357818" y="3642564"/>
            <a:ext cx="42862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79" name="TextBox 78"/>
          <p:cNvSpPr txBox="1"/>
          <p:nvPr/>
        </p:nvSpPr>
        <p:spPr>
          <a:xfrm>
            <a:off x="5786446" y="3642564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80" name="TextBox 79"/>
          <p:cNvSpPr txBox="1"/>
          <p:nvPr/>
        </p:nvSpPr>
        <p:spPr>
          <a:xfrm>
            <a:off x="6643702" y="3642563"/>
            <a:ext cx="28575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81" name="TextBox 80"/>
          <p:cNvSpPr txBox="1"/>
          <p:nvPr/>
        </p:nvSpPr>
        <p:spPr>
          <a:xfrm>
            <a:off x="214282" y="3885522"/>
            <a:ext cx="571504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件数</a:t>
            </a:r>
            <a:endParaRPr lang="en-US" sz="1000" dirty="0"/>
          </a:p>
        </p:txBody>
      </p:sp>
      <p:sp>
        <p:nvSpPr>
          <p:cNvPr id="82" name="TextBox 81"/>
          <p:cNvSpPr txBox="1"/>
          <p:nvPr/>
        </p:nvSpPr>
        <p:spPr>
          <a:xfrm>
            <a:off x="785786" y="3885522"/>
            <a:ext cx="785818" cy="246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83" name="TextBox 82"/>
          <p:cNvSpPr txBox="1"/>
          <p:nvPr/>
        </p:nvSpPr>
        <p:spPr>
          <a:xfrm>
            <a:off x="1571604" y="3884772"/>
            <a:ext cx="785818" cy="2469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包装种类</a:t>
            </a:r>
            <a:endParaRPr lang="en-US" sz="1000" dirty="0"/>
          </a:p>
        </p:txBody>
      </p:sp>
      <p:sp>
        <p:nvSpPr>
          <p:cNvPr id="84" name="TextBox 83"/>
          <p:cNvSpPr txBox="1"/>
          <p:nvPr/>
        </p:nvSpPr>
        <p:spPr>
          <a:xfrm>
            <a:off x="2357422" y="3886273"/>
            <a:ext cx="114300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85" name="TextBox 84"/>
          <p:cNvSpPr txBox="1"/>
          <p:nvPr/>
        </p:nvSpPr>
        <p:spPr>
          <a:xfrm>
            <a:off x="3500430" y="3884772"/>
            <a:ext cx="785818" cy="2469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毛重</a:t>
            </a:r>
            <a:r>
              <a:rPr lang="en-US" altLang="zh-CN" sz="1000" dirty="0" smtClean="0"/>
              <a:t>(KG)</a:t>
            </a:r>
            <a:endParaRPr lang="en-US" sz="1000" dirty="0"/>
          </a:p>
        </p:txBody>
      </p:sp>
      <p:sp>
        <p:nvSpPr>
          <p:cNvPr id="86" name="TextBox 85"/>
          <p:cNvSpPr txBox="1"/>
          <p:nvPr/>
        </p:nvSpPr>
        <p:spPr>
          <a:xfrm>
            <a:off x="4286248" y="3884772"/>
            <a:ext cx="928694" cy="246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89" name="TextBox 88"/>
          <p:cNvSpPr txBox="1"/>
          <p:nvPr/>
        </p:nvSpPr>
        <p:spPr>
          <a:xfrm>
            <a:off x="5214942" y="3884772"/>
            <a:ext cx="785818" cy="2469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净</a:t>
            </a:r>
            <a:r>
              <a:rPr lang="zh-CN" altLang="en-US" sz="1000" dirty="0" smtClean="0"/>
              <a:t>重</a:t>
            </a:r>
            <a:r>
              <a:rPr lang="en-US" altLang="zh-CN" sz="1000" dirty="0" smtClean="0"/>
              <a:t>(KG)</a:t>
            </a:r>
            <a:endParaRPr lang="en-US" sz="1000" dirty="0"/>
          </a:p>
        </p:txBody>
      </p:sp>
      <p:sp>
        <p:nvSpPr>
          <p:cNvPr id="90" name="TextBox 89"/>
          <p:cNvSpPr txBox="1"/>
          <p:nvPr/>
        </p:nvSpPr>
        <p:spPr>
          <a:xfrm>
            <a:off x="6000760" y="3884772"/>
            <a:ext cx="928694" cy="246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91" name="TextBox 90"/>
          <p:cNvSpPr txBox="1"/>
          <p:nvPr/>
        </p:nvSpPr>
        <p:spPr>
          <a:xfrm>
            <a:off x="214282" y="4131744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集装箱号</a:t>
            </a:r>
            <a:endParaRPr lang="en-US" sz="1000" dirty="0"/>
          </a:p>
        </p:txBody>
      </p:sp>
      <p:sp>
        <p:nvSpPr>
          <p:cNvPr id="92" name="TextBox 91"/>
          <p:cNvSpPr txBox="1"/>
          <p:nvPr/>
        </p:nvSpPr>
        <p:spPr>
          <a:xfrm>
            <a:off x="928662" y="4131745"/>
            <a:ext cx="257176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93" name="TextBox 92"/>
          <p:cNvSpPr txBox="1"/>
          <p:nvPr/>
        </p:nvSpPr>
        <p:spPr>
          <a:xfrm>
            <a:off x="3500430" y="4131744"/>
            <a:ext cx="785818" cy="2469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随附单证</a:t>
            </a:r>
            <a:endParaRPr lang="en-US" sz="1000" dirty="0"/>
          </a:p>
        </p:txBody>
      </p:sp>
      <p:sp>
        <p:nvSpPr>
          <p:cNvPr id="94" name="TextBox 93"/>
          <p:cNvSpPr txBox="1"/>
          <p:nvPr/>
        </p:nvSpPr>
        <p:spPr>
          <a:xfrm>
            <a:off x="4286248" y="4131744"/>
            <a:ext cx="928694" cy="246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95" name="TextBox 94"/>
          <p:cNvSpPr txBox="1"/>
          <p:nvPr/>
        </p:nvSpPr>
        <p:spPr>
          <a:xfrm>
            <a:off x="5214942" y="4131744"/>
            <a:ext cx="785818" cy="2469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用途</a:t>
            </a:r>
            <a:endParaRPr lang="en-US" sz="1000" dirty="0"/>
          </a:p>
        </p:txBody>
      </p:sp>
      <p:sp>
        <p:nvSpPr>
          <p:cNvPr id="96" name="TextBox 95"/>
          <p:cNvSpPr txBox="1"/>
          <p:nvPr/>
        </p:nvSpPr>
        <p:spPr>
          <a:xfrm>
            <a:off x="6000760" y="4131744"/>
            <a:ext cx="928694" cy="246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97" name="TextBox 96"/>
          <p:cNvSpPr txBox="1"/>
          <p:nvPr/>
        </p:nvSpPr>
        <p:spPr>
          <a:xfrm>
            <a:off x="214282" y="4375452"/>
            <a:ext cx="928694" cy="24622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报关单类型</a:t>
            </a:r>
            <a:endParaRPr lang="en-US" sz="1000" dirty="0"/>
          </a:p>
        </p:txBody>
      </p:sp>
      <p:sp>
        <p:nvSpPr>
          <p:cNvPr id="98" name="TextBox 97"/>
          <p:cNvSpPr txBox="1"/>
          <p:nvPr/>
        </p:nvSpPr>
        <p:spPr>
          <a:xfrm>
            <a:off x="1142976" y="4375453"/>
            <a:ext cx="200026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99" name="TextBox 98"/>
          <p:cNvSpPr txBox="1"/>
          <p:nvPr/>
        </p:nvSpPr>
        <p:spPr>
          <a:xfrm>
            <a:off x="3143240" y="4374702"/>
            <a:ext cx="785818" cy="2469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备          注</a:t>
            </a:r>
            <a:endParaRPr lang="en-US" sz="1000" dirty="0"/>
          </a:p>
        </p:txBody>
      </p:sp>
      <p:sp>
        <p:nvSpPr>
          <p:cNvPr id="100" name="TextBox 99"/>
          <p:cNvSpPr txBox="1"/>
          <p:nvPr/>
        </p:nvSpPr>
        <p:spPr>
          <a:xfrm>
            <a:off x="3929058" y="4374702"/>
            <a:ext cx="3000396" cy="246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01" name="TextBox 100"/>
          <p:cNvSpPr txBox="1"/>
          <p:nvPr/>
        </p:nvSpPr>
        <p:spPr>
          <a:xfrm>
            <a:off x="2214546" y="142852"/>
            <a:ext cx="535785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中和人民共和国海关进口货物报关单</a:t>
            </a:r>
            <a:endParaRPr lang="en-US" altLang="zh-CN" sz="2400" b="1" dirty="0" smtClean="0"/>
          </a:p>
          <a:p>
            <a:pPr algn="ctr"/>
            <a:r>
              <a:rPr lang="zh-CN" altLang="en-US" sz="2400" b="1" dirty="0" smtClean="0"/>
              <a:t>（</a:t>
            </a:r>
            <a:r>
              <a:rPr lang="zh-CN" altLang="en-US" sz="2400" b="1" dirty="0"/>
              <a:t>保税</a:t>
            </a:r>
            <a:r>
              <a:rPr lang="zh-CN" altLang="en-US" sz="2400" b="1" dirty="0" smtClean="0"/>
              <a:t>）</a:t>
            </a:r>
            <a:endParaRPr lang="en-US" sz="2400" b="1" dirty="0"/>
          </a:p>
        </p:txBody>
      </p:sp>
      <p:sp>
        <p:nvSpPr>
          <p:cNvPr id="102" name="TextBox 101"/>
          <p:cNvSpPr txBox="1"/>
          <p:nvPr/>
        </p:nvSpPr>
        <p:spPr>
          <a:xfrm>
            <a:off x="7022664" y="1000108"/>
            <a:ext cx="835484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集装箱号</a:t>
            </a:r>
            <a:endParaRPr lang="en-US" sz="1000" dirty="0"/>
          </a:p>
        </p:txBody>
      </p:sp>
      <p:sp>
        <p:nvSpPr>
          <p:cNvPr id="103" name="TextBox 102"/>
          <p:cNvSpPr txBox="1"/>
          <p:nvPr/>
        </p:nvSpPr>
        <p:spPr>
          <a:xfrm>
            <a:off x="7858148" y="1000109"/>
            <a:ext cx="50006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规格</a:t>
            </a:r>
            <a:endParaRPr lang="en-US" sz="1000" dirty="0"/>
          </a:p>
        </p:txBody>
      </p:sp>
      <p:sp>
        <p:nvSpPr>
          <p:cNvPr id="104" name="TextBox 103"/>
          <p:cNvSpPr txBox="1"/>
          <p:nvPr/>
        </p:nvSpPr>
        <p:spPr>
          <a:xfrm>
            <a:off x="8358214" y="1000108"/>
            <a:ext cx="642942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自重</a:t>
            </a:r>
            <a:r>
              <a:rPr lang="en-US" altLang="zh-CN" sz="1000" dirty="0" smtClean="0"/>
              <a:t>(KG)</a:t>
            </a:r>
            <a:endParaRPr lang="en-US" sz="1000" dirty="0"/>
          </a:p>
        </p:txBody>
      </p:sp>
      <p:sp>
        <p:nvSpPr>
          <p:cNvPr id="105" name="TextBox 104"/>
          <p:cNvSpPr txBox="1"/>
          <p:nvPr/>
        </p:nvSpPr>
        <p:spPr>
          <a:xfrm>
            <a:off x="7022664" y="1253953"/>
            <a:ext cx="83548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06" name="TextBox 105"/>
          <p:cNvSpPr txBox="1"/>
          <p:nvPr/>
        </p:nvSpPr>
        <p:spPr>
          <a:xfrm>
            <a:off x="7858148" y="1253953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07" name="TextBox 106"/>
          <p:cNvSpPr txBox="1"/>
          <p:nvPr/>
        </p:nvSpPr>
        <p:spPr>
          <a:xfrm>
            <a:off x="8358214" y="1253953"/>
            <a:ext cx="64294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08" name="TextBox 107"/>
          <p:cNvSpPr txBox="1"/>
          <p:nvPr/>
        </p:nvSpPr>
        <p:spPr>
          <a:xfrm>
            <a:off x="7022664" y="1500174"/>
            <a:ext cx="83548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09" name="TextBox 108"/>
          <p:cNvSpPr txBox="1"/>
          <p:nvPr/>
        </p:nvSpPr>
        <p:spPr>
          <a:xfrm>
            <a:off x="7858148" y="1500174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10" name="TextBox 109"/>
          <p:cNvSpPr txBox="1"/>
          <p:nvPr/>
        </p:nvSpPr>
        <p:spPr>
          <a:xfrm>
            <a:off x="8358214" y="1500174"/>
            <a:ext cx="64294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11" name="TextBox 110"/>
          <p:cNvSpPr txBox="1"/>
          <p:nvPr/>
        </p:nvSpPr>
        <p:spPr>
          <a:xfrm>
            <a:off x="7022664" y="1743133"/>
            <a:ext cx="83548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12" name="TextBox 111"/>
          <p:cNvSpPr txBox="1"/>
          <p:nvPr/>
        </p:nvSpPr>
        <p:spPr>
          <a:xfrm>
            <a:off x="7858148" y="1743133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13" name="TextBox 112"/>
          <p:cNvSpPr txBox="1"/>
          <p:nvPr/>
        </p:nvSpPr>
        <p:spPr>
          <a:xfrm>
            <a:off x="8358214" y="1743133"/>
            <a:ext cx="64294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14" name="TextBox 113"/>
          <p:cNvSpPr txBox="1"/>
          <p:nvPr/>
        </p:nvSpPr>
        <p:spPr>
          <a:xfrm>
            <a:off x="7000892" y="2039771"/>
            <a:ext cx="1000132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境内目的地</a:t>
            </a:r>
            <a:endParaRPr lang="en-US" sz="1000" dirty="0"/>
          </a:p>
        </p:txBody>
      </p:sp>
      <p:sp>
        <p:nvSpPr>
          <p:cNvPr id="115" name="TextBox 114"/>
          <p:cNvSpPr txBox="1"/>
          <p:nvPr/>
        </p:nvSpPr>
        <p:spPr>
          <a:xfrm>
            <a:off x="8000992" y="2039771"/>
            <a:ext cx="100016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16" name="TextBox 115"/>
          <p:cNvSpPr txBox="1"/>
          <p:nvPr/>
        </p:nvSpPr>
        <p:spPr>
          <a:xfrm>
            <a:off x="7000892" y="2285992"/>
            <a:ext cx="1000132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境内目的地</a:t>
            </a:r>
            <a:endParaRPr lang="en-US" sz="1000" dirty="0"/>
          </a:p>
        </p:txBody>
      </p:sp>
      <p:sp>
        <p:nvSpPr>
          <p:cNvPr id="117" name="TextBox 116"/>
          <p:cNvSpPr txBox="1"/>
          <p:nvPr/>
        </p:nvSpPr>
        <p:spPr>
          <a:xfrm>
            <a:off x="8000992" y="2285992"/>
            <a:ext cx="100016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18" name="TextBox 117"/>
          <p:cNvSpPr txBox="1"/>
          <p:nvPr/>
        </p:nvSpPr>
        <p:spPr>
          <a:xfrm>
            <a:off x="7000892" y="2500306"/>
            <a:ext cx="1000132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境内目的地</a:t>
            </a:r>
            <a:endParaRPr lang="en-US" sz="1000" dirty="0"/>
          </a:p>
        </p:txBody>
      </p:sp>
      <p:sp>
        <p:nvSpPr>
          <p:cNvPr id="119" name="TextBox 118"/>
          <p:cNvSpPr txBox="1"/>
          <p:nvPr/>
        </p:nvSpPr>
        <p:spPr>
          <a:xfrm>
            <a:off x="8000992" y="2500306"/>
            <a:ext cx="100016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21" name="Rounded Rectangle 120"/>
          <p:cNvSpPr/>
          <p:nvPr/>
        </p:nvSpPr>
        <p:spPr>
          <a:xfrm>
            <a:off x="7000892" y="2786058"/>
            <a:ext cx="571504" cy="2143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/>
              <a:t>追加</a:t>
            </a:r>
            <a:endParaRPr lang="en-US" sz="1000" dirty="0"/>
          </a:p>
        </p:txBody>
      </p:sp>
      <p:sp>
        <p:nvSpPr>
          <p:cNvPr id="122" name="Rounded Rectangle 121"/>
          <p:cNvSpPr/>
          <p:nvPr/>
        </p:nvSpPr>
        <p:spPr>
          <a:xfrm>
            <a:off x="8429652" y="2786058"/>
            <a:ext cx="571504" cy="2143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/>
              <a:t>删除</a:t>
            </a:r>
            <a:endParaRPr lang="en-US" sz="1000" dirty="0"/>
          </a:p>
        </p:txBody>
      </p:sp>
      <p:sp>
        <p:nvSpPr>
          <p:cNvPr id="123" name="TextBox 122"/>
          <p:cNvSpPr txBox="1"/>
          <p:nvPr/>
        </p:nvSpPr>
        <p:spPr>
          <a:xfrm>
            <a:off x="7022664" y="3071810"/>
            <a:ext cx="478294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代码</a:t>
            </a:r>
            <a:endParaRPr lang="en-US" sz="1000" dirty="0"/>
          </a:p>
        </p:txBody>
      </p:sp>
      <p:sp>
        <p:nvSpPr>
          <p:cNvPr id="125" name="TextBox 124"/>
          <p:cNvSpPr txBox="1"/>
          <p:nvPr/>
        </p:nvSpPr>
        <p:spPr>
          <a:xfrm>
            <a:off x="7500958" y="3071810"/>
            <a:ext cx="1500198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随</a:t>
            </a:r>
            <a:r>
              <a:rPr lang="zh-CN" altLang="en-US" sz="1000" dirty="0" smtClean="0"/>
              <a:t>附单证编号</a:t>
            </a:r>
            <a:endParaRPr lang="en-US" sz="1000" dirty="0"/>
          </a:p>
        </p:txBody>
      </p:sp>
      <p:sp>
        <p:nvSpPr>
          <p:cNvPr id="126" name="TextBox 125"/>
          <p:cNvSpPr txBox="1"/>
          <p:nvPr/>
        </p:nvSpPr>
        <p:spPr>
          <a:xfrm>
            <a:off x="7022664" y="3325655"/>
            <a:ext cx="47829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28" name="TextBox 127"/>
          <p:cNvSpPr txBox="1"/>
          <p:nvPr/>
        </p:nvSpPr>
        <p:spPr>
          <a:xfrm>
            <a:off x="7500958" y="3325655"/>
            <a:ext cx="150019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29" name="TextBox 128"/>
          <p:cNvSpPr txBox="1"/>
          <p:nvPr/>
        </p:nvSpPr>
        <p:spPr>
          <a:xfrm>
            <a:off x="7022664" y="3571876"/>
            <a:ext cx="47829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31" name="TextBox 130"/>
          <p:cNvSpPr txBox="1"/>
          <p:nvPr/>
        </p:nvSpPr>
        <p:spPr>
          <a:xfrm>
            <a:off x="7500958" y="3571876"/>
            <a:ext cx="150019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35" name="TextBox 134"/>
          <p:cNvSpPr txBox="1"/>
          <p:nvPr/>
        </p:nvSpPr>
        <p:spPr>
          <a:xfrm>
            <a:off x="7000892" y="3857628"/>
            <a:ext cx="1000132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境内目的地</a:t>
            </a:r>
            <a:endParaRPr lang="en-US" sz="1000" dirty="0"/>
          </a:p>
        </p:txBody>
      </p:sp>
      <p:sp>
        <p:nvSpPr>
          <p:cNvPr id="136" name="TextBox 135"/>
          <p:cNvSpPr txBox="1"/>
          <p:nvPr/>
        </p:nvSpPr>
        <p:spPr>
          <a:xfrm>
            <a:off x="8000992" y="3857628"/>
            <a:ext cx="100016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37" name="TextBox 136"/>
          <p:cNvSpPr txBox="1"/>
          <p:nvPr/>
        </p:nvSpPr>
        <p:spPr>
          <a:xfrm>
            <a:off x="7000892" y="4103849"/>
            <a:ext cx="1000132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境内目的地</a:t>
            </a:r>
            <a:endParaRPr lang="en-US" sz="1000" dirty="0"/>
          </a:p>
        </p:txBody>
      </p:sp>
      <p:sp>
        <p:nvSpPr>
          <p:cNvPr id="138" name="TextBox 137"/>
          <p:cNvSpPr txBox="1"/>
          <p:nvPr/>
        </p:nvSpPr>
        <p:spPr>
          <a:xfrm>
            <a:off x="8000992" y="4103849"/>
            <a:ext cx="100016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43" name="TextBox 142"/>
          <p:cNvSpPr txBox="1"/>
          <p:nvPr/>
        </p:nvSpPr>
        <p:spPr>
          <a:xfrm>
            <a:off x="214282" y="4714884"/>
            <a:ext cx="714380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商</a:t>
            </a:r>
            <a:r>
              <a:rPr lang="zh-CN" altLang="en-US" sz="1000" dirty="0" smtClean="0"/>
              <a:t>品序号</a:t>
            </a:r>
            <a:endParaRPr lang="en-US" sz="1000" dirty="0"/>
          </a:p>
        </p:txBody>
      </p:sp>
      <p:sp>
        <p:nvSpPr>
          <p:cNvPr id="144" name="TextBox 143"/>
          <p:cNvSpPr txBox="1"/>
          <p:nvPr/>
        </p:nvSpPr>
        <p:spPr>
          <a:xfrm>
            <a:off x="928662" y="4714885"/>
            <a:ext cx="736152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商品编</a:t>
            </a:r>
            <a:r>
              <a:rPr lang="zh-CN" altLang="en-US" sz="1000" dirty="0" smtClean="0"/>
              <a:t>号</a:t>
            </a:r>
            <a:endParaRPr lang="en-US" sz="1000" dirty="0"/>
          </a:p>
        </p:txBody>
      </p:sp>
      <p:sp>
        <p:nvSpPr>
          <p:cNvPr id="146" name="TextBox 145"/>
          <p:cNvSpPr txBox="1"/>
          <p:nvPr/>
        </p:nvSpPr>
        <p:spPr>
          <a:xfrm>
            <a:off x="214282" y="4968729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47" name="TextBox 146"/>
          <p:cNvSpPr txBox="1"/>
          <p:nvPr/>
        </p:nvSpPr>
        <p:spPr>
          <a:xfrm>
            <a:off x="928662" y="4968729"/>
            <a:ext cx="73615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49" name="TextBox 148"/>
          <p:cNvSpPr txBox="1"/>
          <p:nvPr/>
        </p:nvSpPr>
        <p:spPr>
          <a:xfrm>
            <a:off x="214282" y="5214950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50" name="TextBox 149"/>
          <p:cNvSpPr txBox="1"/>
          <p:nvPr/>
        </p:nvSpPr>
        <p:spPr>
          <a:xfrm>
            <a:off x="928662" y="5214950"/>
            <a:ext cx="73615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52" name="TextBox 151"/>
          <p:cNvSpPr txBox="1"/>
          <p:nvPr/>
        </p:nvSpPr>
        <p:spPr>
          <a:xfrm>
            <a:off x="214282" y="5457909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53" name="TextBox 152"/>
          <p:cNvSpPr txBox="1"/>
          <p:nvPr/>
        </p:nvSpPr>
        <p:spPr>
          <a:xfrm>
            <a:off x="928662" y="5457909"/>
            <a:ext cx="73615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55" name="TextBox 154"/>
          <p:cNvSpPr txBox="1"/>
          <p:nvPr/>
        </p:nvSpPr>
        <p:spPr>
          <a:xfrm>
            <a:off x="1643042" y="4714883"/>
            <a:ext cx="714380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附加编号</a:t>
            </a:r>
            <a:endParaRPr lang="en-US" sz="1000" dirty="0"/>
          </a:p>
        </p:txBody>
      </p:sp>
      <p:sp>
        <p:nvSpPr>
          <p:cNvPr id="156" name="TextBox 155"/>
          <p:cNvSpPr txBox="1"/>
          <p:nvPr/>
        </p:nvSpPr>
        <p:spPr>
          <a:xfrm>
            <a:off x="1643042" y="4968728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57" name="TextBox 156"/>
          <p:cNvSpPr txBox="1"/>
          <p:nvPr/>
        </p:nvSpPr>
        <p:spPr>
          <a:xfrm>
            <a:off x="1643042" y="5214949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58" name="TextBox 157"/>
          <p:cNvSpPr txBox="1"/>
          <p:nvPr/>
        </p:nvSpPr>
        <p:spPr>
          <a:xfrm>
            <a:off x="1643042" y="5457908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59" name="TextBox 158"/>
          <p:cNvSpPr txBox="1"/>
          <p:nvPr/>
        </p:nvSpPr>
        <p:spPr>
          <a:xfrm>
            <a:off x="2357422" y="4714884"/>
            <a:ext cx="85725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商</a:t>
            </a:r>
            <a:r>
              <a:rPr lang="zh-CN" altLang="en-US" sz="1000" dirty="0" smtClean="0"/>
              <a:t>品名称</a:t>
            </a:r>
            <a:endParaRPr lang="en-US" sz="1000" dirty="0"/>
          </a:p>
        </p:txBody>
      </p:sp>
      <p:sp>
        <p:nvSpPr>
          <p:cNvPr id="160" name="TextBox 159"/>
          <p:cNvSpPr txBox="1"/>
          <p:nvPr/>
        </p:nvSpPr>
        <p:spPr>
          <a:xfrm>
            <a:off x="2357422" y="4968728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61" name="TextBox 160"/>
          <p:cNvSpPr txBox="1"/>
          <p:nvPr/>
        </p:nvSpPr>
        <p:spPr>
          <a:xfrm>
            <a:off x="2357422" y="5214949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62" name="TextBox 161"/>
          <p:cNvSpPr txBox="1"/>
          <p:nvPr/>
        </p:nvSpPr>
        <p:spPr>
          <a:xfrm>
            <a:off x="2357422" y="5457908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63" name="TextBox 162"/>
          <p:cNvSpPr txBox="1"/>
          <p:nvPr/>
        </p:nvSpPr>
        <p:spPr>
          <a:xfrm>
            <a:off x="3214678" y="4714884"/>
            <a:ext cx="1428760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规格型号</a:t>
            </a:r>
            <a:endParaRPr lang="en-US" sz="1000" dirty="0"/>
          </a:p>
        </p:txBody>
      </p:sp>
      <p:sp>
        <p:nvSpPr>
          <p:cNvPr id="164" name="TextBox 163"/>
          <p:cNvSpPr txBox="1"/>
          <p:nvPr/>
        </p:nvSpPr>
        <p:spPr>
          <a:xfrm>
            <a:off x="3214678" y="4968728"/>
            <a:ext cx="142876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65" name="TextBox 164"/>
          <p:cNvSpPr txBox="1"/>
          <p:nvPr/>
        </p:nvSpPr>
        <p:spPr>
          <a:xfrm>
            <a:off x="3214678" y="5214949"/>
            <a:ext cx="142876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66" name="TextBox 165"/>
          <p:cNvSpPr txBox="1"/>
          <p:nvPr/>
        </p:nvSpPr>
        <p:spPr>
          <a:xfrm>
            <a:off x="3214678" y="5457908"/>
            <a:ext cx="142876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71" name="TextBox 170"/>
          <p:cNvSpPr txBox="1"/>
          <p:nvPr/>
        </p:nvSpPr>
        <p:spPr>
          <a:xfrm>
            <a:off x="5357818" y="4714883"/>
            <a:ext cx="50006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数量</a:t>
            </a:r>
            <a:endParaRPr lang="en-US" sz="1000" dirty="0"/>
          </a:p>
        </p:txBody>
      </p:sp>
      <p:sp>
        <p:nvSpPr>
          <p:cNvPr id="172" name="TextBox 171"/>
          <p:cNvSpPr txBox="1"/>
          <p:nvPr/>
        </p:nvSpPr>
        <p:spPr>
          <a:xfrm>
            <a:off x="5357818" y="4968728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73" name="TextBox 172"/>
          <p:cNvSpPr txBox="1"/>
          <p:nvPr/>
        </p:nvSpPr>
        <p:spPr>
          <a:xfrm>
            <a:off x="5357818" y="5214949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74" name="TextBox 173"/>
          <p:cNvSpPr txBox="1"/>
          <p:nvPr/>
        </p:nvSpPr>
        <p:spPr>
          <a:xfrm>
            <a:off x="5357818" y="5457908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75" name="TextBox 174"/>
          <p:cNvSpPr txBox="1"/>
          <p:nvPr/>
        </p:nvSpPr>
        <p:spPr>
          <a:xfrm>
            <a:off x="7358082" y="4714884"/>
            <a:ext cx="50006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币制</a:t>
            </a:r>
            <a:endParaRPr lang="en-US" sz="1000" dirty="0"/>
          </a:p>
        </p:txBody>
      </p:sp>
      <p:sp>
        <p:nvSpPr>
          <p:cNvPr id="176" name="TextBox 175"/>
          <p:cNvSpPr txBox="1"/>
          <p:nvPr/>
        </p:nvSpPr>
        <p:spPr>
          <a:xfrm>
            <a:off x="7358082" y="4968728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77" name="TextBox 176"/>
          <p:cNvSpPr txBox="1"/>
          <p:nvPr/>
        </p:nvSpPr>
        <p:spPr>
          <a:xfrm>
            <a:off x="7358082" y="5214949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78" name="TextBox 177"/>
          <p:cNvSpPr txBox="1"/>
          <p:nvPr/>
        </p:nvSpPr>
        <p:spPr>
          <a:xfrm>
            <a:off x="7358082" y="5457908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79" name="TextBox 178"/>
          <p:cNvSpPr txBox="1"/>
          <p:nvPr/>
        </p:nvSpPr>
        <p:spPr>
          <a:xfrm>
            <a:off x="7858148" y="4714884"/>
            <a:ext cx="642942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用途</a:t>
            </a:r>
            <a:endParaRPr lang="en-US" sz="1000" dirty="0"/>
          </a:p>
        </p:txBody>
      </p:sp>
      <p:sp>
        <p:nvSpPr>
          <p:cNvPr id="180" name="TextBox 179"/>
          <p:cNvSpPr txBox="1"/>
          <p:nvPr/>
        </p:nvSpPr>
        <p:spPr>
          <a:xfrm>
            <a:off x="7858148" y="4968728"/>
            <a:ext cx="64294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81" name="TextBox 180"/>
          <p:cNvSpPr txBox="1"/>
          <p:nvPr/>
        </p:nvSpPr>
        <p:spPr>
          <a:xfrm>
            <a:off x="7858148" y="5214949"/>
            <a:ext cx="64294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82" name="TextBox 181"/>
          <p:cNvSpPr txBox="1"/>
          <p:nvPr/>
        </p:nvSpPr>
        <p:spPr>
          <a:xfrm>
            <a:off x="7858148" y="5457908"/>
            <a:ext cx="64294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83" name="TextBox 182"/>
          <p:cNvSpPr txBox="1"/>
          <p:nvPr/>
        </p:nvSpPr>
        <p:spPr>
          <a:xfrm>
            <a:off x="5857884" y="4714884"/>
            <a:ext cx="50006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单位</a:t>
            </a:r>
            <a:endParaRPr lang="en-US" sz="1000" dirty="0"/>
          </a:p>
        </p:txBody>
      </p:sp>
      <p:sp>
        <p:nvSpPr>
          <p:cNvPr id="184" name="TextBox 183"/>
          <p:cNvSpPr txBox="1"/>
          <p:nvPr/>
        </p:nvSpPr>
        <p:spPr>
          <a:xfrm>
            <a:off x="5857884" y="4968729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85" name="TextBox 184"/>
          <p:cNvSpPr txBox="1"/>
          <p:nvPr/>
        </p:nvSpPr>
        <p:spPr>
          <a:xfrm>
            <a:off x="5857884" y="5214950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86" name="TextBox 185"/>
          <p:cNvSpPr txBox="1"/>
          <p:nvPr/>
        </p:nvSpPr>
        <p:spPr>
          <a:xfrm>
            <a:off x="5857884" y="5457909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87" name="TextBox 186"/>
          <p:cNvSpPr txBox="1"/>
          <p:nvPr/>
        </p:nvSpPr>
        <p:spPr>
          <a:xfrm>
            <a:off x="6357950" y="4714884"/>
            <a:ext cx="50006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单价</a:t>
            </a:r>
            <a:endParaRPr lang="en-US" sz="1000" dirty="0"/>
          </a:p>
        </p:txBody>
      </p:sp>
      <p:sp>
        <p:nvSpPr>
          <p:cNvPr id="188" name="TextBox 187"/>
          <p:cNvSpPr txBox="1"/>
          <p:nvPr/>
        </p:nvSpPr>
        <p:spPr>
          <a:xfrm>
            <a:off x="6357950" y="4968729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89" name="TextBox 188"/>
          <p:cNvSpPr txBox="1"/>
          <p:nvPr/>
        </p:nvSpPr>
        <p:spPr>
          <a:xfrm>
            <a:off x="6357950" y="5214950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90" name="TextBox 189"/>
          <p:cNvSpPr txBox="1"/>
          <p:nvPr/>
        </p:nvSpPr>
        <p:spPr>
          <a:xfrm>
            <a:off x="6357950" y="5457909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91" name="TextBox 190"/>
          <p:cNvSpPr txBox="1"/>
          <p:nvPr/>
        </p:nvSpPr>
        <p:spPr>
          <a:xfrm>
            <a:off x="6858016" y="4714884"/>
            <a:ext cx="50006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总价</a:t>
            </a:r>
            <a:endParaRPr lang="en-US" sz="1000" dirty="0"/>
          </a:p>
        </p:txBody>
      </p:sp>
      <p:sp>
        <p:nvSpPr>
          <p:cNvPr id="192" name="TextBox 191"/>
          <p:cNvSpPr txBox="1"/>
          <p:nvPr/>
        </p:nvSpPr>
        <p:spPr>
          <a:xfrm>
            <a:off x="6858016" y="4968729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93" name="TextBox 192"/>
          <p:cNvSpPr txBox="1"/>
          <p:nvPr/>
        </p:nvSpPr>
        <p:spPr>
          <a:xfrm>
            <a:off x="6858016" y="5214950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94" name="TextBox 193"/>
          <p:cNvSpPr txBox="1"/>
          <p:nvPr/>
        </p:nvSpPr>
        <p:spPr>
          <a:xfrm>
            <a:off x="6858016" y="5457909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95" name="TextBox 194"/>
          <p:cNvSpPr txBox="1"/>
          <p:nvPr/>
        </p:nvSpPr>
        <p:spPr>
          <a:xfrm>
            <a:off x="8501090" y="4714884"/>
            <a:ext cx="50006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征免</a:t>
            </a:r>
            <a:endParaRPr lang="en-US" sz="1000" dirty="0"/>
          </a:p>
        </p:txBody>
      </p:sp>
      <p:sp>
        <p:nvSpPr>
          <p:cNvPr id="196" name="TextBox 195"/>
          <p:cNvSpPr txBox="1"/>
          <p:nvPr/>
        </p:nvSpPr>
        <p:spPr>
          <a:xfrm>
            <a:off x="8501090" y="4968728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97" name="TextBox 196"/>
          <p:cNvSpPr txBox="1"/>
          <p:nvPr/>
        </p:nvSpPr>
        <p:spPr>
          <a:xfrm>
            <a:off x="8501090" y="5214949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98" name="TextBox 197"/>
          <p:cNvSpPr txBox="1"/>
          <p:nvPr/>
        </p:nvSpPr>
        <p:spPr>
          <a:xfrm>
            <a:off x="8501090" y="5457908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99" name="TextBox 198"/>
          <p:cNvSpPr txBox="1"/>
          <p:nvPr/>
        </p:nvSpPr>
        <p:spPr>
          <a:xfrm>
            <a:off x="7286644" y="714356"/>
            <a:ext cx="1928826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100" u="sng" dirty="0" smtClean="0"/>
              <a:t>编号</a:t>
            </a:r>
            <a:r>
              <a:rPr lang="en-US" altLang="zh-CN" sz="1100" u="sng" dirty="0" smtClean="0"/>
              <a:t>(</a:t>
            </a:r>
            <a:r>
              <a:rPr lang="zh-CN" altLang="en-US" sz="1100" u="sng" dirty="0" smtClean="0"/>
              <a:t>报关单</a:t>
            </a:r>
            <a:r>
              <a:rPr lang="en-US" altLang="zh-CN" sz="1100" u="sng" dirty="0" smtClean="0"/>
              <a:t>)</a:t>
            </a:r>
            <a:r>
              <a:rPr lang="zh-CN" altLang="en-US" sz="1100" u="sng" dirty="0" smtClean="0"/>
              <a:t> ：</a:t>
            </a:r>
            <a:r>
              <a:rPr lang="en-US" altLang="zh-CN" sz="1100" u="sng" dirty="0" smtClean="0"/>
              <a:t>12345678</a:t>
            </a:r>
            <a:r>
              <a:rPr lang="zh-CN" altLang="en-US" sz="1100" u="sng" dirty="0" smtClean="0"/>
              <a:t> </a:t>
            </a:r>
            <a:endParaRPr lang="en-US" sz="1100" u="sng" dirty="0"/>
          </a:p>
        </p:txBody>
      </p:sp>
      <p:sp>
        <p:nvSpPr>
          <p:cNvPr id="200" name="Rounded Rectangle 199"/>
          <p:cNvSpPr/>
          <p:nvPr/>
        </p:nvSpPr>
        <p:spPr>
          <a:xfrm>
            <a:off x="7715272" y="2786058"/>
            <a:ext cx="571504" cy="2143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编辑</a:t>
            </a:r>
            <a:endParaRPr lang="en-US" sz="1000" dirty="0"/>
          </a:p>
        </p:txBody>
      </p:sp>
      <p:sp>
        <p:nvSpPr>
          <p:cNvPr id="201" name="Rounded Rectangle 200"/>
          <p:cNvSpPr/>
          <p:nvPr/>
        </p:nvSpPr>
        <p:spPr>
          <a:xfrm>
            <a:off x="7000892" y="4429132"/>
            <a:ext cx="571504" cy="2143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/>
              <a:t>追加</a:t>
            </a:r>
            <a:endParaRPr lang="en-US" sz="1000" dirty="0"/>
          </a:p>
        </p:txBody>
      </p:sp>
      <p:sp>
        <p:nvSpPr>
          <p:cNvPr id="202" name="Rounded Rectangle 201"/>
          <p:cNvSpPr/>
          <p:nvPr/>
        </p:nvSpPr>
        <p:spPr>
          <a:xfrm>
            <a:off x="8429652" y="4429132"/>
            <a:ext cx="571504" cy="2143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/>
              <a:t>删除</a:t>
            </a:r>
            <a:endParaRPr lang="en-US" sz="1000" dirty="0"/>
          </a:p>
        </p:txBody>
      </p:sp>
      <p:sp>
        <p:nvSpPr>
          <p:cNvPr id="203" name="Rounded Rectangle 202"/>
          <p:cNvSpPr/>
          <p:nvPr/>
        </p:nvSpPr>
        <p:spPr>
          <a:xfrm>
            <a:off x="7715272" y="4429132"/>
            <a:ext cx="571504" cy="2143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编辑</a:t>
            </a:r>
            <a:endParaRPr lang="en-US" sz="1000" dirty="0"/>
          </a:p>
        </p:txBody>
      </p:sp>
      <p:sp>
        <p:nvSpPr>
          <p:cNvPr id="204" name="TextBox 203"/>
          <p:cNvSpPr txBox="1"/>
          <p:nvPr/>
        </p:nvSpPr>
        <p:spPr>
          <a:xfrm>
            <a:off x="4643438" y="4714883"/>
            <a:ext cx="714380" cy="400110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原产地</a:t>
            </a:r>
            <a:endParaRPr lang="en-US" sz="1000" dirty="0" smtClean="0"/>
          </a:p>
          <a:p>
            <a:endParaRPr lang="en-US" sz="1000" dirty="0"/>
          </a:p>
        </p:txBody>
      </p:sp>
      <p:sp>
        <p:nvSpPr>
          <p:cNvPr id="205" name="TextBox 204"/>
          <p:cNvSpPr txBox="1"/>
          <p:nvPr/>
        </p:nvSpPr>
        <p:spPr>
          <a:xfrm>
            <a:off x="4643438" y="4968728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06" name="TextBox 205"/>
          <p:cNvSpPr txBox="1"/>
          <p:nvPr/>
        </p:nvSpPr>
        <p:spPr>
          <a:xfrm>
            <a:off x="4643438" y="5214949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07" name="TextBox 206"/>
          <p:cNvSpPr txBox="1"/>
          <p:nvPr/>
        </p:nvSpPr>
        <p:spPr>
          <a:xfrm>
            <a:off x="4643438" y="5457908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1010244"/>
            <a:ext cx="857256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预录</a:t>
            </a:r>
            <a:r>
              <a:rPr lang="zh-CN" altLang="en-US" sz="1000" dirty="0" smtClean="0"/>
              <a:t>入编号</a:t>
            </a:r>
            <a:endParaRPr lang="en-US" sz="1000" dirty="0"/>
          </a:p>
        </p:txBody>
      </p:sp>
      <p:sp>
        <p:nvSpPr>
          <p:cNvPr id="5" name="TextBox 4"/>
          <p:cNvSpPr txBox="1"/>
          <p:nvPr/>
        </p:nvSpPr>
        <p:spPr>
          <a:xfrm>
            <a:off x="1071538" y="1010243"/>
            <a:ext cx="585791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6" name="TextBox 5"/>
          <p:cNvSpPr txBox="1"/>
          <p:nvPr/>
        </p:nvSpPr>
        <p:spPr>
          <a:xfrm>
            <a:off x="214282" y="1253202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海关编号</a:t>
            </a:r>
            <a:endParaRPr lang="en-US" sz="1000" dirty="0"/>
          </a:p>
        </p:txBody>
      </p:sp>
      <p:sp>
        <p:nvSpPr>
          <p:cNvPr id="10" name="TextBox 9"/>
          <p:cNvSpPr txBox="1"/>
          <p:nvPr/>
        </p:nvSpPr>
        <p:spPr>
          <a:xfrm>
            <a:off x="928662" y="1253203"/>
            <a:ext cx="242889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1" name="TextBox 10"/>
          <p:cNvSpPr txBox="1"/>
          <p:nvPr/>
        </p:nvSpPr>
        <p:spPr>
          <a:xfrm>
            <a:off x="3357554" y="1253201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出</a:t>
            </a:r>
            <a:r>
              <a:rPr lang="zh-CN" altLang="en-US" sz="1000" dirty="0" smtClean="0"/>
              <a:t>口口岸</a:t>
            </a:r>
            <a:endParaRPr lang="en-US" sz="1000" dirty="0"/>
          </a:p>
        </p:txBody>
      </p:sp>
      <p:sp>
        <p:nvSpPr>
          <p:cNvPr id="12" name="TextBox 11"/>
          <p:cNvSpPr txBox="1"/>
          <p:nvPr/>
        </p:nvSpPr>
        <p:spPr>
          <a:xfrm>
            <a:off x="4071934" y="1253203"/>
            <a:ext cx="285752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3" name="TextBox 12"/>
          <p:cNvSpPr txBox="1"/>
          <p:nvPr/>
        </p:nvSpPr>
        <p:spPr>
          <a:xfrm>
            <a:off x="214282" y="1499423"/>
            <a:ext cx="714380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备案号</a:t>
            </a:r>
            <a:r>
              <a:rPr lang="en-US" altLang="zh-CN" sz="1000" dirty="0" smtClean="0"/>
              <a:t>	</a:t>
            </a:r>
            <a:endParaRPr lang="en-US" sz="1000" dirty="0"/>
          </a:p>
        </p:txBody>
      </p:sp>
      <p:sp>
        <p:nvSpPr>
          <p:cNvPr id="14" name="TextBox 13"/>
          <p:cNvSpPr txBox="1"/>
          <p:nvPr/>
        </p:nvSpPr>
        <p:spPr>
          <a:xfrm>
            <a:off x="928662" y="1499424"/>
            <a:ext cx="242889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5" name="TextBox 14"/>
          <p:cNvSpPr txBox="1"/>
          <p:nvPr/>
        </p:nvSpPr>
        <p:spPr>
          <a:xfrm>
            <a:off x="3357554" y="1499422"/>
            <a:ext cx="928694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合同协议号</a:t>
            </a:r>
            <a:endParaRPr lang="en-US" sz="1000" dirty="0"/>
          </a:p>
        </p:txBody>
      </p:sp>
      <p:sp>
        <p:nvSpPr>
          <p:cNvPr id="16" name="TextBox 15"/>
          <p:cNvSpPr txBox="1"/>
          <p:nvPr/>
        </p:nvSpPr>
        <p:spPr>
          <a:xfrm>
            <a:off x="4286248" y="1499424"/>
            <a:ext cx="264320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7" name="TextBox 16"/>
          <p:cNvSpPr txBox="1"/>
          <p:nvPr/>
        </p:nvSpPr>
        <p:spPr>
          <a:xfrm>
            <a:off x="214282" y="1713737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出</a:t>
            </a:r>
            <a:r>
              <a:rPr lang="zh-CN" altLang="en-US" sz="1000" dirty="0" smtClean="0"/>
              <a:t>口日期</a:t>
            </a:r>
            <a:endParaRPr lang="en-US" sz="1000" dirty="0"/>
          </a:p>
        </p:txBody>
      </p:sp>
      <p:sp>
        <p:nvSpPr>
          <p:cNvPr id="18" name="TextBox 17"/>
          <p:cNvSpPr txBox="1"/>
          <p:nvPr/>
        </p:nvSpPr>
        <p:spPr>
          <a:xfrm>
            <a:off x="928662" y="1713738"/>
            <a:ext cx="242889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9" name="TextBox 18"/>
          <p:cNvSpPr txBox="1"/>
          <p:nvPr/>
        </p:nvSpPr>
        <p:spPr>
          <a:xfrm>
            <a:off x="3357554" y="1713736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申报日期</a:t>
            </a:r>
            <a:endParaRPr lang="en-US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071934" y="1713738"/>
            <a:ext cx="285752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1" name="TextBox 20"/>
          <p:cNvSpPr txBox="1"/>
          <p:nvPr/>
        </p:nvSpPr>
        <p:spPr>
          <a:xfrm>
            <a:off x="214282" y="1938938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经营单位</a:t>
            </a:r>
            <a:endParaRPr lang="en-US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928662" y="1938939"/>
            <a:ext cx="3143272" cy="2462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071934" y="1938938"/>
            <a:ext cx="1000132" cy="24622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运输方式</a:t>
            </a:r>
            <a:endParaRPr lang="en-US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5072066" y="1938938"/>
            <a:ext cx="1857388" cy="2462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9" name="TextBox 28"/>
          <p:cNvSpPr txBox="1"/>
          <p:nvPr/>
        </p:nvSpPr>
        <p:spPr>
          <a:xfrm>
            <a:off x="214282" y="2181146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发</a:t>
            </a:r>
            <a:r>
              <a:rPr lang="zh-CN" altLang="en-US" sz="1000" dirty="0" smtClean="0"/>
              <a:t>货单位</a:t>
            </a:r>
            <a:endParaRPr lang="en-US" sz="1000" dirty="0"/>
          </a:p>
        </p:txBody>
      </p:sp>
      <p:sp>
        <p:nvSpPr>
          <p:cNvPr id="30" name="TextBox 29"/>
          <p:cNvSpPr txBox="1"/>
          <p:nvPr/>
        </p:nvSpPr>
        <p:spPr>
          <a:xfrm>
            <a:off x="928662" y="2181147"/>
            <a:ext cx="3143272" cy="2462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1" name="TextBox 30"/>
          <p:cNvSpPr txBox="1"/>
          <p:nvPr/>
        </p:nvSpPr>
        <p:spPr>
          <a:xfrm>
            <a:off x="4071934" y="2181145"/>
            <a:ext cx="1000132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运输工具名称</a:t>
            </a:r>
            <a:endParaRPr lang="en-US" sz="1000" dirty="0"/>
          </a:p>
        </p:txBody>
      </p:sp>
      <p:sp>
        <p:nvSpPr>
          <p:cNvPr id="32" name="TextBox 31"/>
          <p:cNvSpPr txBox="1"/>
          <p:nvPr/>
        </p:nvSpPr>
        <p:spPr>
          <a:xfrm>
            <a:off x="5072066" y="2181146"/>
            <a:ext cx="185738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3" name="TextBox 32"/>
          <p:cNvSpPr txBox="1"/>
          <p:nvPr/>
        </p:nvSpPr>
        <p:spPr>
          <a:xfrm>
            <a:off x="214282" y="2428118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申报单位</a:t>
            </a:r>
            <a:endParaRPr lang="en-US" sz="1000" dirty="0"/>
          </a:p>
        </p:txBody>
      </p:sp>
      <p:sp>
        <p:nvSpPr>
          <p:cNvPr id="34" name="TextBox 33"/>
          <p:cNvSpPr txBox="1"/>
          <p:nvPr/>
        </p:nvSpPr>
        <p:spPr>
          <a:xfrm>
            <a:off x="928662" y="2428119"/>
            <a:ext cx="3143272" cy="2462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5" name="TextBox 34"/>
          <p:cNvSpPr txBox="1"/>
          <p:nvPr/>
        </p:nvSpPr>
        <p:spPr>
          <a:xfrm>
            <a:off x="4071934" y="2428118"/>
            <a:ext cx="642942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航次号</a:t>
            </a:r>
            <a:endParaRPr lang="en-US" sz="1000" dirty="0"/>
          </a:p>
        </p:txBody>
      </p:sp>
      <p:sp>
        <p:nvSpPr>
          <p:cNvPr id="36" name="TextBox 35"/>
          <p:cNvSpPr txBox="1"/>
          <p:nvPr/>
        </p:nvSpPr>
        <p:spPr>
          <a:xfrm>
            <a:off x="4714876" y="2428119"/>
            <a:ext cx="221457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37" name="TextBox 36"/>
          <p:cNvSpPr txBox="1"/>
          <p:nvPr/>
        </p:nvSpPr>
        <p:spPr>
          <a:xfrm>
            <a:off x="214282" y="2671075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提</a:t>
            </a:r>
            <a:r>
              <a:rPr lang="zh-CN" altLang="en-US" sz="1000" dirty="0" smtClean="0"/>
              <a:t>运单号</a:t>
            </a:r>
            <a:endParaRPr lang="en-US" sz="1000" dirty="0"/>
          </a:p>
        </p:txBody>
      </p:sp>
      <p:sp>
        <p:nvSpPr>
          <p:cNvPr id="38" name="TextBox 37"/>
          <p:cNvSpPr txBox="1"/>
          <p:nvPr/>
        </p:nvSpPr>
        <p:spPr>
          <a:xfrm>
            <a:off x="928662" y="2671076"/>
            <a:ext cx="114300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41" name="TextBox 40"/>
          <p:cNvSpPr txBox="1"/>
          <p:nvPr/>
        </p:nvSpPr>
        <p:spPr>
          <a:xfrm>
            <a:off x="2071670" y="2671076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贸易方式</a:t>
            </a:r>
            <a:endParaRPr lang="en-US" sz="1000" dirty="0"/>
          </a:p>
        </p:txBody>
      </p:sp>
      <p:sp>
        <p:nvSpPr>
          <p:cNvPr id="42" name="TextBox 41"/>
          <p:cNvSpPr txBox="1"/>
          <p:nvPr/>
        </p:nvSpPr>
        <p:spPr>
          <a:xfrm>
            <a:off x="2786050" y="2671077"/>
            <a:ext cx="100013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43" name="TextBox 42"/>
          <p:cNvSpPr txBox="1"/>
          <p:nvPr/>
        </p:nvSpPr>
        <p:spPr>
          <a:xfrm>
            <a:off x="3786182" y="2671077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征免性质</a:t>
            </a:r>
            <a:endParaRPr lang="en-US" sz="1000" dirty="0"/>
          </a:p>
        </p:txBody>
      </p:sp>
      <p:sp>
        <p:nvSpPr>
          <p:cNvPr id="44" name="TextBox 43"/>
          <p:cNvSpPr txBox="1"/>
          <p:nvPr/>
        </p:nvSpPr>
        <p:spPr>
          <a:xfrm>
            <a:off x="4500562" y="2670326"/>
            <a:ext cx="100013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45" name="TextBox 44"/>
          <p:cNvSpPr txBox="1"/>
          <p:nvPr/>
        </p:nvSpPr>
        <p:spPr>
          <a:xfrm>
            <a:off x="5500694" y="2670326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结汇方式</a:t>
            </a:r>
            <a:endParaRPr lang="en-US" sz="1000" dirty="0"/>
          </a:p>
        </p:txBody>
      </p:sp>
      <p:sp>
        <p:nvSpPr>
          <p:cNvPr id="46" name="TextBox 45"/>
          <p:cNvSpPr txBox="1"/>
          <p:nvPr/>
        </p:nvSpPr>
        <p:spPr>
          <a:xfrm>
            <a:off x="6215074" y="2671077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47" name="TextBox 46"/>
          <p:cNvSpPr txBox="1"/>
          <p:nvPr/>
        </p:nvSpPr>
        <p:spPr>
          <a:xfrm>
            <a:off x="214282" y="2907162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纳税单位</a:t>
            </a:r>
            <a:endParaRPr lang="en-US" sz="1000" dirty="0"/>
          </a:p>
        </p:txBody>
      </p:sp>
      <p:sp>
        <p:nvSpPr>
          <p:cNvPr id="48" name="TextBox 47"/>
          <p:cNvSpPr txBox="1"/>
          <p:nvPr/>
        </p:nvSpPr>
        <p:spPr>
          <a:xfrm>
            <a:off x="928662" y="2907163"/>
            <a:ext cx="114300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49" name="TextBox 48"/>
          <p:cNvSpPr txBox="1"/>
          <p:nvPr/>
        </p:nvSpPr>
        <p:spPr>
          <a:xfrm>
            <a:off x="2071670" y="2907162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许可证号</a:t>
            </a:r>
            <a:endParaRPr lang="en-US" sz="1000" dirty="0"/>
          </a:p>
        </p:txBody>
      </p:sp>
      <p:sp>
        <p:nvSpPr>
          <p:cNvPr id="50" name="TextBox 49"/>
          <p:cNvSpPr txBox="1"/>
          <p:nvPr/>
        </p:nvSpPr>
        <p:spPr>
          <a:xfrm>
            <a:off x="2786050" y="2907163"/>
            <a:ext cx="414340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51" name="TextBox 50"/>
          <p:cNvSpPr txBox="1"/>
          <p:nvPr/>
        </p:nvSpPr>
        <p:spPr>
          <a:xfrm>
            <a:off x="214282" y="3153385"/>
            <a:ext cx="107157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运抵国</a:t>
            </a:r>
            <a:r>
              <a:rPr lang="en-US" altLang="zh-CN" sz="1000" dirty="0" smtClean="0"/>
              <a:t>(</a:t>
            </a:r>
            <a:r>
              <a:rPr lang="zh-CN" altLang="en-US" sz="1000" dirty="0" smtClean="0"/>
              <a:t>地区</a:t>
            </a:r>
            <a:r>
              <a:rPr lang="en-US" altLang="zh-CN" sz="1000" dirty="0" smtClean="0"/>
              <a:t>)</a:t>
            </a:r>
            <a:endParaRPr lang="en-US" sz="1000" dirty="0"/>
          </a:p>
        </p:txBody>
      </p:sp>
      <p:sp>
        <p:nvSpPr>
          <p:cNvPr id="52" name="TextBox 51"/>
          <p:cNvSpPr txBox="1"/>
          <p:nvPr/>
        </p:nvSpPr>
        <p:spPr>
          <a:xfrm>
            <a:off x="1285852" y="3153385"/>
            <a:ext cx="114300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53" name="TextBox 52"/>
          <p:cNvSpPr txBox="1"/>
          <p:nvPr/>
        </p:nvSpPr>
        <p:spPr>
          <a:xfrm>
            <a:off x="2428860" y="3153384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指运港</a:t>
            </a:r>
            <a:endParaRPr lang="en-US" sz="1000" dirty="0"/>
          </a:p>
        </p:txBody>
      </p:sp>
      <p:sp>
        <p:nvSpPr>
          <p:cNvPr id="54" name="TextBox 53"/>
          <p:cNvSpPr txBox="1"/>
          <p:nvPr/>
        </p:nvSpPr>
        <p:spPr>
          <a:xfrm>
            <a:off x="3143240" y="3153385"/>
            <a:ext cx="171451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55" name="TextBox 54"/>
          <p:cNvSpPr txBox="1"/>
          <p:nvPr/>
        </p:nvSpPr>
        <p:spPr>
          <a:xfrm>
            <a:off x="4857752" y="3153384"/>
            <a:ext cx="928694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境内货源地</a:t>
            </a:r>
            <a:endParaRPr lang="en-US" sz="1000" dirty="0"/>
          </a:p>
        </p:txBody>
      </p:sp>
      <p:sp>
        <p:nvSpPr>
          <p:cNvPr id="56" name="TextBox 55"/>
          <p:cNvSpPr txBox="1"/>
          <p:nvPr/>
        </p:nvSpPr>
        <p:spPr>
          <a:xfrm>
            <a:off x="5786446" y="3153385"/>
            <a:ext cx="114300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57" name="TextBox 56"/>
          <p:cNvSpPr txBox="1"/>
          <p:nvPr/>
        </p:nvSpPr>
        <p:spPr>
          <a:xfrm>
            <a:off x="214282" y="3395591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批准文号</a:t>
            </a:r>
            <a:endParaRPr lang="en-US" sz="1000" dirty="0"/>
          </a:p>
        </p:txBody>
      </p:sp>
      <p:sp>
        <p:nvSpPr>
          <p:cNvPr id="58" name="TextBox 57"/>
          <p:cNvSpPr txBox="1"/>
          <p:nvPr/>
        </p:nvSpPr>
        <p:spPr>
          <a:xfrm>
            <a:off x="928662" y="3395592"/>
            <a:ext cx="3929090" cy="246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59" name="TextBox 58"/>
          <p:cNvSpPr txBox="1"/>
          <p:nvPr/>
        </p:nvSpPr>
        <p:spPr>
          <a:xfrm>
            <a:off x="4857752" y="3395591"/>
            <a:ext cx="928694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成</a:t>
            </a:r>
            <a:r>
              <a:rPr lang="zh-CN" altLang="en-US" sz="1000" dirty="0" smtClean="0"/>
              <a:t>交放肆</a:t>
            </a:r>
            <a:endParaRPr lang="en-US" sz="1000" dirty="0"/>
          </a:p>
        </p:txBody>
      </p:sp>
      <p:sp>
        <p:nvSpPr>
          <p:cNvPr id="60" name="TextBox 59"/>
          <p:cNvSpPr txBox="1"/>
          <p:nvPr/>
        </p:nvSpPr>
        <p:spPr>
          <a:xfrm>
            <a:off x="5786446" y="3395592"/>
            <a:ext cx="114300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61" name="TextBox 60"/>
          <p:cNvSpPr txBox="1"/>
          <p:nvPr/>
        </p:nvSpPr>
        <p:spPr>
          <a:xfrm>
            <a:off x="214282" y="3642565"/>
            <a:ext cx="571504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运费</a:t>
            </a:r>
            <a:endParaRPr lang="en-US" sz="1000" dirty="0"/>
          </a:p>
        </p:txBody>
      </p:sp>
      <p:sp>
        <p:nvSpPr>
          <p:cNvPr id="62" name="TextBox 61"/>
          <p:cNvSpPr txBox="1"/>
          <p:nvPr/>
        </p:nvSpPr>
        <p:spPr>
          <a:xfrm>
            <a:off x="785786" y="3642565"/>
            <a:ext cx="42862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63" name="TextBox 62"/>
          <p:cNvSpPr txBox="1"/>
          <p:nvPr/>
        </p:nvSpPr>
        <p:spPr>
          <a:xfrm>
            <a:off x="1214414" y="3642565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64" name="TextBox 63"/>
          <p:cNvSpPr txBox="1"/>
          <p:nvPr/>
        </p:nvSpPr>
        <p:spPr>
          <a:xfrm>
            <a:off x="2071670" y="3642564"/>
            <a:ext cx="42862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73" name="TextBox 72"/>
          <p:cNvSpPr txBox="1"/>
          <p:nvPr/>
        </p:nvSpPr>
        <p:spPr>
          <a:xfrm>
            <a:off x="2500298" y="3642564"/>
            <a:ext cx="571504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保费</a:t>
            </a:r>
            <a:endParaRPr lang="en-US" sz="1000" dirty="0"/>
          </a:p>
        </p:txBody>
      </p:sp>
      <p:sp>
        <p:nvSpPr>
          <p:cNvPr id="74" name="TextBox 73"/>
          <p:cNvSpPr txBox="1"/>
          <p:nvPr/>
        </p:nvSpPr>
        <p:spPr>
          <a:xfrm>
            <a:off x="3071802" y="3642564"/>
            <a:ext cx="42862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75" name="TextBox 74"/>
          <p:cNvSpPr txBox="1"/>
          <p:nvPr/>
        </p:nvSpPr>
        <p:spPr>
          <a:xfrm>
            <a:off x="3500430" y="3642564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76" name="TextBox 75"/>
          <p:cNvSpPr txBox="1"/>
          <p:nvPr/>
        </p:nvSpPr>
        <p:spPr>
          <a:xfrm>
            <a:off x="4357686" y="3642563"/>
            <a:ext cx="42862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77" name="TextBox 76"/>
          <p:cNvSpPr txBox="1"/>
          <p:nvPr/>
        </p:nvSpPr>
        <p:spPr>
          <a:xfrm>
            <a:off x="4786314" y="3642564"/>
            <a:ext cx="571504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杂费</a:t>
            </a:r>
            <a:endParaRPr lang="en-US" sz="1000" dirty="0"/>
          </a:p>
        </p:txBody>
      </p:sp>
      <p:sp>
        <p:nvSpPr>
          <p:cNvPr id="78" name="TextBox 77"/>
          <p:cNvSpPr txBox="1"/>
          <p:nvPr/>
        </p:nvSpPr>
        <p:spPr>
          <a:xfrm>
            <a:off x="5357818" y="3642564"/>
            <a:ext cx="42862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79" name="TextBox 78"/>
          <p:cNvSpPr txBox="1"/>
          <p:nvPr/>
        </p:nvSpPr>
        <p:spPr>
          <a:xfrm>
            <a:off x="5786446" y="3642564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80" name="TextBox 79"/>
          <p:cNvSpPr txBox="1"/>
          <p:nvPr/>
        </p:nvSpPr>
        <p:spPr>
          <a:xfrm>
            <a:off x="6643702" y="3642563"/>
            <a:ext cx="28575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81" name="TextBox 80"/>
          <p:cNvSpPr txBox="1"/>
          <p:nvPr/>
        </p:nvSpPr>
        <p:spPr>
          <a:xfrm>
            <a:off x="214282" y="3885522"/>
            <a:ext cx="571504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件数</a:t>
            </a:r>
            <a:endParaRPr lang="en-US" sz="1000" dirty="0"/>
          </a:p>
        </p:txBody>
      </p:sp>
      <p:sp>
        <p:nvSpPr>
          <p:cNvPr id="82" name="TextBox 81"/>
          <p:cNvSpPr txBox="1"/>
          <p:nvPr/>
        </p:nvSpPr>
        <p:spPr>
          <a:xfrm>
            <a:off x="785786" y="3885522"/>
            <a:ext cx="785818" cy="246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83" name="TextBox 82"/>
          <p:cNvSpPr txBox="1"/>
          <p:nvPr/>
        </p:nvSpPr>
        <p:spPr>
          <a:xfrm>
            <a:off x="1571604" y="3884772"/>
            <a:ext cx="785818" cy="2469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包装种类</a:t>
            </a:r>
            <a:endParaRPr lang="en-US" sz="1000" dirty="0"/>
          </a:p>
        </p:txBody>
      </p:sp>
      <p:sp>
        <p:nvSpPr>
          <p:cNvPr id="84" name="TextBox 83"/>
          <p:cNvSpPr txBox="1"/>
          <p:nvPr/>
        </p:nvSpPr>
        <p:spPr>
          <a:xfrm>
            <a:off x="2357422" y="3886273"/>
            <a:ext cx="114300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85" name="TextBox 84"/>
          <p:cNvSpPr txBox="1"/>
          <p:nvPr/>
        </p:nvSpPr>
        <p:spPr>
          <a:xfrm>
            <a:off x="3500430" y="3884772"/>
            <a:ext cx="785818" cy="2469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毛重</a:t>
            </a:r>
            <a:r>
              <a:rPr lang="en-US" altLang="zh-CN" sz="1000" dirty="0" smtClean="0"/>
              <a:t>(KG)</a:t>
            </a:r>
            <a:endParaRPr lang="en-US" sz="1000" dirty="0"/>
          </a:p>
        </p:txBody>
      </p:sp>
      <p:sp>
        <p:nvSpPr>
          <p:cNvPr id="86" name="TextBox 85"/>
          <p:cNvSpPr txBox="1"/>
          <p:nvPr/>
        </p:nvSpPr>
        <p:spPr>
          <a:xfrm>
            <a:off x="4286248" y="3884772"/>
            <a:ext cx="928694" cy="246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89" name="TextBox 88"/>
          <p:cNvSpPr txBox="1"/>
          <p:nvPr/>
        </p:nvSpPr>
        <p:spPr>
          <a:xfrm>
            <a:off x="5214942" y="3884772"/>
            <a:ext cx="785818" cy="2469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净</a:t>
            </a:r>
            <a:r>
              <a:rPr lang="zh-CN" altLang="en-US" sz="1000" dirty="0" smtClean="0"/>
              <a:t>重</a:t>
            </a:r>
            <a:r>
              <a:rPr lang="en-US" altLang="zh-CN" sz="1000" dirty="0" smtClean="0"/>
              <a:t>(KG)</a:t>
            </a:r>
            <a:endParaRPr lang="en-US" sz="1000" dirty="0"/>
          </a:p>
        </p:txBody>
      </p:sp>
      <p:sp>
        <p:nvSpPr>
          <p:cNvPr id="90" name="TextBox 89"/>
          <p:cNvSpPr txBox="1"/>
          <p:nvPr/>
        </p:nvSpPr>
        <p:spPr>
          <a:xfrm>
            <a:off x="6000760" y="3884772"/>
            <a:ext cx="928694" cy="246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91" name="TextBox 90"/>
          <p:cNvSpPr txBox="1"/>
          <p:nvPr/>
        </p:nvSpPr>
        <p:spPr>
          <a:xfrm>
            <a:off x="214282" y="4131744"/>
            <a:ext cx="714380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集装箱号</a:t>
            </a:r>
            <a:endParaRPr lang="en-US" sz="1000" dirty="0"/>
          </a:p>
        </p:txBody>
      </p:sp>
      <p:sp>
        <p:nvSpPr>
          <p:cNvPr id="92" name="TextBox 91"/>
          <p:cNvSpPr txBox="1"/>
          <p:nvPr/>
        </p:nvSpPr>
        <p:spPr>
          <a:xfrm>
            <a:off x="928662" y="4131745"/>
            <a:ext cx="257176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93" name="TextBox 92"/>
          <p:cNvSpPr txBox="1"/>
          <p:nvPr/>
        </p:nvSpPr>
        <p:spPr>
          <a:xfrm>
            <a:off x="3500430" y="4131744"/>
            <a:ext cx="785818" cy="2469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随附单证</a:t>
            </a:r>
            <a:endParaRPr lang="en-US" sz="1000" dirty="0"/>
          </a:p>
        </p:txBody>
      </p:sp>
      <p:sp>
        <p:nvSpPr>
          <p:cNvPr id="94" name="TextBox 93"/>
          <p:cNvSpPr txBox="1"/>
          <p:nvPr/>
        </p:nvSpPr>
        <p:spPr>
          <a:xfrm>
            <a:off x="4286248" y="4131744"/>
            <a:ext cx="928694" cy="246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95" name="TextBox 94"/>
          <p:cNvSpPr txBox="1"/>
          <p:nvPr/>
        </p:nvSpPr>
        <p:spPr>
          <a:xfrm>
            <a:off x="5214942" y="4131744"/>
            <a:ext cx="785818" cy="2469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生产厂家</a:t>
            </a:r>
            <a:endParaRPr lang="en-US" sz="1000" dirty="0"/>
          </a:p>
        </p:txBody>
      </p:sp>
      <p:sp>
        <p:nvSpPr>
          <p:cNvPr id="96" name="TextBox 95"/>
          <p:cNvSpPr txBox="1"/>
          <p:nvPr/>
        </p:nvSpPr>
        <p:spPr>
          <a:xfrm>
            <a:off x="6000760" y="4131744"/>
            <a:ext cx="928694" cy="246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97" name="TextBox 96"/>
          <p:cNvSpPr txBox="1"/>
          <p:nvPr/>
        </p:nvSpPr>
        <p:spPr>
          <a:xfrm>
            <a:off x="214282" y="4375452"/>
            <a:ext cx="928694" cy="24622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报关单类型</a:t>
            </a:r>
            <a:endParaRPr lang="en-US" sz="1000" dirty="0"/>
          </a:p>
        </p:txBody>
      </p:sp>
      <p:sp>
        <p:nvSpPr>
          <p:cNvPr id="98" name="TextBox 97"/>
          <p:cNvSpPr txBox="1"/>
          <p:nvPr/>
        </p:nvSpPr>
        <p:spPr>
          <a:xfrm>
            <a:off x="1142976" y="4375453"/>
            <a:ext cx="200026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99" name="TextBox 98"/>
          <p:cNvSpPr txBox="1"/>
          <p:nvPr/>
        </p:nvSpPr>
        <p:spPr>
          <a:xfrm>
            <a:off x="3143240" y="4374702"/>
            <a:ext cx="785818" cy="2469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备          注</a:t>
            </a:r>
            <a:endParaRPr lang="en-US" sz="1000" dirty="0"/>
          </a:p>
        </p:txBody>
      </p:sp>
      <p:sp>
        <p:nvSpPr>
          <p:cNvPr id="100" name="TextBox 99"/>
          <p:cNvSpPr txBox="1"/>
          <p:nvPr/>
        </p:nvSpPr>
        <p:spPr>
          <a:xfrm>
            <a:off x="3929058" y="4374702"/>
            <a:ext cx="3000396" cy="2469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01" name="TextBox 100"/>
          <p:cNvSpPr txBox="1"/>
          <p:nvPr/>
        </p:nvSpPr>
        <p:spPr>
          <a:xfrm>
            <a:off x="2214546" y="142852"/>
            <a:ext cx="535785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中和人民共和国海关出口货物报关单</a:t>
            </a:r>
            <a:endParaRPr lang="en-US" altLang="zh-CN" sz="2400" b="1" dirty="0" smtClean="0"/>
          </a:p>
          <a:p>
            <a:pPr algn="ctr"/>
            <a:r>
              <a:rPr lang="zh-CN" altLang="en-US" sz="2400" b="1" dirty="0" smtClean="0"/>
              <a:t>（保税）</a:t>
            </a:r>
            <a:endParaRPr lang="en-US" sz="2400" b="1" dirty="0"/>
          </a:p>
        </p:txBody>
      </p:sp>
      <p:sp>
        <p:nvSpPr>
          <p:cNvPr id="102" name="TextBox 101"/>
          <p:cNvSpPr txBox="1"/>
          <p:nvPr/>
        </p:nvSpPr>
        <p:spPr>
          <a:xfrm>
            <a:off x="7022664" y="1000108"/>
            <a:ext cx="835484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集装箱号</a:t>
            </a:r>
            <a:endParaRPr lang="en-US" sz="1000" dirty="0"/>
          </a:p>
        </p:txBody>
      </p:sp>
      <p:sp>
        <p:nvSpPr>
          <p:cNvPr id="103" name="TextBox 102"/>
          <p:cNvSpPr txBox="1"/>
          <p:nvPr/>
        </p:nvSpPr>
        <p:spPr>
          <a:xfrm>
            <a:off x="7858148" y="1000109"/>
            <a:ext cx="50006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规格</a:t>
            </a:r>
            <a:endParaRPr lang="en-US" sz="1000" dirty="0"/>
          </a:p>
        </p:txBody>
      </p:sp>
      <p:sp>
        <p:nvSpPr>
          <p:cNvPr id="104" name="TextBox 103"/>
          <p:cNvSpPr txBox="1"/>
          <p:nvPr/>
        </p:nvSpPr>
        <p:spPr>
          <a:xfrm>
            <a:off x="8358214" y="1000108"/>
            <a:ext cx="642942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自重</a:t>
            </a:r>
            <a:r>
              <a:rPr lang="en-US" altLang="zh-CN" sz="1000" dirty="0" smtClean="0"/>
              <a:t>(KG)</a:t>
            </a:r>
            <a:endParaRPr lang="en-US" sz="1000" dirty="0"/>
          </a:p>
        </p:txBody>
      </p:sp>
      <p:sp>
        <p:nvSpPr>
          <p:cNvPr id="105" name="TextBox 104"/>
          <p:cNvSpPr txBox="1"/>
          <p:nvPr/>
        </p:nvSpPr>
        <p:spPr>
          <a:xfrm>
            <a:off x="7022664" y="1253953"/>
            <a:ext cx="83548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06" name="TextBox 105"/>
          <p:cNvSpPr txBox="1"/>
          <p:nvPr/>
        </p:nvSpPr>
        <p:spPr>
          <a:xfrm>
            <a:off x="7858148" y="1253953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07" name="TextBox 106"/>
          <p:cNvSpPr txBox="1"/>
          <p:nvPr/>
        </p:nvSpPr>
        <p:spPr>
          <a:xfrm>
            <a:off x="8358214" y="1253953"/>
            <a:ext cx="64294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08" name="TextBox 107"/>
          <p:cNvSpPr txBox="1"/>
          <p:nvPr/>
        </p:nvSpPr>
        <p:spPr>
          <a:xfrm>
            <a:off x="7022664" y="1500174"/>
            <a:ext cx="83548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09" name="TextBox 108"/>
          <p:cNvSpPr txBox="1"/>
          <p:nvPr/>
        </p:nvSpPr>
        <p:spPr>
          <a:xfrm>
            <a:off x="7858148" y="1500174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10" name="TextBox 109"/>
          <p:cNvSpPr txBox="1"/>
          <p:nvPr/>
        </p:nvSpPr>
        <p:spPr>
          <a:xfrm>
            <a:off x="8358214" y="1500174"/>
            <a:ext cx="64294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11" name="TextBox 110"/>
          <p:cNvSpPr txBox="1"/>
          <p:nvPr/>
        </p:nvSpPr>
        <p:spPr>
          <a:xfrm>
            <a:off x="7022664" y="1743133"/>
            <a:ext cx="83548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12" name="TextBox 111"/>
          <p:cNvSpPr txBox="1"/>
          <p:nvPr/>
        </p:nvSpPr>
        <p:spPr>
          <a:xfrm>
            <a:off x="7858148" y="1743133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13" name="TextBox 112"/>
          <p:cNvSpPr txBox="1"/>
          <p:nvPr/>
        </p:nvSpPr>
        <p:spPr>
          <a:xfrm>
            <a:off x="8358214" y="1743133"/>
            <a:ext cx="64294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14" name="TextBox 113"/>
          <p:cNvSpPr txBox="1"/>
          <p:nvPr/>
        </p:nvSpPr>
        <p:spPr>
          <a:xfrm>
            <a:off x="7000892" y="2039771"/>
            <a:ext cx="1000132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境内目的地</a:t>
            </a:r>
            <a:endParaRPr lang="en-US" sz="1000" dirty="0"/>
          </a:p>
        </p:txBody>
      </p:sp>
      <p:sp>
        <p:nvSpPr>
          <p:cNvPr id="115" name="TextBox 114"/>
          <p:cNvSpPr txBox="1"/>
          <p:nvPr/>
        </p:nvSpPr>
        <p:spPr>
          <a:xfrm>
            <a:off x="8000992" y="2039771"/>
            <a:ext cx="100016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16" name="TextBox 115"/>
          <p:cNvSpPr txBox="1"/>
          <p:nvPr/>
        </p:nvSpPr>
        <p:spPr>
          <a:xfrm>
            <a:off x="7000892" y="2285992"/>
            <a:ext cx="1000132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境内目的地</a:t>
            </a:r>
            <a:endParaRPr lang="en-US" sz="1000" dirty="0"/>
          </a:p>
        </p:txBody>
      </p:sp>
      <p:sp>
        <p:nvSpPr>
          <p:cNvPr id="117" name="TextBox 116"/>
          <p:cNvSpPr txBox="1"/>
          <p:nvPr/>
        </p:nvSpPr>
        <p:spPr>
          <a:xfrm>
            <a:off x="8000992" y="2285992"/>
            <a:ext cx="100016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18" name="TextBox 117"/>
          <p:cNvSpPr txBox="1"/>
          <p:nvPr/>
        </p:nvSpPr>
        <p:spPr>
          <a:xfrm>
            <a:off x="7000892" y="2500306"/>
            <a:ext cx="1000132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境内目的地</a:t>
            </a:r>
            <a:endParaRPr lang="en-US" sz="1000" dirty="0"/>
          </a:p>
        </p:txBody>
      </p:sp>
      <p:sp>
        <p:nvSpPr>
          <p:cNvPr id="119" name="TextBox 118"/>
          <p:cNvSpPr txBox="1"/>
          <p:nvPr/>
        </p:nvSpPr>
        <p:spPr>
          <a:xfrm>
            <a:off x="8000992" y="2500306"/>
            <a:ext cx="100016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21" name="Rounded Rectangle 120"/>
          <p:cNvSpPr/>
          <p:nvPr/>
        </p:nvSpPr>
        <p:spPr>
          <a:xfrm>
            <a:off x="7000892" y="2786058"/>
            <a:ext cx="571504" cy="2143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/>
              <a:t>追加</a:t>
            </a:r>
            <a:endParaRPr lang="en-US" sz="1000" dirty="0"/>
          </a:p>
        </p:txBody>
      </p:sp>
      <p:sp>
        <p:nvSpPr>
          <p:cNvPr id="122" name="Rounded Rectangle 121"/>
          <p:cNvSpPr/>
          <p:nvPr/>
        </p:nvSpPr>
        <p:spPr>
          <a:xfrm>
            <a:off x="8429652" y="2786058"/>
            <a:ext cx="571504" cy="2143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/>
              <a:t>删除</a:t>
            </a:r>
            <a:endParaRPr lang="en-US" sz="1000" dirty="0"/>
          </a:p>
        </p:txBody>
      </p:sp>
      <p:sp>
        <p:nvSpPr>
          <p:cNvPr id="123" name="TextBox 122"/>
          <p:cNvSpPr txBox="1"/>
          <p:nvPr/>
        </p:nvSpPr>
        <p:spPr>
          <a:xfrm>
            <a:off x="7022664" y="3071810"/>
            <a:ext cx="478294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代码</a:t>
            </a:r>
            <a:endParaRPr lang="en-US" sz="1000" dirty="0"/>
          </a:p>
        </p:txBody>
      </p:sp>
      <p:sp>
        <p:nvSpPr>
          <p:cNvPr id="125" name="TextBox 124"/>
          <p:cNvSpPr txBox="1"/>
          <p:nvPr/>
        </p:nvSpPr>
        <p:spPr>
          <a:xfrm>
            <a:off x="7500958" y="3071810"/>
            <a:ext cx="1500198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随</a:t>
            </a:r>
            <a:r>
              <a:rPr lang="zh-CN" altLang="en-US" sz="1000" dirty="0" smtClean="0"/>
              <a:t>附单证编号</a:t>
            </a:r>
            <a:endParaRPr lang="en-US" sz="1000" dirty="0"/>
          </a:p>
        </p:txBody>
      </p:sp>
      <p:sp>
        <p:nvSpPr>
          <p:cNvPr id="126" name="TextBox 125"/>
          <p:cNvSpPr txBox="1"/>
          <p:nvPr/>
        </p:nvSpPr>
        <p:spPr>
          <a:xfrm>
            <a:off x="7022664" y="3325655"/>
            <a:ext cx="47829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28" name="TextBox 127"/>
          <p:cNvSpPr txBox="1"/>
          <p:nvPr/>
        </p:nvSpPr>
        <p:spPr>
          <a:xfrm>
            <a:off x="7500958" y="3325655"/>
            <a:ext cx="150019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29" name="TextBox 128"/>
          <p:cNvSpPr txBox="1"/>
          <p:nvPr/>
        </p:nvSpPr>
        <p:spPr>
          <a:xfrm>
            <a:off x="7022664" y="3571876"/>
            <a:ext cx="47829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31" name="TextBox 130"/>
          <p:cNvSpPr txBox="1"/>
          <p:nvPr/>
        </p:nvSpPr>
        <p:spPr>
          <a:xfrm>
            <a:off x="7500958" y="3571876"/>
            <a:ext cx="150019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35" name="TextBox 134"/>
          <p:cNvSpPr txBox="1"/>
          <p:nvPr/>
        </p:nvSpPr>
        <p:spPr>
          <a:xfrm>
            <a:off x="7000892" y="3857628"/>
            <a:ext cx="1000132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境内目的地</a:t>
            </a:r>
            <a:endParaRPr lang="en-US" sz="1000" dirty="0"/>
          </a:p>
        </p:txBody>
      </p:sp>
      <p:sp>
        <p:nvSpPr>
          <p:cNvPr id="136" name="TextBox 135"/>
          <p:cNvSpPr txBox="1"/>
          <p:nvPr/>
        </p:nvSpPr>
        <p:spPr>
          <a:xfrm>
            <a:off x="8000992" y="3857628"/>
            <a:ext cx="100016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37" name="TextBox 136"/>
          <p:cNvSpPr txBox="1"/>
          <p:nvPr/>
        </p:nvSpPr>
        <p:spPr>
          <a:xfrm>
            <a:off x="7000892" y="4103849"/>
            <a:ext cx="1000132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境内目的地</a:t>
            </a:r>
            <a:endParaRPr lang="en-US" sz="1000" dirty="0"/>
          </a:p>
        </p:txBody>
      </p:sp>
      <p:sp>
        <p:nvSpPr>
          <p:cNvPr id="138" name="TextBox 137"/>
          <p:cNvSpPr txBox="1"/>
          <p:nvPr/>
        </p:nvSpPr>
        <p:spPr>
          <a:xfrm>
            <a:off x="8000992" y="4103849"/>
            <a:ext cx="100016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43" name="TextBox 142"/>
          <p:cNvSpPr txBox="1"/>
          <p:nvPr/>
        </p:nvSpPr>
        <p:spPr>
          <a:xfrm>
            <a:off x="214282" y="4714884"/>
            <a:ext cx="714380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商</a:t>
            </a:r>
            <a:r>
              <a:rPr lang="zh-CN" altLang="en-US" sz="1000" dirty="0" smtClean="0"/>
              <a:t>品序号</a:t>
            </a:r>
            <a:endParaRPr lang="en-US" sz="1000" dirty="0"/>
          </a:p>
        </p:txBody>
      </p:sp>
      <p:sp>
        <p:nvSpPr>
          <p:cNvPr id="144" name="TextBox 143"/>
          <p:cNvSpPr txBox="1"/>
          <p:nvPr/>
        </p:nvSpPr>
        <p:spPr>
          <a:xfrm>
            <a:off x="928662" y="4714885"/>
            <a:ext cx="736152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商品编</a:t>
            </a:r>
            <a:r>
              <a:rPr lang="zh-CN" altLang="en-US" sz="1000" dirty="0" smtClean="0"/>
              <a:t>号</a:t>
            </a:r>
            <a:endParaRPr lang="en-US" sz="1000" dirty="0"/>
          </a:p>
        </p:txBody>
      </p:sp>
      <p:sp>
        <p:nvSpPr>
          <p:cNvPr id="146" name="TextBox 145"/>
          <p:cNvSpPr txBox="1"/>
          <p:nvPr/>
        </p:nvSpPr>
        <p:spPr>
          <a:xfrm>
            <a:off x="214282" y="4968729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47" name="TextBox 146"/>
          <p:cNvSpPr txBox="1"/>
          <p:nvPr/>
        </p:nvSpPr>
        <p:spPr>
          <a:xfrm>
            <a:off x="928662" y="4968729"/>
            <a:ext cx="73615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49" name="TextBox 148"/>
          <p:cNvSpPr txBox="1"/>
          <p:nvPr/>
        </p:nvSpPr>
        <p:spPr>
          <a:xfrm>
            <a:off x="214282" y="5214950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50" name="TextBox 149"/>
          <p:cNvSpPr txBox="1"/>
          <p:nvPr/>
        </p:nvSpPr>
        <p:spPr>
          <a:xfrm>
            <a:off x="928662" y="5214950"/>
            <a:ext cx="73615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52" name="TextBox 151"/>
          <p:cNvSpPr txBox="1"/>
          <p:nvPr/>
        </p:nvSpPr>
        <p:spPr>
          <a:xfrm>
            <a:off x="214282" y="5457909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53" name="TextBox 152"/>
          <p:cNvSpPr txBox="1"/>
          <p:nvPr/>
        </p:nvSpPr>
        <p:spPr>
          <a:xfrm>
            <a:off x="928662" y="5457909"/>
            <a:ext cx="736152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55" name="TextBox 154"/>
          <p:cNvSpPr txBox="1"/>
          <p:nvPr/>
        </p:nvSpPr>
        <p:spPr>
          <a:xfrm>
            <a:off x="1643042" y="4714883"/>
            <a:ext cx="714380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附加编号</a:t>
            </a:r>
            <a:endParaRPr lang="en-US" sz="1000" dirty="0"/>
          </a:p>
        </p:txBody>
      </p:sp>
      <p:sp>
        <p:nvSpPr>
          <p:cNvPr id="156" name="TextBox 155"/>
          <p:cNvSpPr txBox="1"/>
          <p:nvPr/>
        </p:nvSpPr>
        <p:spPr>
          <a:xfrm>
            <a:off x="1643042" y="4968728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57" name="TextBox 156"/>
          <p:cNvSpPr txBox="1"/>
          <p:nvPr/>
        </p:nvSpPr>
        <p:spPr>
          <a:xfrm>
            <a:off x="1643042" y="5214949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58" name="TextBox 157"/>
          <p:cNvSpPr txBox="1"/>
          <p:nvPr/>
        </p:nvSpPr>
        <p:spPr>
          <a:xfrm>
            <a:off x="1643042" y="5457908"/>
            <a:ext cx="714380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59" name="TextBox 158"/>
          <p:cNvSpPr txBox="1"/>
          <p:nvPr/>
        </p:nvSpPr>
        <p:spPr>
          <a:xfrm>
            <a:off x="2357422" y="4714884"/>
            <a:ext cx="85725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商</a:t>
            </a:r>
            <a:r>
              <a:rPr lang="zh-CN" altLang="en-US" sz="1000" dirty="0" smtClean="0"/>
              <a:t>品名称</a:t>
            </a:r>
            <a:endParaRPr lang="en-US" sz="1000" dirty="0"/>
          </a:p>
        </p:txBody>
      </p:sp>
      <p:sp>
        <p:nvSpPr>
          <p:cNvPr id="160" name="TextBox 159"/>
          <p:cNvSpPr txBox="1"/>
          <p:nvPr/>
        </p:nvSpPr>
        <p:spPr>
          <a:xfrm>
            <a:off x="2357422" y="4968728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61" name="TextBox 160"/>
          <p:cNvSpPr txBox="1"/>
          <p:nvPr/>
        </p:nvSpPr>
        <p:spPr>
          <a:xfrm>
            <a:off x="2357422" y="5214949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62" name="TextBox 161"/>
          <p:cNvSpPr txBox="1"/>
          <p:nvPr/>
        </p:nvSpPr>
        <p:spPr>
          <a:xfrm>
            <a:off x="2357422" y="5457908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63" name="TextBox 162"/>
          <p:cNvSpPr txBox="1"/>
          <p:nvPr/>
        </p:nvSpPr>
        <p:spPr>
          <a:xfrm>
            <a:off x="3214678" y="4714884"/>
            <a:ext cx="785818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规格型号</a:t>
            </a:r>
            <a:endParaRPr lang="en-US" sz="1000" dirty="0"/>
          </a:p>
        </p:txBody>
      </p:sp>
      <p:sp>
        <p:nvSpPr>
          <p:cNvPr id="164" name="TextBox 163"/>
          <p:cNvSpPr txBox="1"/>
          <p:nvPr/>
        </p:nvSpPr>
        <p:spPr>
          <a:xfrm>
            <a:off x="3214678" y="4968728"/>
            <a:ext cx="78581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65" name="TextBox 164"/>
          <p:cNvSpPr txBox="1"/>
          <p:nvPr/>
        </p:nvSpPr>
        <p:spPr>
          <a:xfrm>
            <a:off x="3214678" y="5214949"/>
            <a:ext cx="78581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66" name="TextBox 165"/>
          <p:cNvSpPr txBox="1"/>
          <p:nvPr/>
        </p:nvSpPr>
        <p:spPr>
          <a:xfrm>
            <a:off x="3214678" y="5457908"/>
            <a:ext cx="785818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71" name="TextBox 170"/>
          <p:cNvSpPr txBox="1"/>
          <p:nvPr/>
        </p:nvSpPr>
        <p:spPr>
          <a:xfrm>
            <a:off x="4572000" y="4714883"/>
            <a:ext cx="50006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数量</a:t>
            </a:r>
            <a:endParaRPr lang="en-US" sz="1000" dirty="0"/>
          </a:p>
        </p:txBody>
      </p:sp>
      <p:sp>
        <p:nvSpPr>
          <p:cNvPr id="172" name="TextBox 171"/>
          <p:cNvSpPr txBox="1"/>
          <p:nvPr/>
        </p:nvSpPr>
        <p:spPr>
          <a:xfrm>
            <a:off x="4572000" y="4968728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73" name="TextBox 172"/>
          <p:cNvSpPr txBox="1"/>
          <p:nvPr/>
        </p:nvSpPr>
        <p:spPr>
          <a:xfrm>
            <a:off x="4572000" y="5214949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74" name="TextBox 173"/>
          <p:cNvSpPr txBox="1"/>
          <p:nvPr/>
        </p:nvSpPr>
        <p:spPr>
          <a:xfrm>
            <a:off x="4572000" y="5457908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75" name="TextBox 174"/>
          <p:cNvSpPr txBox="1"/>
          <p:nvPr/>
        </p:nvSpPr>
        <p:spPr>
          <a:xfrm>
            <a:off x="6572264" y="4714884"/>
            <a:ext cx="50006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币制</a:t>
            </a:r>
            <a:endParaRPr lang="en-US" sz="1000" dirty="0"/>
          </a:p>
        </p:txBody>
      </p:sp>
      <p:sp>
        <p:nvSpPr>
          <p:cNvPr id="176" name="TextBox 175"/>
          <p:cNvSpPr txBox="1"/>
          <p:nvPr/>
        </p:nvSpPr>
        <p:spPr>
          <a:xfrm>
            <a:off x="6572264" y="4968728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77" name="TextBox 176"/>
          <p:cNvSpPr txBox="1"/>
          <p:nvPr/>
        </p:nvSpPr>
        <p:spPr>
          <a:xfrm>
            <a:off x="6572264" y="5214949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78" name="TextBox 177"/>
          <p:cNvSpPr txBox="1"/>
          <p:nvPr/>
        </p:nvSpPr>
        <p:spPr>
          <a:xfrm>
            <a:off x="6572264" y="5457908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79" name="TextBox 178"/>
          <p:cNvSpPr txBox="1"/>
          <p:nvPr/>
        </p:nvSpPr>
        <p:spPr>
          <a:xfrm>
            <a:off x="7072330" y="4714883"/>
            <a:ext cx="85725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生产厂家</a:t>
            </a:r>
            <a:endParaRPr lang="en-US" sz="1000" dirty="0"/>
          </a:p>
        </p:txBody>
      </p:sp>
      <p:sp>
        <p:nvSpPr>
          <p:cNvPr id="180" name="TextBox 179"/>
          <p:cNvSpPr txBox="1"/>
          <p:nvPr/>
        </p:nvSpPr>
        <p:spPr>
          <a:xfrm>
            <a:off x="7072330" y="4968728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81" name="TextBox 180"/>
          <p:cNvSpPr txBox="1"/>
          <p:nvPr/>
        </p:nvSpPr>
        <p:spPr>
          <a:xfrm>
            <a:off x="7072330" y="5214949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82" name="TextBox 181"/>
          <p:cNvSpPr txBox="1"/>
          <p:nvPr/>
        </p:nvSpPr>
        <p:spPr>
          <a:xfrm>
            <a:off x="7072330" y="5457908"/>
            <a:ext cx="85725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83" name="TextBox 182"/>
          <p:cNvSpPr txBox="1"/>
          <p:nvPr/>
        </p:nvSpPr>
        <p:spPr>
          <a:xfrm>
            <a:off x="5072066" y="4714884"/>
            <a:ext cx="50006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单位</a:t>
            </a:r>
            <a:endParaRPr lang="en-US" sz="1000" dirty="0"/>
          </a:p>
        </p:txBody>
      </p:sp>
      <p:sp>
        <p:nvSpPr>
          <p:cNvPr id="184" name="TextBox 183"/>
          <p:cNvSpPr txBox="1"/>
          <p:nvPr/>
        </p:nvSpPr>
        <p:spPr>
          <a:xfrm>
            <a:off x="5072066" y="4968729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85" name="TextBox 184"/>
          <p:cNvSpPr txBox="1"/>
          <p:nvPr/>
        </p:nvSpPr>
        <p:spPr>
          <a:xfrm>
            <a:off x="5072066" y="5214950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86" name="TextBox 185"/>
          <p:cNvSpPr txBox="1"/>
          <p:nvPr/>
        </p:nvSpPr>
        <p:spPr>
          <a:xfrm>
            <a:off x="5072066" y="5457909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87" name="TextBox 186"/>
          <p:cNvSpPr txBox="1"/>
          <p:nvPr/>
        </p:nvSpPr>
        <p:spPr>
          <a:xfrm>
            <a:off x="5572132" y="4714884"/>
            <a:ext cx="50006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单价</a:t>
            </a:r>
            <a:endParaRPr lang="en-US" sz="1000" dirty="0"/>
          </a:p>
        </p:txBody>
      </p:sp>
      <p:sp>
        <p:nvSpPr>
          <p:cNvPr id="188" name="TextBox 187"/>
          <p:cNvSpPr txBox="1"/>
          <p:nvPr/>
        </p:nvSpPr>
        <p:spPr>
          <a:xfrm>
            <a:off x="5572132" y="4968729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89" name="TextBox 188"/>
          <p:cNvSpPr txBox="1"/>
          <p:nvPr/>
        </p:nvSpPr>
        <p:spPr>
          <a:xfrm>
            <a:off x="5572132" y="5214950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90" name="TextBox 189"/>
          <p:cNvSpPr txBox="1"/>
          <p:nvPr/>
        </p:nvSpPr>
        <p:spPr>
          <a:xfrm>
            <a:off x="5572132" y="5457909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91" name="TextBox 190"/>
          <p:cNvSpPr txBox="1"/>
          <p:nvPr/>
        </p:nvSpPr>
        <p:spPr>
          <a:xfrm>
            <a:off x="6072198" y="4714884"/>
            <a:ext cx="50006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总价</a:t>
            </a:r>
            <a:endParaRPr lang="en-US" sz="1000" dirty="0"/>
          </a:p>
        </p:txBody>
      </p:sp>
      <p:sp>
        <p:nvSpPr>
          <p:cNvPr id="192" name="TextBox 191"/>
          <p:cNvSpPr txBox="1"/>
          <p:nvPr/>
        </p:nvSpPr>
        <p:spPr>
          <a:xfrm>
            <a:off x="6072198" y="4968729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93" name="TextBox 192"/>
          <p:cNvSpPr txBox="1"/>
          <p:nvPr/>
        </p:nvSpPr>
        <p:spPr>
          <a:xfrm>
            <a:off x="6072198" y="5214950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94" name="TextBox 193"/>
          <p:cNvSpPr txBox="1"/>
          <p:nvPr/>
        </p:nvSpPr>
        <p:spPr>
          <a:xfrm>
            <a:off x="6072198" y="5457909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95" name="TextBox 194"/>
          <p:cNvSpPr txBox="1"/>
          <p:nvPr/>
        </p:nvSpPr>
        <p:spPr>
          <a:xfrm>
            <a:off x="8501090" y="4714884"/>
            <a:ext cx="500066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征免</a:t>
            </a:r>
            <a:endParaRPr lang="en-US" sz="1000" dirty="0"/>
          </a:p>
        </p:txBody>
      </p:sp>
      <p:sp>
        <p:nvSpPr>
          <p:cNvPr id="196" name="TextBox 195"/>
          <p:cNvSpPr txBox="1"/>
          <p:nvPr/>
        </p:nvSpPr>
        <p:spPr>
          <a:xfrm>
            <a:off x="8501090" y="4968728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97" name="TextBox 196"/>
          <p:cNvSpPr txBox="1"/>
          <p:nvPr/>
        </p:nvSpPr>
        <p:spPr>
          <a:xfrm>
            <a:off x="8501090" y="5214949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98" name="TextBox 197"/>
          <p:cNvSpPr txBox="1"/>
          <p:nvPr/>
        </p:nvSpPr>
        <p:spPr>
          <a:xfrm>
            <a:off x="8501090" y="5457908"/>
            <a:ext cx="50006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99" name="TextBox 198"/>
          <p:cNvSpPr txBox="1"/>
          <p:nvPr/>
        </p:nvSpPr>
        <p:spPr>
          <a:xfrm>
            <a:off x="7286644" y="714356"/>
            <a:ext cx="1928826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100" u="sng" dirty="0" smtClean="0"/>
              <a:t>编号</a:t>
            </a:r>
            <a:r>
              <a:rPr lang="en-US" altLang="zh-CN" sz="1100" u="sng" dirty="0" smtClean="0"/>
              <a:t>(</a:t>
            </a:r>
            <a:r>
              <a:rPr lang="zh-CN" altLang="en-US" sz="1100" u="sng" dirty="0" smtClean="0"/>
              <a:t>报关单</a:t>
            </a:r>
            <a:r>
              <a:rPr lang="en-US" altLang="zh-CN" sz="1100" u="sng" dirty="0" smtClean="0"/>
              <a:t>)</a:t>
            </a:r>
            <a:r>
              <a:rPr lang="zh-CN" altLang="en-US" sz="1100" u="sng" dirty="0" smtClean="0"/>
              <a:t> ：</a:t>
            </a:r>
            <a:r>
              <a:rPr lang="en-US" altLang="zh-CN" sz="1100" u="sng" dirty="0" smtClean="0"/>
              <a:t>12345678</a:t>
            </a:r>
            <a:r>
              <a:rPr lang="zh-CN" altLang="en-US" sz="1100" u="sng" dirty="0" smtClean="0"/>
              <a:t> </a:t>
            </a:r>
            <a:endParaRPr lang="en-US" sz="1100" u="sng" dirty="0"/>
          </a:p>
        </p:txBody>
      </p:sp>
      <p:sp>
        <p:nvSpPr>
          <p:cNvPr id="200" name="Rounded Rectangle 199"/>
          <p:cNvSpPr/>
          <p:nvPr/>
        </p:nvSpPr>
        <p:spPr>
          <a:xfrm>
            <a:off x="7715272" y="2786058"/>
            <a:ext cx="571504" cy="2143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编辑</a:t>
            </a:r>
            <a:endParaRPr lang="en-US" sz="1000" dirty="0"/>
          </a:p>
        </p:txBody>
      </p:sp>
      <p:sp>
        <p:nvSpPr>
          <p:cNvPr id="201" name="Rounded Rectangle 200"/>
          <p:cNvSpPr/>
          <p:nvPr/>
        </p:nvSpPr>
        <p:spPr>
          <a:xfrm>
            <a:off x="7000892" y="4429132"/>
            <a:ext cx="571504" cy="2143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/>
              <a:t>追加</a:t>
            </a:r>
            <a:endParaRPr lang="en-US" sz="1000" dirty="0"/>
          </a:p>
        </p:txBody>
      </p:sp>
      <p:sp>
        <p:nvSpPr>
          <p:cNvPr id="202" name="Rounded Rectangle 201"/>
          <p:cNvSpPr/>
          <p:nvPr/>
        </p:nvSpPr>
        <p:spPr>
          <a:xfrm>
            <a:off x="8429652" y="4429132"/>
            <a:ext cx="571504" cy="2143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/>
              <a:t>删除</a:t>
            </a:r>
            <a:endParaRPr lang="en-US" sz="1000" dirty="0"/>
          </a:p>
        </p:txBody>
      </p:sp>
      <p:sp>
        <p:nvSpPr>
          <p:cNvPr id="203" name="Rounded Rectangle 202"/>
          <p:cNvSpPr/>
          <p:nvPr/>
        </p:nvSpPr>
        <p:spPr>
          <a:xfrm>
            <a:off x="7715272" y="4429132"/>
            <a:ext cx="571504" cy="21431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编辑</a:t>
            </a:r>
            <a:endParaRPr lang="en-US" sz="1000" dirty="0"/>
          </a:p>
        </p:txBody>
      </p:sp>
      <p:sp>
        <p:nvSpPr>
          <p:cNvPr id="167" name="TextBox 166"/>
          <p:cNvSpPr txBox="1"/>
          <p:nvPr/>
        </p:nvSpPr>
        <p:spPr>
          <a:xfrm>
            <a:off x="4000496" y="4714884"/>
            <a:ext cx="571504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目的地</a:t>
            </a:r>
            <a:endParaRPr lang="en-US" sz="1000" dirty="0" smtClean="0"/>
          </a:p>
        </p:txBody>
      </p:sp>
      <p:sp>
        <p:nvSpPr>
          <p:cNvPr id="168" name="TextBox 167"/>
          <p:cNvSpPr txBox="1"/>
          <p:nvPr/>
        </p:nvSpPr>
        <p:spPr>
          <a:xfrm>
            <a:off x="4000496" y="4968728"/>
            <a:ext cx="57150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69" name="TextBox 168"/>
          <p:cNvSpPr txBox="1"/>
          <p:nvPr/>
        </p:nvSpPr>
        <p:spPr>
          <a:xfrm>
            <a:off x="4000496" y="5214949"/>
            <a:ext cx="57150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170" name="TextBox 169"/>
          <p:cNvSpPr txBox="1"/>
          <p:nvPr/>
        </p:nvSpPr>
        <p:spPr>
          <a:xfrm>
            <a:off x="4000496" y="5457908"/>
            <a:ext cx="57150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08" name="TextBox 207"/>
          <p:cNvSpPr txBox="1"/>
          <p:nvPr/>
        </p:nvSpPr>
        <p:spPr>
          <a:xfrm>
            <a:off x="7929586" y="4714884"/>
            <a:ext cx="571504" cy="246221"/>
          </a:xfrm>
          <a:prstGeom prst="rect">
            <a:avLst/>
          </a:prstGeom>
          <a:solidFill>
            <a:srgbClr val="D8CCB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工缴费</a:t>
            </a:r>
            <a:endParaRPr lang="en-US" sz="1000" dirty="0"/>
          </a:p>
        </p:txBody>
      </p:sp>
      <p:sp>
        <p:nvSpPr>
          <p:cNvPr id="209" name="TextBox 208"/>
          <p:cNvSpPr txBox="1"/>
          <p:nvPr/>
        </p:nvSpPr>
        <p:spPr>
          <a:xfrm>
            <a:off x="7929586" y="4968728"/>
            <a:ext cx="57150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10" name="TextBox 209"/>
          <p:cNvSpPr txBox="1"/>
          <p:nvPr/>
        </p:nvSpPr>
        <p:spPr>
          <a:xfrm>
            <a:off x="7929586" y="5214949"/>
            <a:ext cx="57150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  <p:sp>
        <p:nvSpPr>
          <p:cNvPr id="211" name="TextBox 210"/>
          <p:cNvSpPr txBox="1"/>
          <p:nvPr/>
        </p:nvSpPr>
        <p:spPr>
          <a:xfrm>
            <a:off x="7929586" y="5457908"/>
            <a:ext cx="57150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solidFill>
          <a:schemeClr val="bg1"/>
        </a:solidFill>
        <a:ln>
          <a:solidFill>
            <a:schemeClr val="tx1"/>
          </a:solidFill>
        </a:ln>
      </a:spPr>
      <a:bodyPr wrap="square" rtlCol="0">
        <a:spAutoFit/>
      </a:bodyPr>
      <a:lstStyle>
        <a:defPPr>
          <a:defRPr sz="1000"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1990</Words>
  <Application>Microsoft Office PowerPoint</Application>
  <PresentationFormat>On-screen Show (4:3)</PresentationFormat>
  <Paragraphs>480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csc</dc:creator>
  <cp:lastModifiedBy>csc</cp:lastModifiedBy>
  <cp:revision>47</cp:revision>
  <dcterms:created xsi:type="dcterms:W3CDTF">2011-10-29T01:24:56Z</dcterms:created>
  <dcterms:modified xsi:type="dcterms:W3CDTF">2011-10-29T06:53:04Z</dcterms:modified>
</cp:coreProperties>
</file>